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4C9AF2-D2DB-44AB-81B9-2C672D0BB538}" type="datetimeFigureOut">
              <a:rPr lang="en-SG" smtClean="0"/>
              <a:t>29/10/2026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9744E-DA93-4C19-A849-0DAE34FCE43D}" type="slidenum">
              <a:rPr lang="en-SG" smtClean="0"/>
              <a:t>‹#›</a:t>
            </a:fld>
            <a:endParaRPr lang="en-SG"/>
          </a:p>
        </p:txBody>
      </p:sp>
    </p:spTree>
    <p:extLst>
      <p:ext uri="{BB962C8B-B14F-4D97-AF65-F5344CB8AC3E}">
        <p14:creationId xmlns:p14="http://schemas.microsoft.com/office/powerpoint/2010/main" val="2411115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Open by naming the gap: one instructor, many trainees, one scripted enemy. We built a trainer where the enemy adapts to each trainee and the instructor stays in command. Everything shown uses synthetic data.</a:t>
            </a:r>
          </a:p>
        </p:txBody>
      </p:sp>
      <p:sp>
        <p:nvSpPr>
          <p:cNvPr id="4" name="Slide Number Placeholder 3"/>
          <p:cNvSpPr>
            <a:spLocks noGrp="1"/>
          </p:cNvSpPr>
          <p:nvPr>
            <p:ph type="sldNum" sz="quarter" idx="5"/>
          </p:nvPr>
        </p:nvSpPr>
        <p:spPr/>
        <p:txBody>
          <a:bodyPr/>
          <a:lstStyle/>
          <a:p>
            <a:fld id="{AF99744E-DA93-4C19-A849-0DAE34FCE43D}" type="slidenum">
              <a:rPr lang="en-SG" smtClean="0"/>
              <a:t>1</a:t>
            </a:fld>
            <a:endParaRPr lang="en-SG"/>
          </a:p>
        </p:txBody>
      </p:sp>
    </p:spTree>
    <p:extLst>
      <p:ext uri="{BB962C8B-B14F-4D97-AF65-F5344CB8AC3E}">
        <p14:creationId xmlns:p14="http://schemas.microsoft.com/office/powerpoint/2010/main" val="1439828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One instructor runs many trainees. A fixed scenario trains the average, so a trainee’s weak spot is practised by chance. The instructor has no spare hands to retune the enemy per seat. Do not quote figures here; we have none.</a:t>
            </a:r>
          </a:p>
        </p:txBody>
      </p:sp>
      <p:sp>
        <p:nvSpPr>
          <p:cNvPr id="4" name="Slide Number Placeholder 3"/>
          <p:cNvSpPr>
            <a:spLocks noGrp="1"/>
          </p:cNvSpPr>
          <p:nvPr>
            <p:ph type="sldNum" sz="quarter" idx="5"/>
          </p:nvPr>
        </p:nvSpPr>
        <p:spPr/>
        <p:txBody>
          <a:bodyPr/>
          <a:lstStyle/>
          <a:p>
            <a:fld id="{AF99744E-DA93-4C19-A849-0DAE34FCE43D}" type="slidenum">
              <a:rPr lang="en-SG" smtClean="0"/>
              <a:t>2</a:t>
            </a:fld>
            <a:endParaRPr lang="en-SG"/>
          </a:p>
        </p:txBody>
      </p:sp>
    </p:spTree>
    <p:extLst>
      <p:ext uri="{BB962C8B-B14F-4D97-AF65-F5344CB8AC3E}">
        <p14:creationId xmlns:p14="http://schemas.microsoft.com/office/powerpoint/2010/main" val="2050830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Name the key design challenge in one breath: make the enemy train each person's weak spot and adapt to how they perform, while the instructor stays in command and can see why. Then say what the demo proves. Be honest about the limit: it shows the mechanism works end to end. Proving training transfer needs a trial with real cohorts.</a:t>
            </a:r>
          </a:p>
        </p:txBody>
      </p:sp>
      <p:sp>
        <p:nvSpPr>
          <p:cNvPr id="4" name="Slide Number Placeholder 3"/>
          <p:cNvSpPr>
            <a:spLocks noGrp="1"/>
          </p:cNvSpPr>
          <p:nvPr>
            <p:ph type="sldNum" sz="quarter" idx="5"/>
          </p:nvPr>
        </p:nvSpPr>
        <p:spPr/>
        <p:txBody>
          <a:bodyPr/>
          <a:lstStyle/>
          <a:p>
            <a:fld id="{AF99744E-DA93-4C19-A849-0DAE34FCE43D}" type="slidenum">
              <a:rPr lang="en-SG" smtClean="0"/>
              <a:t>3</a:t>
            </a:fld>
            <a:endParaRPr lang="en-SG"/>
          </a:p>
        </p:txBody>
      </p:sp>
    </p:spTree>
    <p:extLst>
      <p:ext uri="{BB962C8B-B14F-4D97-AF65-F5344CB8AC3E}">
        <p14:creationId xmlns:p14="http://schemas.microsoft.com/office/powerpoint/2010/main" val="3581387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The core idea in one sentence. The profile decides which competency to exercise. This run’s behaviour decides how hard to push it. Today’s evidence also updates the profile, so a trainee who improves stops being the target.</a:t>
            </a:r>
          </a:p>
        </p:txBody>
      </p:sp>
      <p:sp>
        <p:nvSpPr>
          <p:cNvPr id="4" name="Slide Number Placeholder 3"/>
          <p:cNvSpPr>
            <a:spLocks noGrp="1"/>
          </p:cNvSpPr>
          <p:nvPr>
            <p:ph type="sldNum" sz="quarter" idx="5"/>
          </p:nvPr>
        </p:nvSpPr>
        <p:spPr/>
        <p:txBody>
          <a:bodyPr/>
          <a:lstStyle/>
          <a:p>
            <a:fld id="{AF99744E-DA93-4C19-A849-0DAE34FCE43D}" type="slidenum">
              <a:rPr lang="en-SG" smtClean="0"/>
              <a:t>4</a:t>
            </a:fld>
            <a:endParaRPr lang="en-SG"/>
          </a:p>
        </p:txBody>
      </p:sp>
    </p:spTree>
    <p:extLst>
      <p:ext uri="{BB962C8B-B14F-4D97-AF65-F5344CB8AC3E}">
        <p14:creationId xmlns:p14="http://schemas.microsoft.com/office/powerpoint/2010/main" val="3943130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Four steps, each a page that opens from a file. The report feeds the competency update, which writes the trainee’s history, so the loop closes. Next slides walk through the steps.</a:t>
            </a:r>
          </a:p>
        </p:txBody>
      </p:sp>
      <p:sp>
        <p:nvSpPr>
          <p:cNvPr id="4" name="Slide Number Placeholder 3"/>
          <p:cNvSpPr>
            <a:spLocks noGrp="1"/>
          </p:cNvSpPr>
          <p:nvPr>
            <p:ph type="sldNum" sz="quarter" idx="5"/>
          </p:nvPr>
        </p:nvSpPr>
        <p:spPr/>
        <p:txBody>
          <a:bodyPr/>
          <a:lstStyle/>
          <a:p>
            <a:fld id="{AF99744E-DA93-4C19-A849-0DAE34FCE43D}" type="slidenum">
              <a:rPr lang="en-SG" smtClean="0"/>
              <a:t>5</a:t>
            </a:fld>
            <a:endParaRPr lang="en-SG"/>
          </a:p>
        </p:txBody>
      </p:sp>
    </p:spTree>
    <p:extLst>
      <p:ext uri="{BB962C8B-B14F-4D97-AF65-F5344CB8AC3E}">
        <p14:creationId xmlns:p14="http://schemas.microsoft.com/office/powerpoint/2010/main" val="2196783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Live beat if the demo runs: pick the warship, press Suggest demo crew, point at the competency bars and the likely first target, then the Adaptive practice badge. Fallback: this screenshot. All names are synthetic.</a:t>
            </a:r>
          </a:p>
        </p:txBody>
      </p:sp>
      <p:sp>
        <p:nvSpPr>
          <p:cNvPr id="4" name="Slide Number Placeholder 3"/>
          <p:cNvSpPr>
            <a:spLocks noGrp="1"/>
          </p:cNvSpPr>
          <p:nvPr>
            <p:ph type="sldNum" sz="quarter" idx="5"/>
          </p:nvPr>
        </p:nvSpPr>
        <p:spPr/>
        <p:txBody>
          <a:bodyPr/>
          <a:lstStyle/>
          <a:p>
            <a:fld id="{AF99744E-DA93-4C19-A849-0DAE34FCE43D}" type="slidenum">
              <a:rPr lang="en-SG" smtClean="0"/>
              <a:t>6</a:t>
            </a:fld>
            <a:endParaRPr lang="en-SG"/>
          </a:p>
        </p:txBody>
      </p:sp>
    </p:spTree>
    <p:extLst>
      <p:ext uri="{BB962C8B-B14F-4D97-AF65-F5344CB8AC3E}">
        <p14:creationId xmlns:p14="http://schemas.microsoft.com/office/powerpoint/2010/main" val="3823977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Warship crew on the strait transit scenario, the one scenario with a competency signal today. Start the run. The CGFs press hails at the navigation seat because that is the history-based target. Fallback: the recorded clip.</a:t>
            </a:r>
          </a:p>
        </p:txBody>
      </p:sp>
      <p:sp>
        <p:nvSpPr>
          <p:cNvPr id="4" name="Slide Number Placeholder 3"/>
          <p:cNvSpPr>
            <a:spLocks noGrp="1"/>
          </p:cNvSpPr>
          <p:nvPr>
            <p:ph type="sldNum" sz="quarter" idx="5"/>
          </p:nvPr>
        </p:nvSpPr>
        <p:spPr/>
        <p:txBody>
          <a:bodyPr/>
          <a:lstStyle/>
          <a:p>
            <a:fld id="{AF99744E-DA93-4C19-A849-0DAE34FCE43D}" type="slidenum">
              <a:rPr lang="en-SG" smtClean="0"/>
              <a:t>7</a:t>
            </a:fld>
            <a:endParaRPr lang="en-SG"/>
          </a:p>
        </p:txBody>
      </p:sp>
    </p:spTree>
    <p:extLst>
      <p:ext uri="{BB962C8B-B14F-4D97-AF65-F5344CB8AC3E}">
        <p14:creationId xmlns:p14="http://schemas.microsoft.com/office/powerpoint/2010/main" val="4089860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The screenshot is a real entry from the demo run: trainee_b handled 4 of the last 5 hail discipline events, so the weight on ignored warnings went from 2.2 to 2.5 to raise the pressure. Each entry shows direction, setting change, the evidence events and a one-line reason, tagged history, live, team or instructor. The rule on the right: above 70 percent the CGFs get harder, below 40 percent they ease off, never below the instructor's base.</a:t>
            </a:r>
          </a:p>
        </p:txBody>
      </p:sp>
      <p:sp>
        <p:nvSpPr>
          <p:cNvPr id="4" name="Slide Number Placeholder 3"/>
          <p:cNvSpPr>
            <a:spLocks noGrp="1"/>
          </p:cNvSpPr>
          <p:nvPr>
            <p:ph type="sldNum" sz="quarter" idx="5"/>
          </p:nvPr>
        </p:nvSpPr>
        <p:spPr/>
        <p:txBody>
          <a:bodyPr/>
          <a:lstStyle/>
          <a:p>
            <a:fld id="{AF99744E-DA93-4C19-A849-0DAE34FCE43D}" type="slidenum">
              <a:rPr lang="en-SG" smtClean="0"/>
              <a:t>8</a:t>
            </a:fld>
            <a:endParaRPr lang="en-SG"/>
          </a:p>
        </p:txBody>
      </p:sp>
    </p:spTree>
    <p:extLst>
      <p:ext uri="{BB962C8B-B14F-4D97-AF65-F5344CB8AC3E}">
        <p14:creationId xmlns:p14="http://schemas.microsoft.com/office/powerpoint/2010/main" val="3109872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Answer the standing worry: does adaptation break standardised assessment? Practice runs adapt, fixed mode is for qualification, and the badge differs. The demo runs with the local LLM off; every LLM feature has a template fallback. Steering: type a request, show the parsed directive, then apply.</a:t>
            </a:r>
          </a:p>
        </p:txBody>
      </p:sp>
      <p:sp>
        <p:nvSpPr>
          <p:cNvPr id="4" name="Slide Number Placeholder 3"/>
          <p:cNvSpPr>
            <a:spLocks noGrp="1"/>
          </p:cNvSpPr>
          <p:nvPr>
            <p:ph type="sldNum" sz="quarter" idx="5"/>
          </p:nvPr>
        </p:nvSpPr>
        <p:spPr/>
        <p:txBody>
          <a:bodyPr/>
          <a:lstStyle/>
          <a:p>
            <a:fld id="{AF99744E-DA93-4C19-A849-0DAE34FCE43D}" type="slidenum">
              <a:rPr lang="en-SG" smtClean="0"/>
              <a:t>9</a:t>
            </a:fld>
            <a:endParaRPr lang="en-SG"/>
          </a:p>
        </p:txBody>
      </p:sp>
    </p:spTree>
    <p:extLst>
      <p:ext uri="{BB962C8B-B14F-4D97-AF65-F5344CB8AC3E}">
        <p14:creationId xmlns:p14="http://schemas.microsoft.com/office/powerpoint/2010/main" val="3445324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Code computes every figure in the report; the narrative is a template. The order is fixed: report, then competency update, then the history entry. The screenshot is a seeded session, not a live run.</a:t>
            </a:r>
          </a:p>
        </p:txBody>
      </p:sp>
      <p:sp>
        <p:nvSpPr>
          <p:cNvPr id="4" name="Slide Number Placeholder 3"/>
          <p:cNvSpPr>
            <a:spLocks noGrp="1"/>
          </p:cNvSpPr>
          <p:nvPr>
            <p:ph type="sldNum" sz="quarter" idx="5"/>
          </p:nvPr>
        </p:nvSpPr>
        <p:spPr/>
        <p:txBody>
          <a:bodyPr/>
          <a:lstStyle/>
          <a:p>
            <a:fld id="{AF99744E-DA93-4C19-A849-0DAE34FCE43D}" type="slidenum">
              <a:rPr lang="en-SG" smtClean="0"/>
              <a:t>10</a:t>
            </a:fld>
            <a:endParaRPr lang="en-SG"/>
          </a:p>
        </p:txBody>
      </p:sp>
    </p:spTree>
    <p:extLst>
      <p:ext uri="{BB962C8B-B14F-4D97-AF65-F5344CB8AC3E}">
        <p14:creationId xmlns:p14="http://schemas.microsoft.com/office/powerpoint/2010/main" val="396642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The cohort view is for improving the curriculum, never for judging individuals, and its own banner says so. Adaptive runs give different exercises, so these figures are not qualification results.</a:t>
            </a:r>
          </a:p>
        </p:txBody>
      </p:sp>
      <p:sp>
        <p:nvSpPr>
          <p:cNvPr id="4" name="Slide Number Placeholder 3"/>
          <p:cNvSpPr>
            <a:spLocks noGrp="1"/>
          </p:cNvSpPr>
          <p:nvPr>
            <p:ph type="sldNum" sz="quarter" idx="5"/>
          </p:nvPr>
        </p:nvSpPr>
        <p:spPr/>
        <p:txBody>
          <a:bodyPr/>
          <a:lstStyle/>
          <a:p>
            <a:fld id="{AF99744E-DA93-4C19-A849-0DAE34FCE43D}" type="slidenum">
              <a:rPr lang="en-SG" smtClean="0"/>
              <a:t>11</a:t>
            </a:fld>
            <a:endParaRPr lang="en-SG"/>
          </a:p>
        </p:txBody>
      </p:sp>
    </p:spTree>
    <p:extLst>
      <p:ext uri="{BB962C8B-B14F-4D97-AF65-F5344CB8AC3E}">
        <p14:creationId xmlns:p14="http://schemas.microsoft.com/office/powerpoint/2010/main" val="35383990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Be precise about which parts are AI. The trainee model is statistical and learned from events. The policy that adjusts the enemy is rule-based today; a bandit version is planned. The language model is optional and local, used for steering and for rephrasing reasons, and every feature has a template fallback so the demo runs with it off. AI partners are played from parameters derived from earlier runs. The model never invents a number.</a:t>
            </a:r>
          </a:p>
        </p:txBody>
      </p:sp>
      <p:sp>
        <p:nvSpPr>
          <p:cNvPr id="4" name="Slide Number Placeholder 3"/>
          <p:cNvSpPr>
            <a:spLocks noGrp="1"/>
          </p:cNvSpPr>
          <p:nvPr>
            <p:ph type="sldNum" sz="quarter" idx="5"/>
          </p:nvPr>
        </p:nvSpPr>
        <p:spPr/>
        <p:txBody>
          <a:bodyPr/>
          <a:lstStyle/>
          <a:p>
            <a:fld id="{AF99744E-DA93-4C19-A849-0DAE34FCE43D}" type="slidenum">
              <a:rPr lang="en-SG" smtClean="0"/>
              <a:t>12</a:t>
            </a:fld>
            <a:endParaRPr lang="en-SG"/>
          </a:p>
        </p:txBody>
      </p:sp>
    </p:spTree>
    <p:extLst>
      <p:ext uri="{BB962C8B-B14F-4D97-AF65-F5344CB8AC3E}">
        <p14:creationId xmlns:p14="http://schemas.microsoft.com/office/powerpoint/2010/main" val="6922579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The novelty is what the enemy adapts to. Most adaptive training raises or lowers overall difficulty from this run's score. Here the target is a specific competency chosen from the trainee's history, and the pressure is set by what they are doing now. The instructor stays in command and can see every reason. Do not claim that nobody else has done this; this is our reading of common practice, not a product survey.</a:t>
            </a:r>
          </a:p>
        </p:txBody>
      </p:sp>
      <p:sp>
        <p:nvSpPr>
          <p:cNvPr id="4" name="Slide Number Placeholder 3"/>
          <p:cNvSpPr>
            <a:spLocks noGrp="1"/>
          </p:cNvSpPr>
          <p:nvPr>
            <p:ph type="sldNum" sz="quarter" idx="5"/>
          </p:nvPr>
        </p:nvSpPr>
        <p:spPr/>
        <p:txBody>
          <a:bodyPr/>
          <a:lstStyle/>
          <a:p>
            <a:fld id="{AF99744E-DA93-4C19-A849-0DAE34FCE43D}" type="slidenum">
              <a:rPr lang="en-SG" smtClean="0"/>
              <a:t>13</a:t>
            </a:fld>
            <a:endParaRPr lang="en-SG"/>
          </a:p>
        </p:txBody>
      </p:sp>
    </p:spTree>
    <p:extLst>
      <p:ext uri="{BB962C8B-B14F-4D97-AF65-F5344CB8AC3E}">
        <p14:creationId xmlns:p14="http://schemas.microsoft.com/office/powerpoint/2010/main" val="7362745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Beyond the core loop, what else needs to be done? Left column is what runs today and was tested. Right column is the honest list of what is not built: competency signals for air and land, crew-level adaptation, an adapter to a real simulator over HLA or DIS, a trial with real cohorts, approval for a local model on the event laptops, and the division's figures. The engine changes a small explicit set of CGF settings, which is what makes the adapter feasible.</a:t>
            </a:r>
          </a:p>
        </p:txBody>
      </p:sp>
      <p:sp>
        <p:nvSpPr>
          <p:cNvPr id="4" name="Slide Number Placeholder 3"/>
          <p:cNvSpPr>
            <a:spLocks noGrp="1"/>
          </p:cNvSpPr>
          <p:nvPr>
            <p:ph type="sldNum" sz="quarter" idx="5"/>
          </p:nvPr>
        </p:nvSpPr>
        <p:spPr/>
        <p:txBody>
          <a:bodyPr/>
          <a:lstStyle/>
          <a:p>
            <a:fld id="{AF99744E-DA93-4C19-A849-0DAE34FCE43D}" type="slidenum">
              <a:rPr lang="en-SG" smtClean="0"/>
              <a:t>14</a:t>
            </a:fld>
            <a:endParaRPr lang="en-SG"/>
          </a:p>
        </p:txBody>
      </p:sp>
    </p:spTree>
    <p:extLst>
      <p:ext uri="{BB962C8B-B14F-4D97-AF65-F5344CB8AC3E}">
        <p14:creationId xmlns:p14="http://schemas.microsoft.com/office/powerpoint/2010/main" val="38367895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The audience will want the value in Singapore dollars. This is a sensitivity grid built on stated assumptions, not a claim. The pool of 6,000 sessions a year (200 trainees times 30 sessions) and the value of S1,000 to S3,000 per avoided session are placeholders until the division supplies its own numbers; replace them and the grid follows from saving equals sessions times r times value. r, the share of sessions avoided, has never been measured: it is the hypothesis a trial would test. Say that out loud.</a:t>
            </a:r>
          </a:p>
        </p:txBody>
      </p:sp>
      <p:sp>
        <p:nvSpPr>
          <p:cNvPr id="4" name="Slide Number Placeholder 3"/>
          <p:cNvSpPr>
            <a:spLocks noGrp="1"/>
          </p:cNvSpPr>
          <p:nvPr>
            <p:ph type="sldNum" sz="quarter" idx="5"/>
          </p:nvPr>
        </p:nvSpPr>
        <p:spPr/>
        <p:txBody>
          <a:bodyPr/>
          <a:lstStyle/>
          <a:p>
            <a:fld id="{AF99744E-DA93-4C19-A849-0DAE34FCE43D}" type="slidenum">
              <a:rPr lang="en-SG" smtClean="0"/>
              <a:t>15</a:t>
            </a:fld>
            <a:endParaRPr lang="en-SG"/>
          </a:p>
        </p:txBody>
      </p:sp>
    </p:spTree>
    <p:extLst>
      <p:ext uri="{BB962C8B-B14F-4D97-AF65-F5344CB8AC3E}">
        <p14:creationId xmlns:p14="http://schemas.microsoft.com/office/powerpoint/2010/main" val="8159717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One sentence to close. Then questions: practice runs adapt and fixed mode assesses; the AI acts only inside the instructor’s limits; the demo shows the mechanism, and proving training transfer needs a trial with real cohorts.</a:t>
            </a:r>
          </a:p>
        </p:txBody>
      </p:sp>
      <p:sp>
        <p:nvSpPr>
          <p:cNvPr id="4" name="Slide Number Placeholder 3"/>
          <p:cNvSpPr>
            <a:spLocks noGrp="1"/>
          </p:cNvSpPr>
          <p:nvPr>
            <p:ph type="sldNum" sz="quarter" idx="5"/>
          </p:nvPr>
        </p:nvSpPr>
        <p:spPr/>
        <p:txBody>
          <a:bodyPr/>
          <a:lstStyle/>
          <a:p>
            <a:fld id="{AF99744E-DA93-4C19-A849-0DAE34FCE43D}" type="slidenum">
              <a:rPr lang="en-SG" smtClean="0"/>
              <a:t>16</a:t>
            </a:fld>
            <a:endParaRPr lang="en-SG"/>
          </a:p>
        </p:txBody>
      </p:sp>
    </p:spTree>
    <p:extLst>
      <p:ext uri="{BB962C8B-B14F-4D97-AF65-F5344CB8AC3E}">
        <p14:creationId xmlns:p14="http://schemas.microsoft.com/office/powerpoint/2010/main" val="519983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ACDE1-397A-C2ED-5B5A-09CDC3814C5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SG"/>
          </a:p>
        </p:txBody>
      </p:sp>
      <p:sp>
        <p:nvSpPr>
          <p:cNvPr id="3" name="Subtitle 2">
            <a:extLst>
              <a:ext uri="{FF2B5EF4-FFF2-40B4-BE49-F238E27FC236}">
                <a16:creationId xmlns:a16="http://schemas.microsoft.com/office/drawing/2014/main" id="{9199DF73-23E7-8277-EAC6-A39F124F47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SG"/>
          </a:p>
        </p:txBody>
      </p:sp>
      <p:sp>
        <p:nvSpPr>
          <p:cNvPr id="4" name="Date Placeholder 3">
            <a:extLst>
              <a:ext uri="{FF2B5EF4-FFF2-40B4-BE49-F238E27FC236}">
                <a16:creationId xmlns:a16="http://schemas.microsoft.com/office/drawing/2014/main" id="{74B29CFD-03AE-5826-29C2-FCFC73310943}"/>
              </a:ext>
            </a:extLst>
          </p:cNvPr>
          <p:cNvSpPr>
            <a:spLocks noGrp="1"/>
          </p:cNvSpPr>
          <p:nvPr>
            <p:ph type="dt" sz="half" idx="10"/>
          </p:nvPr>
        </p:nvSpPr>
        <p:spPr/>
        <p:txBody>
          <a:bodyPr/>
          <a:lstStyle/>
          <a:p>
            <a:fld id="{C847731D-21F9-46DF-9E5B-DE6BE2C2912D}" type="datetimeFigureOut">
              <a:rPr lang="en-SG" smtClean="0"/>
              <a:t>29/10/2026</a:t>
            </a:fld>
            <a:endParaRPr lang="en-SG"/>
          </a:p>
        </p:txBody>
      </p:sp>
      <p:sp>
        <p:nvSpPr>
          <p:cNvPr id="5" name="Footer Placeholder 4">
            <a:extLst>
              <a:ext uri="{FF2B5EF4-FFF2-40B4-BE49-F238E27FC236}">
                <a16:creationId xmlns:a16="http://schemas.microsoft.com/office/drawing/2014/main" id="{EEEE39AD-C583-0341-AE71-B44CE2B9604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AE6B542-6E71-AE29-E846-75858496CDB3}"/>
              </a:ext>
            </a:extLst>
          </p:cNvPr>
          <p:cNvSpPr>
            <a:spLocks noGrp="1"/>
          </p:cNvSpPr>
          <p:nvPr>
            <p:ph type="sldNum" sz="quarter" idx="12"/>
          </p:nvPr>
        </p:nvSpPr>
        <p:spPr/>
        <p:txBody>
          <a:bodyPr/>
          <a:lstStyle/>
          <a:p>
            <a:fld id="{BB6C54BB-3A77-45B9-985A-EDE813E42F0F}" type="slidenum">
              <a:rPr lang="en-SG" smtClean="0"/>
              <a:t>‹#›</a:t>
            </a:fld>
            <a:endParaRPr lang="en-SG"/>
          </a:p>
        </p:txBody>
      </p:sp>
    </p:spTree>
    <p:extLst>
      <p:ext uri="{BB962C8B-B14F-4D97-AF65-F5344CB8AC3E}">
        <p14:creationId xmlns:p14="http://schemas.microsoft.com/office/powerpoint/2010/main" val="133164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C49C4-01F7-F437-6D27-F5920205B562}"/>
              </a:ext>
            </a:extLst>
          </p:cNvPr>
          <p:cNvSpPr>
            <a:spLocks noGrp="1"/>
          </p:cNvSpPr>
          <p:nvPr>
            <p:ph type="title"/>
          </p:nvPr>
        </p:nvSpPr>
        <p:spPr/>
        <p:txBody>
          <a:bodyPr/>
          <a:lstStyle/>
          <a:p>
            <a:r>
              <a:rPr lang="en-GB"/>
              <a:t>Click to edit Master title style</a:t>
            </a:r>
            <a:endParaRPr lang="en-SG"/>
          </a:p>
        </p:txBody>
      </p:sp>
      <p:sp>
        <p:nvSpPr>
          <p:cNvPr id="3" name="Content Placeholder 2">
            <a:extLst>
              <a:ext uri="{FF2B5EF4-FFF2-40B4-BE49-F238E27FC236}">
                <a16:creationId xmlns:a16="http://schemas.microsoft.com/office/drawing/2014/main" id="{4964FDC8-8B66-CDC6-A9AB-E240011A367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E68E9DC7-01F3-54E3-4EAB-7447437377F8}"/>
              </a:ext>
            </a:extLst>
          </p:cNvPr>
          <p:cNvSpPr>
            <a:spLocks noGrp="1"/>
          </p:cNvSpPr>
          <p:nvPr>
            <p:ph type="dt" sz="half" idx="10"/>
          </p:nvPr>
        </p:nvSpPr>
        <p:spPr/>
        <p:txBody>
          <a:bodyPr/>
          <a:lstStyle/>
          <a:p>
            <a:fld id="{C847731D-21F9-46DF-9E5B-DE6BE2C2912D}" type="datetimeFigureOut">
              <a:rPr lang="en-SG" smtClean="0"/>
              <a:t>29/10/2026</a:t>
            </a:fld>
            <a:endParaRPr lang="en-SG"/>
          </a:p>
        </p:txBody>
      </p:sp>
      <p:sp>
        <p:nvSpPr>
          <p:cNvPr id="5" name="Footer Placeholder 4">
            <a:extLst>
              <a:ext uri="{FF2B5EF4-FFF2-40B4-BE49-F238E27FC236}">
                <a16:creationId xmlns:a16="http://schemas.microsoft.com/office/drawing/2014/main" id="{BC5CB633-CAE0-33DA-200C-8E5CF73FE33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43475A3-9F61-67C6-605A-C504E1CFBE07}"/>
              </a:ext>
            </a:extLst>
          </p:cNvPr>
          <p:cNvSpPr>
            <a:spLocks noGrp="1"/>
          </p:cNvSpPr>
          <p:nvPr>
            <p:ph type="sldNum" sz="quarter" idx="12"/>
          </p:nvPr>
        </p:nvSpPr>
        <p:spPr/>
        <p:txBody>
          <a:bodyPr/>
          <a:lstStyle/>
          <a:p>
            <a:fld id="{BB6C54BB-3A77-45B9-985A-EDE813E42F0F}" type="slidenum">
              <a:rPr lang="en-SG" smtClean="0"/>
              <a:t>‹#›</a:t>
            </a:fld>
            <a:endParaRPr lang="en-SG"/>
          </a:p>
        </p:txBody>
      </p:sp>
    </p:spTree>
    <p:extLst>
      <p:ext uri="{BB962C8B-B14F-4D97-AF65-F5344CB8AC3E}">
        <p14:creationId xmlns:p14="http://schemas.microsoft.com/office/powerpoint/2010/main" val="3978425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1229F-57E0-0546-FA8E-A8A9536BDEA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SG"/>
          </a:p>
        </p:txBody>
      </p:sp>
      <p:sp>
        <p:nvSpPr>
          <p:cNvPr id="3" name="Text Placeholder 2">
            <a:extLst>
              <a:ext uri="{FF2B5EF4-FFF2-40B4-BE49-F238E27FC236}">
                <a16:creationId xmlns:a16="http://schemas.microsoft.com/office/drawing/2014/main" id="{7D252799-A18E-B482-8824-ABD51C7374D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F265FF8-DDDF-1C53-CFDE-9F041F676DD8}"/>
              </a:ext>
            </a:extLst>
          </p:cNvPr>
          <p:cNvSpPr>
            <a:spLocks noGrp="1"/>
          </p:cNvSpPr>
          <p:nvPr>
            <p:ph type="dt" sz="half" idx="10"/>
          </p:nvPr>
        </p:nvSpPr>
        <p:spPr/>
        <p:txBody>
          <a:bodyPr/>
          <a:lstStyle/>
          <a:p>
            <a:fld id="{C847731D-21F9-46DF-9E5B-DE6BE2C2912D}" type="datetimeFigureOut">
              <a:rPr lang="en-SG" smtClean="0"/>
              <a:t>29/10/2026</a:t>
            </a:fld>
            <a:endParaRPr lang="en-SG"/>
          </a:p>
        </p:txBody>
      </p:sp>
      <p:sp>
        <p:nvSpPr>
          <p:cNvPr id="5" name="Footer Placeholder 4">
            <a:extLst>
              <a:ext uri="{FF2B5EF4-FFF2-40B4-BE49-F238E27FC236}">
                <a16:creationId xmlns:a16="http://schemas.microsoft.com/office/drawing/2014/main" id="{4791162A-4D43-7E77-F7E2-ABF5B021C9C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498378C-62FD-12E6-A711-304F640F6C8F}"/>
              </a:ext>
            </a:extLst>
          </p:cNvPr>
          <p:cNvSpPr>
            <a:spLocks noGrp="1"/>
          </p:cNvSpPr>
          <p:nvPr>
            <p:ph type="sldNum" sz="quarter" idx="12"/>
          </p:nvPr>
        </p:nvSpPr>
        <p:spPr/>
        <p:txBody>
          <a:bodyPr/>
          <a:lstStyle/>
          <a:p>
            <a:fld id="{BB6C54BB-3A77-45B9-985A-EDE813E42F0F}" type="slidenum">
              <a:rPr lang="en-SG" smtClean="0"/>
              <a:t>‹#›</a:t>
            </a:fld>
            <a:endParaRPr lang="en-SG"/>
          </a:p>
        </p:txBody>
      </p:sp>
    </p:spTree>
    <p:extLst>
      <p:ext uri="{BB962C8B-B14F-4D97-AF65-F5344CB8AC3E}">
        <p14:creationId xmlns:p14="http://schemas.microsoft.com/office/powerpoint/2010/main" val="2915425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960AB-4B75-F584-8EFB-E667C08045AB}"/>
              </a:ext>
            </a:extLst>
          </p:cNvPr>
          <p:cNvSpPr>
            <a:spLocks noGrp="1"/>
          </p:cNvSpPr>
          <p:nvPr>
            <p:ph type="title"/>
          </p:nvPr>
        </p:nvSpPr>
        <p:spPr/>
        <p:txBody>
          <a:bodyPr/>
          <a:lstStyle/>
          <a:p>
            <a:r>
              <a:rPr lang="en-GB"/>
              <a:t>Click to edit Master title style</a:t>
            </a:r>
            <a:endParaRPr lang="en-SG"/>
          </a:p>
        </p:txBody>
      </p:sp>
      <p:sp>
        <p:nvSpPr>
          <p:cNvPr id="3" name="Content Placeholder 2">
            <a:extLst>
              <a:ext uri="{FF2B5EF4-FFF2-40B4-BE49-F238E27FC236}">
                <a16:creationId xmlns:a16="http://schemas.microsoft.com/office/drawing/2014/main" id="{F849AA70-DDF5-034D-CCF5-5D623120F05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Content Placeholder 3">
            <a:extLst>
              <a:ext uri="{FF2B5EF4-FFF2-40B4-BE49-F238E27FC236}">
                <a16:creationId xmlns:a16="http://schemas.microsoft.com/office/drawing/2014/main" id="{89D306FA-5748-FEC2-D053-0A90EDC0AC3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Date Placeholder 4">
            <a:extLst>
              <a:ext uri="{FF2B5EF4-FFF2-40B4-BE49-F238E27FC236}">
                <a16:creationId xmlns:a16="http://schemas.microsoft.com/office/drawing/2014/main" id="{E4181EED-55A4-519A-84B5-0077DD7C4346}"/>
              </a:ext>
            </a:extLst>
          </p:cNvPr>
          <p:cNvSpPr>
            <a:spLocks noGrp="1"/>
          </p:cNvSpPr>
          <p:nvPr>
            <p:ph type="dt" sz="half" idx="10"/>
          </p:nvPr>
        </p:nvSpPr>
        <p:spPr/>
        <p:txBody>
          <a:bodyPr/>
          <a:lstStyle/>
          <a:p>
            <a:fld id="{C847731D-21F9-46DF-9E5B-DE6BE2C2912D}" type="datetimeFigureOut">
              <a:rPr lang="en-SG" smtClean="0"/>
              <a:t>29/10/2026</a:t>
            </a:fld>
            <a:endParaRPr lang="en-SG"/>
          </a:p>
        </p:txBody>
      </p:sp>
      <p:sp>
        <p:nvSpPr>
          <p:cNvPr id="6" name="Footer Placeholder 5">
            <a:extLst>
              <a:ext uri="{FF2B5EF4-FFF2-40B4-BE49-F238E27FC236}">
                <a16:creationId xmlns:a16="http://schemas.microsoft.com/office/drawing/2014/main" id="{126E2DF3-0BEC-646C-1939-C5C120B878EB}"/>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4EAAA6A1-3F3D-585C-3E14-1B6FA75674AB}"/>
              </a:ext>
            </a:extLst>
          </p:cNvPr>
          <p:cNvSpPr>
            <a:spLocks noGrp="1"/>
          </p:cNvSpPr>
          <p:nvPr>
            <p:ph type="sldNum" sz="quarter" idx="12"/>
          </p:nvPr>
        </p:nvSpPr>
        <p:spPr/>
        <p:txBody>
          <a:bodyPr/>
          <a:lstStyle/>
          <a:p>
            <a:fld id="{BB6C54BB-3A77-45B9-985A-EDE813E42F0F}" type="slidenum">
              <a:rPr lang="en-SG" smtClean="0"/>
              <a:t>‹#›</a:t>
            </a:fld>
            <a:endParaRPr lang="en-SG"/>
          </a:p>
        </p:txBody>
      </p:sp>
    </p:spTree>
    <p:extLst>
      <p:ext uri="{BB962C8B-B14F-4D97-AF65-F5344CB8AC3E}">
        <p14:creationId xmlns:p14="http://schemas.microsoft.com/office/powerpoint/2010/main" val="1364954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3D0F0-40C8-FC4B-0077-CFF6FE002F11}"/>
              </a:ext>
            </a:extLst>
          </p:cNvPr>
          <p:cNvSpPr>
            <a:spLocks noGrp="1"/>
          </p:cNvSpPr>
          <p:nvPr>
            <p:ph type="title"/>
          </p:nvPr>
        </p:nvSpPr>
        <p:spPr>
          <a:xfrm>
            <a:off x="839788" y="365125"/>
            <a:ext cx="10515600" cy="1325563"/>
          </a:xfrm>
        </p:spPr>
        <p:txBody>
          <a:bodyPr/>
          <a:lstStyle/>
          <a:p>
            <a:r>
              <a:rPr lang="en-GB"/>
              <a:t>Click to edit Master title style</a:t>
            </a:r>
            <a:endParaRPr lang="en-SG"/>
          </a:p>
        </p:txBody>
      </p:sp>
      <p:sp>
        <p:nvSpPr>
          <p:cNvPr id="3" name="Text Placeholder 2">
            <a:extLst>
              <a:ext uri="{FF2B5EF4-FFF2-40B4-BE49-F238E27FC236}">
                <a16:creationId xmlns:a16="http://schemas.microsoft.com/office/drawing/2014/main" id="{07F23CD9-D7EE-9AB6-797A-6C0876BD1B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D8399D6-9200-B6B7-8960-4E374DA1C83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Text Placeholder 4">
            <a:extLst>
              <a:ext uri="{FF2B5EF4-FFF2-40B4-BE49-F238E27FC236}">
                <a16:creationId xmlns:a16="http://schemas.microsoft.com/office/drawing/2014/main" id="{703621E9-7135-B41B-2542-49BB4B7772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E52D2D6-5AD3-4AC6-D7BA-652D67BEA42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7" name="Date Placeholder 6">
            <a:extLst>
              <a:ext uri="{FF2B5EF4-FFF2-40B4-BE49-F238E27FC236}">
                <a16:creationId xmlns:a16="http://schemas.microsoft.com/office/drawing/2014/main" id="{42EB1E6B-1E39-046C-A089-FEB917B8B15A}"/>
              </a:ext>
            </a:extLst>
          </p:cNvPr>
          <p:cNvSpPr>
            <a:spLocks noGrp="1"/>
          </p:cNvSpPr>
          <p:nvPr>
            <p:ph type="dt" sz="half" idx="10"/>
          </p:nvPr>
        </p:nvSpPr>
        <p:spPr/>
        <p:txBody>
          <a:bodyPr/>
          <a:lstStyle/>
          <a:p>
            <a:fld id="{C847731D-21F9-46DF-9E5B-DE6BE2C2912D}" type="datetimeFigureOut">
              <a:rPr lang="en-SG" smtClean="0"/>
              <a:t>29/10/2026</a:t>
            </a:fld>
            <a:endParaRPr lang="en-SG"/>
          </a:p>
        </p:txBody>
      </p:sp>
      <p:sp>
        <p:nvSpPr>
          <p:cNvPr id="8" name="Footer Placeholder 7">
            <a:extLst>
              <a:ext uri="{FF2B5EF4-FFF2-40B4-BE49-F238E27FC236}">
                <a16:creationId xmlns:a16="http://schemas.microsoft.com/office/drawing/2014/main" id="{54CEFC8F-5145-FCE6-8077-4F8E7FB749AC}"/>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4D59DB23-3780-C00E-A2A1-90516C2CA43F}"/>
              </a:ext>
            </a:extLst>
          </p:cNvPr>
          <p:cNvSpPr>
            <a:spLocks noGrp="1"/>
          </p:cNvSpPr>
          <p:nvPr>
            <p:ph type="sldNum" sz="quarter" idx="12"/>
          </p:nvPr>
        </p:nvSpPr>
        <p:spPr/>
        <p:txBody>
          <a:bodyPr/>
          <a:lstStyle/>
          <a:p>
            <a:fld id="{BB6C54BB-3A77-45B9-985A-EDE813E42F0F}" type="slidenum">
              <a:rPr lang="en-SG" smtClean="0"/>
              <a:t>‹#›</a:t>
            </a:fld>
            <a:endParaRPr lang="en-SG"/>
          </a:p>
        </p:txBody>
      </p:sp>
    </p:spTree>
    <p:extLst>
      <p:ext uri="{BB962C8B-B14F-4D97-AF65-F5344CB8AC3E}">
        <p14:creationId xmlns:p14="http://schemas.microsoft.com/office/powerpoint/2010/main" val="4272826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11595-6753-AEE4-471E-3B7740875581}"/>
              </a:ext>
            </a:extLst>
          </p:cNvPr>
          <p:cNvSpPr>
            <a:spLocks noGrp="1"/>
          </p:cNvSpPr>
          <p:nvPr>
            <p:ph type="title"/>
          </p:nvPr>
        </p:nvSpPr>
        <p:spPr/>
        <p:txBody>
          <a:bodyPr/>
          <a:lstStyle/>
          <a:p>
            <a:r>
              <a:rPr lang="en-GB"/>
              <a:t>Click to edit Master title style</a:t>
            </a:r>
            <a:endParaRPr lang="en-SG"/>
          </a:p>
        </p:txBody>
      </p:sp>
      <p:sp>
        <p:nvSpPr>
          <p:cNvPr id="3" name="Date Placeholder 2">
            <a:extLst>
              <a:ext uri="{FF2B5EF4-FFF2-40B4-BE49-F238E27FC236}">
                <a16:creationId xmlns:a16="http://schemas.microsoft.com/office/drawing/2014/main" id="{1A1EC87D-4CCA-B264-1EEB-4180B34DE236}"/>
              </a:ext>
            </a:extLst>
          </p:cNvPr>
          <p:cNvSpPr>
            <a:spLocks noGrp="1"/>
          </p:cNvSpPr>
          <p:nvPr>
            <p:ph type="dt" sz="half" idx="10"/>
          </p:nvPr>
        </p:nvSpPr>
        <p:spPr/>
        <p:txBody>
          <a:bodyPr/>
          <a:lstStyle/>
          <a:p>
            <a:fld id="{C847731D-21F9-46DF-9E5B-DE6BE2C2912D}" type="datetimeFigureOut">
              <a:rPr lang="en-SG" smtClean="0"/>
              <a:t>29/10/2026</a:t>
            </a:fld>
            <a:endParaRPr lang="en-SG"/>
          </a:p>
        </p:txBody>
      </p:sp>
      <p:sp>
        <p:nvSpPr>
          <p:cNvPr id="4" name="Footer Placeholder 3">
            <a:extLst>
              <a:ext uri="{FF2B5EF4-FFF2-40B4-BE49-F238E27FC236}">
                <a16:creationId xmlns:a16="http://schemas.microsoft.com/office/drawing/2014/main" id="{B1C0C323-9B25-047B-69B8-BCFB1D5C3F04}"/>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3A300D5F-384C-321A-054B-4C4611F9DBDA}"/>
              </a:ext>
            </a:extLst>
          </p:cNvPr>
          <p:cNvSpPr>
            <a:spLocks noGrp="1"/>
          </p:cNvSpPr>
          <p:nvPr>
            <p:ph type="sldNum" sz="quarter" idx="12"/>
          </p:nvPr>
        </p:nvSpPr>
        <p:spPr/>
        <p:txBody>
          <a:bodyPr/>
          <a:lstStyle/>
          <a:p>
            <a:fld id="{BB6C54BB-3A77-45B9-985A-EDE813E42F0F}" type="slidenum">
              <a:rPr lang="en-SG" smtClean="0"/>
              <a:t>‹#›</a:t>
            </a:fld>
            <a:endParaRPr lang="en-SG"/>
          </a:p>
        </p:txBody>
      </p:sp>
    </p:spTree>
    <p:extLst>
      <p:ext uri="{BB962C8B-B14F-4D97-AF65-F5344CB8AC3E}">
        <p14:creationId xmlns:p14="http://schemas.microsoft.com/office/powerpoint/2010/main" val="3922562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4669B-F301-68F1-CB99-EE17E3CEA094}"/>
              </a:ext>
            </a:extLst>
          </p:cNvPr>
          <p:cNvSpPr>
            <a:spLocks noGrp="1"/>
          </p:cNvSpPr>
          <p:nvPr>
            <p:ph type="dt" sz="half" idx="10"/>
          </p:nvPr>
        </p:nvSpPr>
        <p:spPr/>
        <p:txBody>
          <a:bodyPr/>
          <a:lstStyle/>
          <a:p>
            <a:fld id="{C847731D-21F9-46DF-9E5B-DE6BE2C2912D}" type="datetimeFigureOut">
              <a:rPr lang="en-SG" smtClean="0"/>
              <a:t>29/10/2026</a:t>
            </a:fld>
            <a:endParaRPr lang="en-SG"/>
          </a:p>
        </p:txBody>
      </p:sp>
      <p:sp>
        <p:nvSpPr>
          <p:cNvPr id="3" name="Footer Placeholder 2">
            <a:extLst>
              <a:ext uri="{FF2B5EF4-FFF2-40B4-BE49-F238E27FC236}">
                <a16:creationId xmlns:a16="http://schemas.microsoft.com/office/drawing/2014/main" id="{DFD49278-F9DF-D948-8D0B-4F5CF2350E92}"/>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E1FDBD05-0550-4EA8-1073-3BE764316119}"/>
              </a:ext>
            </a:extLst>
          </p:cNvPr>
          <p:cNvSpPr>
            <a:spLocks noGrp="1"/>
          </p:cNvSpPr>
          <p:nvPr>
            <p:ph type="sldNum" sz="quarter" idx="12"/>
          </p:nvPr>
        </p:nvSpPr>
        <p:spPr/>
        <p:txBody>
          <a:bodyPr/>
          <a:lstStyle/>
          <a:p>
            <a:fld id="{BB6C54BB-3A77-45B9-985A-EDE813E42F0F}" type="slidenum">
              <a:rPr lang="en-SG" smtClean="0"/>
              <a:t>‹#›</a:t>
            </a:fld>
            <a:endParaRPr lang="en-SG"/>
          </a:p>
        </p:txBody>
      </p:sp>
    </p:spTree>
    <p:extLst>
      <p:ext uri="{BB962C8B-B14F-4D97-AF65-F5344CB8AC3E}">
        <p14:creationId xmlns:p14="http://schemas.microsoft.com/office/powerpoint/2010/main" val="2233178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2B127-9CD1-AEFB-34BB-5F6224B2510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G"/>
          </a:p>
        </p:txBody>
      </p:sp>
      <p:sp>
        <p:nvSpPr>
          <p:cNvPr id="3" name="Content Placeholder 2">
            <a:extLst>
              <a:ext uri="{FF2B5EF4-FFF2-40B4-BE49-F238E27FC236}">
                <a16:creationId xmlns:a16="http://schemas.microsoft.com/office/drawing/2014/main" id="{58994B84-486A-8653-AD8A-EDC8E8F925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Text Placeholder 3">
            <a:extLst>
              <a:ext uri="{FF2B5EF4-FFF2-40B4-BE49-F238E27FC236}">
                <a16:creationId xmlns:a16="http://schemas.microsoft.com/office/drawing/2014/main" id="{B273EA22-21EA-8960-CFC9-306A7B4060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696DF74-C8F0-8FB6-F0DC-3A5721D58A3B}"/>
              </a:ext>
            </a:extLst>
          </p:cNvPr>
          <p:cNvSpPr>
            <a:spLocks noGrp="1"/>
          </p:cNvSpPr>
          <p:nvPr>
            <p:ph type="dt" sz="half" idx="10"/>
          </p:nvPr>
        </p:nvSpPr>
        <p:spPr/>
        <p:txBody>
          <a:bodyPr/>
          <a:lstStyle/>
          <a:p>
            <a:fld id="{C847731D-21F9-46DF-9E5B-DE6BE2C2912D}" type="datetimeFigureOut">
              <a:rPr lang="en-SG" smtClean="0"/>
              <a:t>29/10/2026</a:t>
            </a:fld>
            <a:endParaRPr lang="en-SG"/>
          </a:p>
        </p:txBody>
      </p:sp>
      <p:sp>
        <p:nvSpPr>
          <p:cNvPr id="6" name="Footer Placeholder 5">
            <a:extLst>
              <a:ext uri="{FF2B5EF4-FFF2-40B4-BE49-F238E27FC236}">
                <a16:creationId xmlns:a16="http://schemas.microsoft.com/office/drawing/2014/main" id="{A6A640F7-1D5E-3364-BA58-E4C61846D37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2456539A-3FA6-C727-F85C-76F53550C7FA}"/>
              </a:ext>
            </a:extLst>
          </p:cNvPr>
          <p:cNvSpPr>
            <a:spLocks noGrp="1"/>
          </p:cNvSpPr>
          <p:nvPr>
            <p:ph type="sldNum" sz="quarter" idx="12"/>
          </p:nvPr>
        </p:nvSpPr>
        <p:spPr/>
        <p:txBody>
          <a:bodyPr/>
          <a:lstStyle/>
          <a:p>
            <a:fld id="{BB6C54BB-3A77-45B9-985A-EDE813E42F0F}" type="slidenum">
              <a:rPr lang="en-SG" smtClean="0"/>
              <a:t>‹#›</a:t>
            </a:fld>
            <a:endParaRPr lang="en-SG"/>
          </a:p>
        </p:txBody>
      </p:sp>
    </p:spTree>
    <p:extLst>
      <p:ext uri="{BB962C8B-B14F-4D97-AF65-F5344CB8AC3E}">
        <p14:creationId xmlns:p14="http://schemas.microsoft.com/office/powerpoint/2010/main" val="3530052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BFC46-CD57-BE02-88D6-74376C190BE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G"/>
          </a:p>
        </p:txBody>
      </p:sp>
      <p:sp>
        <p:nvSpPr>
          <p:cNvPr id="3" name="Picture Placeholder 2">
            <a:extLst>
              <a:ext uri="{FF2B5EF4-FFF2-40B4-BE49-F238E27FC236}">
                <a16:creationId xmlns:a16="http://schemas.microsoft.com/office/drawing/2014/main" id="{A3BE28DD-7B58-CB37-53C4-C9DE83D4DB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B7C55B2B-DC25-7E5A-5B13-62CD4B0A4E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ED329CA-CA00-2E0D-F8D7-22C93392515A}"/>
              </a:ext>
            </a:extLst>
          </p:cNvPr>
          <p:cNvSpPr>
            <a:spLocks noGrp="1"/>
          </p:cNvSpPr>
          <p:nvPr>
            <p:ph type="dt" sz="half" idx="10"/>
          </p:nvPr>
        </p:nvSpPr>
        <p:spPr/>
        <p:txBody>
          <a:bodyPr/>
          <a:lstStyle/>
          <a:p>
            <a:fld id="{C847731D-21F9-46DF-9E5B-DE6BE2C2912D}" type="datetimeFigureOut">
              <a:rPr lang="en-SG" smtClean="0"/>
              <a:t>29/10/2026</a:t>
            </a:fld>
            <a:endParaRPr lang="en-SG"/>
          </a:p>
        </p:txBody>
      </p:sp>
      <p:sp>
        <p:nvSpPr>
          <p:cNvPr id="6" name="Footer Placeholder 5">
            <a:extLst>
              <a:ext uri="{FF2B5EF4-FFF2-40B4-BE49-F238E27FC236}">
                <a16:creationId xmlns:a16="http://schemas.microsoft.com/office/drawing/2014/main" id="{205DEB4A-D0D7-4DE4-EB42-78558A188D6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1A65E424-2A1D-43FD-59BF-001F8A992863}"/>
              </a:ext>
            </a:extLst>
          </p:cNvPr>
          <p:cNvSpPr>
            <a:spLocks noGrp="1"/>
          </p:cNvSpPr>
          <p:nvPr>
            <p:ph type="sldNum" sz="quarter" idx="12"/>
          </p:nvPr>
        </p:nvSpPr>
        <p:spPr/>
        <p:txBody>
          <a:bodyPr/>
          <a:lstStyle/>
          <a:p>
            <a:fld id="{BB6C54BB-3A77-45B9-985A-EDE813E42F0F}" type="slidenum">
              <a:rPr lang="en-SG" smtClean="0"/>
              <a:t>‹#›</a:t>
            </a:fld>
            <a:endParaRPr lang="en-SG"/>
          </a:p>
        </p:txBody>
      </p:sp>
    </p:spTree>
    <p:extLst>
      <p:ext uri="{BB962C8B-B14F-4D97-AF65-F5344CB8AC3E}">
        <p14:creationId xmlns:p14="http://schemas.microsoft.com/office/powerpoint/2010/main" val="948389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3CAB1-DF7C-7314-52AE-EC3F0FA21C0F}"/>
              </a:ext>
            </a:extLst>
          </p:cNvPr>
          <p:cNvSpPr>
            <a:spLocks noGrp="1"/>
          </p:cNvSpPr>
          <p:nvPr>
            <p:ph type="title"/>
          </p:nvPr>
        </p:nvSpPr>
        <p:spPr/>
        <p:txBody>
          <a:bodyPr/>
          <a:lstStyle/>
          <a:p>
            <a:r>
              <a:rPr lang="en-GB"/>
              <a:t>Click to edit Master title style</a:t>
            </a:r>
            <a:endParaRPr lang="en-SG"/>
          </a:p>
        </p:txBody>
      </p:sp>
      <p:sp>
        <p:nvSpPr>
          <p:cNvPr id="3" name="Vertical Text Placeholder 2">
            <a:extLst>
              <a:ext uri="{FF2B5EF4-FFF2-40B4-BE49-F238E27FC236}">
                <a16:creationId xmlns:a16="http://schemas.microsoft.com/office/drawing/2014/main" id="{88B4280E-CFFE-46B2-EC32-3940504BBF4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437001B4-F63D-3943-0122-1C0B15637E8B}"/>
              </a:ext>
            </a:extLst>
          </p:cNvPr>
          <p:cNvSpPr>
            <a:spLocks noGrp="1"/>
          </p:cNvSpPr>
          <p:nvPr>
            <p:ph type="dt" sz="half" idx="10"/>
          </p:nvPr>
        </p:nvSpPr>
        <p:spPr/>
        <p:txBody>
          <a:bodyPr/>
          <a:lstStyle/>
          <a:p>
            <a:fld id="{C847731D-21F9-46DF-9E5B-DE6BE2C2912D}" type="datetimeFigureOut">
              <a:rPr lang="en-SG" smtClean="0"/>
              <a:t>29/10/2026</a:t>
            </a:fld>
            <a:endParaRPr lang="en-SG"/>
          </a:p>
        </p:txBody>
      </p:sp>
      <p:sp>
        <p:nvSpPr>
          <p:cNvPr id="5" name="Footer Placeholder 4">
            <a:extLst>
              <a:ext uri="{FF2B5EF4-FFF2-40B4-BE49-F238E27FC236}">
                <a16:creationId xmlns:a16="http://schemas.microsoft.com/office/drawing/2014/main" id="{51938765-F44D-A90A-DF11-60BD47DCBF4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C7C9317-AF46-A5AB-3F39-14980A03081B}"/>
              </a:ext>
            </a:extLst>
          </p:cNvPr>
          <p:cNvSpPr>
            <a:spLocks noGrp="1"/>
          </p:cNvSpPr>
          <p:nvPr>
            <p:ph type="sldNum" sz="quarter" idx="12"/>
          </p:nvPr>
        </p:nvSpPr>
        <p:spPr/>
        <p:txBody>
          <a:bodyPr/>
          <a:lstStyle/>
          <a:p>
            <a:fld id="{BB6C54BB-3A77-45B9-985A-EDE813E42F0F}" type="slidenum">
              <a:rPr lang="en-SG" smtClean="0"/>
              <a:t>‹#›</a:t>
            </a:fld>
            <a:endParaRPr lang="en-SG"/>
          </a:p>
        </p:txBody>
      </p:sp>
    </p:spTree>
    <p:extLst>
      <p:ext uri="{BB962C8B-B14F-4D97-AF65-F5344CB8AC3E}">
        <p14:creationId xmlns:p14="http://schemas.microsoft.com/office/powerpoint/2010/main" val="2356737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9300EC-8A24-452A-9DB6-2B33FDA1960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SG"/>
          </a:p>
        </p:txBody>
      </p:sp>
      <p:sp>
        <p:nvSpPr>
          <p:cNvPr id="3" name="Vertical Text Placeholder 2">
            <a:extLst>
              <a:ext uri="{FF2B5EF4-FFF2-40B4-BE49-F238E27FC236}">
                <a16:creationId xmlns:a16="http://schemas.microsoft.com/office/drawing/2014/main" id="{EBAECA1F-40D7-6483-4B94-7EDECBF4B57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C9A6FB2D-09BF-7D55-996F-A4442F3C09EE}"/>
              </a:ext>
            </a:extLst>
          </p:cNvPr>
          <p:cNvSpPr>
            <a:spLocks noGrp="1"/>
          </p:cNvSpPr>
          <p:nvPr>
            <p:ph type="dt" sz="half" idx="10"/>
          </p:nvPr>
        </p:nvSpPr>
        <p:spPr/>
        <p:txBody>
          <a:bodyPr/>
          <a:lstStyle/>
          <a:p>
            <a:fld id="{C847731D-21F9-46DF-9E5B-DE6BE2C2912D}" type="datetimeFigureOut">
              <a:rPr lang="en-SG" smtClean="0"/>
              <a:t>29/10/2026</a:t>
            </a:fld>
            <a:endParaRPr lang="en-SG"/>
          </a:p>
        </p:txBody>
      </p:sp>
      <p:sp>
        <p:nvSpPr>
          <p:cNvPr id="5" name="Footer Placeholder 4">
            <a:extLst>
              <a:ext uri="{FF2B5EF4-FFF2-40B4-BE49-F238E27FC236}">
                <a16:creationId xmlns:a16="http://schemas.microsoft.com/office/drawing/2014/main" id="{AA807DD3-154F-988A-85EA-0D5F299A14C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45B8D034-9820-18A2-A941-A4E734BB16D6}"/>
              </a:ext>
            </a:extLst>
          </p:cNvPr>
          <p:cNvSpPr>
            <a:spLocks noGrp="1"/>
          </p:cNvSpPr>
          <p:nvPr>
            <p:ph type="sldNum" sz="quarter" idx="12"/>
          </p:nvPr>
        </p:nvSpPr>
        <p:spPr/>
        <p:txBody>
          <a:bodyPr/>
          <a:lstStyle/>
          <a:p>
            <a:fld id="{BB6C54BB-3A77-45B9-985A-EDE813E42F0F}" type="slidenum">
              <a:rPr lang="en-SG" smtClean="0"/>
              <a:t>‹#›</a:t>
            </a:fld>
            <a:endParaRPr lang="en-SG"/>
          </a:p>
        </p:txBody>
      </p:sp>
    </p:spTree>
    <p:extLst>
      <p:ext uri="{BB962C8B-B14F-4D97-AF65-F5344CB8AC3E}">
        <p14:creationId xmlns:p14="http://schemas.microsoft.com/office/powerpoint/2010/main" val="1099691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8142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0BD751-BF0E-AE13-5A30-9090764704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SG"/>
          </a:p>
        </p:txBody>
      </p:sp>
      <p:sp>
        <p:nvSpPr>
          <p:cNvPr id="3" name="Text Placeholder 2">
            <a:extLst>
              <a:ext uri="{FF2B5EF4-FFF2-40B4-BE49-F238E27FC236}">
                <a16:creationId xmlns:a16="http://schemas.microsoft.com/office/drawing/2014/main" id="{65FA72CB-CA2F-A840-7C33-C8DCB095F2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E46A0CA4-23AB-9CEA-7C67-645CADEECC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47731D-21F9-46DF-9E5B-DE6BE2C2912D}" type="datetimeFigureOut">
              <a:rPr lang="en-SG" smtClean="0"/>
              <a:t>29/10/2026</a:t>
            </a:fld>
            <a:endParaRPr lang="en-SG"/>
          </a:p>
        </p:txBody>
      </p:sp>
      <p:sp>
        <p:nvSpPr>
          <p:cNvPr id="5" name="Footer Placeholder 4">
            <a:extLst>
              <a:ext uri="{FF2B5EF4-FFF2-40B4-BE49-F238E27FC236}">
                <a16:creationId xmlns:a16="http://schemas.microsoft.com/office/drawing/2014/main" id="{8FB28EC2-FED0-5813-46F0-F3E1D72CC1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571C0B97-EE79-9AFD-9A65-C3AB9C94BB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6C54BB-3A77-45B9-985A-EDE813E42F0F}" type="slidenum">
              <a:rPr lang="en-SG" smtClean="0"/>
              <a:t>‹#›</a:t>
            </a:fld>
            <a:endParaRPr lang="en-SG"/>
          </a:p>
        </p:txBody>
      </p:sp>
    </p:spTree>
    <p:extLst>
      <p:ext uri="{BB962C8B-B14F-4D97-AF65-F5344CB8AC3E}">
        <p14:creationId xmlns:p14="http://schemas.microsoft.com/office/powerpoint/2010/main" val="4215701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42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0C887C1-C4B4-DAD7-5425-1BBE1BB2B9E0}"/>
              </a:ext>
            </a:extLst>
          </p:cNvPr>
          <p:cNvCxnSpPr/>
          <p:nvPr/>
        </p:nvCxnSpPr>
        <p:spPr>
          <a:xfrm>
            <a:off x="6794500" y="3429000"/>
            <a:ext cx="6477000" cy="0"/>
          </a:xfrm>
          <a:prstGeom prst="line">
            <a:avLst/>
          </a:prstGeom>
          <a:ln w="12700">
            <a:solidFill>
              <a:srgbClr val="1E3653"/>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B25F953-AC36-77BC-2EF6-7688FB0D6CF4}"/>
              </a:ext>
            </a:extLst>
          </p:cNvPr>
          <p:cNvCxnSpPr/>
          <p:nvPr/>
        </p:nvCxnSpPr>
        <p:spPr>
          <a:xfrm>
            <a:off x="10033000" y="190500"/>
            <a:ext cx="0" cy="6477000"/>
          </a:xfrm>
          <a:prstGeom prst="line">
            <a:avLst/>
          </a:prstGeom>
          <a:ln w="12700">
            <a:solidFill>
              <a:srgbClr val="1E3653"/>
            </a:solidFill>
          </a:ln>
        </p:spPr>
        <p:style>
          <a:lnRef idx="2">
            <a:schemeClr val="accent1"/>
          </a:lnRef>
          <a:fillRef idx="0">
            <a:schemeClr val="accent1"/>
          </a:fillRef>
          <a:effectRef idx="1">
            <a:schemeClr val="accent1"/>
          </a:effectRef>
          <a:fontRef idx="minor">
            <a:schemeClr val="tx1"/>
          </a:fontRef>
        </p:style>
      </p:cxnSp>
      <p:sp>
        <p:nvSpPr>
          <p:cNvPr id="6" name="Oval 5">
            <a:extLst>
              <a:ext uri="{FF2B5EF4-FFF2-40B4-BE49-F238E27FC236}">
                <a16:creationId xmlns:a16="http://schemas.microsoft.com/office/drawing/2014/main" id="{1163A71E-892C-8D1B-2F9A-0042212E4F4E}"/>
              </a:ext>
            </a:extLst>
          </p:cNvPr>
          <p:cNvSpPr/>
          <p:nvPr/>
        </p:nvSpPr>
        <p:spPr>
          <a:xfrm>
            <a:off x="6794500" y="190500"/>
            <a:ext cx="6477000" cy="6477000"/>
          </a:xfrm>
          <a:prstGeom prst="ellipse">
            <a:avLst/>
          </a:prstGeom>
          <a:noFill/>
          <a:ln w="19050" cap="flat" cmpd="sng" algn="ctr">
            <a:solidFill>
              <a:srgbClr val="1E3653"/>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Oval 4">
            <a:extLst>
              <a:ext uri="{FF2B5EF4-FFF2-40B4-BE49-F238E27FC236}">
                <a16:creationId xmlns:a16="http://schemas.microsoft.com/office/drawing/2014/main" id="{7FF09B38-D952-7174-6ECB-4FA9D729E3B6}"/>
              </a:ext>
            </a:extLst>
          </p:cNvPr>
          <p:cNvSpPr/>
          <p:nvPr/>
        </p:nvSpPr>
        <p:spPr>
          <a:xfrm>
            <a:off x="7429500" y="825500"/>
            <a:ext cx="5207000" cy="5207000"/>
          </a:xfrm>
          <a:prstGeom prst="ellipse">
            <a:avLst/>
          </a:prstGeom>
          <a:noFill/>
          <a:ln w="19050" cap="flat" cmpd="sng" algn="ctr">
            <a:solidFill>
              <a:srgbClr val="1E3653"/>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 name="Oval 3">
            <a:extLst>
              <a:ext uri="{FF2B5EF4-FFF2-40B4-BE49-F238E27FC236}">
                <a16:creationId xmlns:a16="http://schemas.microsoft.com/office/drawing/2014/main" id="{F6630690-46D0-9805-2B1E-0DFBD28F0E4B}"/>
              </a:ext>
            </a:extLst>
          </p:cNvPr>
          <p:cNvSpPr/>
          <p:nvPr/>
        </p:nvSpPr>
        <p:spPr>
          <a:xfrm>
            <a:off x="8255000" y="1651000"/>
            <a:ext cx="3556000" cy="3556000"/>
          </a:xfrm>
          <a:prstGeom prst="ellipse">
            <a:avLst/>
          </a:prstGeom>
          <a:noFill/>
          <a:ln w="19050" cap="flat" cmpd="sng" algn="ctr">
            <a:solidFill>
              <a:srgbClr val="1E3653"/>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Oval 2">
            <a:extLst>
              <a:ext uri="{FF2B5EF4-FFF2-40B4-BE49-F238E27FC236}">
                <a16:creationId xmlns:a16="http://schemas.microsoft.com/office/drawing/2014/main" id="{77D2E203-40EB-9A8B-68B4-939C629B7DEF}"/>
              </a:ext>
            </a:extLst>
          </p:cNvPr>
          <p:cNvSpPr/>
          <p:nvPr/>
        </p:nvSpPr>
        <p:spPr>
          <a:xfrm>
            <a:off x="9144000" y="2540000"/>
            <a:ext cx="1778000" cy="1778000"/>
          </a:xfrm>
          <a:prstGeom prst="ellipse">
            <a:avLst/>
          </a:prstGeom>
          <a:noFill/>
          <a:ln w="19050" cap="flat" cmpd="sng" algn="ctr">
            <a:solidFill>
              <a:srgbClr val="1E3653"/>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itle 1" descr="Adaptive CGF Trainer">
            <a:extLst>
              <a:ext uri="{FF2B5EF4-FFF2-40B4-BE49-F238E27FC236}">
                <a16:creationId xmlns:a16="http://schemas.microsoft.com/office/drawing/2014/main" id="{3F5A1BAE-74E5-1C81-3B7F-EA6BD8F551C9}"/>
              </a:ext>
            </a:extLst>
          </p:cNvPr>
          <p:cNvSpPr>
            <a:spLocks noGrp="1"/>
          </p:cNvSpPr>
          <p:nvPr>
            <p:ph type="title"/>
          </p:nvPr>
        </p:nvSpPr>
        <p:spPr>
          <a:xfrm>
            <a:off x="609600" y="2133599"/>
            <a:ext cx="6604000" cy="1778000"/>
          </a:xfrm>
        </p:spPr>
        <p:txBody>
          <a:bodyPr wrap="square" lIns="0" tIns="0" rIns="0" bIns="0" anchor="t">
            <a:noAutofit/>
          </a:bodyPr>
          <a:lstStyle/>
          <a:p>
            <a:r>
              <a:rPr lang="en-SG" sz="6000" b="1">
                <a:solidFill>
                  <a:srgbClr val="F7FAFD"/>
                </a:solidFill>
                <a:latin typeface="Segoe UI" panose="020B0502040204020203" pitchFamily="34" charset="0"/>
              </a:rPr>
              <a:t>Adaptive CGF Trainer</a:t>
            </a:r>
          </a:p>
        </p:txBody>
      </p:sp>
      <p:cxnSp>
        <p:nvCxnSpPr>
          <p:cNvPr id="9" name="Straight Connector 8">
            <a:extLst>
              <a:ext uri="{FF2B5EF4-FFF2-40B4-BE49-F238E27FC236}">
                <a16:creationId xmlns:a16="http://schemas.microsoft.com/office/drawing/2014/main" id="{C43F1A28-963C-D61F-FD8D-9E7BB169D610}"/>
              </a:ext>
            </a:extLst>
          </p:cNvPr>
          <p:cNvCxnSpPr/>
          <p:nvPr/>
        </p:nvCxnSpPr>
        <p:spPr>
          <a:xfrm flipV="1">
            <a:off x="10033000" y="1206500"/>
            <a:ext cx="2222500" cy="2222500"/>
          </a:xfrm>
          <a:prstGeom prst="line">
            <a:avLst/>
          </a:prstGeom>
          <a:ln w="25400">
            <a:solidFill>
              <a:srgbClr val="B98FFF"/>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A63CFCFF-D3B8-6F92-E271-06C82BE76041}"/>
              </a:ext>
            </a:extLst>
          </p:cNvPr>
          <p:cNvSpPr/>
          <p:nvPr/>
        </p:nvSpPr>
        <p:spPr>
          <a:xfrm>
            <a:off x="9931400" y="3327400"/>
            <a:ext cx="203200" cy="203200"/>
          </a:xfrm>
          <a:prstGeom prst="ellipse">
            <a:avLst/>
          </a:prstGeom>
          <a:solidFill>
            <a:srgbClr val="00A8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Oval 10">
            <a:extLst>
              <a:ext uri="{FF2B5EF4-FFF2-40B4-BE49-F238E27FC236}">
                <a16:creationId xmlns:a16="http://schemas.microsoft.com/office/drawing/2014/main" id="{7EA36947-2240-0F2E-9D57-A8106E27216D}"/>
              </a:ext>
            </a:extLst>
          </p:cNvPr>
          <p:cNvSpPr/>
          <p:nvPr/>
        </p:nvSpPr>
        <p:spPr>
          <a:xfrm>
            <a:off x="9817100" y="3213100"/>
            <a:ext cx="431800" cy="431800"/>
          </a:xfrm>
          <a:prstGeom prst="ellipse">
            <a:avLst/>
          </a:prstGeom>
          <a:noFill/>
          <a:ln w="25400" cap="flat" cmpd="sng" algn="ctr">
            <a:solidFill>
              <a:srgbClr val="80E0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Diamond 11">
            <a:extLst>
              <a:ext uri="{FF2B5EF4-FFF2-40B4-BE49-F238E27FC236}">
                <a16:creationId xmlns:a16="http://schemas.microsoft.com/office/drawing/2014/main" id="{DEEA177A-53F4-E0FC-4AD5-84454A915D20}"/>
              </a:ext>
            </a:extLst>
          </p:cNvPr>
          <p:cNvSpPr/>
          <p:nvPr/>
        </p:nvSpPr>
        <p:spPr>
          <a:xfrm>
            <a:off x="10998200" y="1778000"/>
            <a:ext cx="304800" cy="304800"/>
          </a:xfrm>
          <a:prstGeom prst="diamond">
            <a:avLst/>
          </a:prstGeom>
          <a:noFill/>
          <a:ln w="28575" cap="flat" cmpd="sng" algn="ctr">
            <a:solidFill>
              <a:srgbClr val="FF808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Diamond 12">
            <a:extLst>
              <a:ext uri="{FF2B5EF4-FFF2-40B4-BE49-F238E27FC236}">
                <a16:creationId xmlns:a16="http://schemas.microsoft.com/office/drawing/2014/main" id="{D1652C9A-EDD0-AC1F-CB65-408A6732AA81}"/>
              </a:ext>
            </a:extLst>
          </p:cNvPr>
          <p:cNvSpPr/>
          <p:nvPr/>
        </p:nvSpPr>
        <p:spPr>
          <a:xfrm>
            <a:off x="8356600" y="1371600"/>
            <a:ext cx="304800" cy="304800"/>
          </a:xfrm>
          <a:prstGeom prst="diamond">
            <a:avLst/>
          </a:prstGeom>
          <a:noFill/>
          <a:ln w="28575" cap="flat" cmpd="sng" algn="ctr">
            <a:solidFill>
              <a:srgbClr val="FF808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Diamond 13">
            <a:extLst>
              <a:ext uri="{FF2B5EF4-FFF2-40B4-BE49-F238E27FC236}">
                <a16:creationId xmlns:a16="http://schemas.microsoft.com/office/drawing/2014/main" id="{7DCC808D-0BDD-D3C3-CB62-41C421F9044B}"/>
              </a:ext>
            </a:extLst>
          </p:cNvPr>
          <p:cNvSpPr/>
          <p:nvPr/>
        </p:nvSpPr>
        <p:spPr>
          <a:xfrm>
            <a:off x="8610600" y="4610100"/>
            <a:ext cx="304800" cy="304800"/>
          </a:xfrm>
          <a:prstGeom prst="diamond">
            <a:avLst/>
          </a:prstGeom>
          <a:noFill/>
          <a:ln w="28575" cap="flat" cmpd="sng" algn="ctr">
            <a:solidFill>
              <a:srgbClr val="FF808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Rectangle 14">
            <a:extLst>
              <a:ext uri="{FF2B5EF4-FFF2-40B4-BE49-F238E27FC236}">
                <a16:creationId xmlns:a16="http://schemas.microsoft.com/office/drawing/2014/main" id="{4F9412E6-FBA1-8069-232C-05B29B72A8D6}"/>
              </a:ext>
            </a:extLst>
          </p:cNvPr>
          <p:cNvSpPr/>
          <p:nvPr/>
        </p:nvSpPr>
        <p:spPr>
          <a:xfrm>
            <a:off x="11531600" y="4597400"/>
            <a:ext cx="228600" cy="228600"/>
          </a:xfrm>
          <a:prstGeom prst="rect">
            <a:avLst/>
          </a:prstGeom>
          <a:noFill/>
          <a:ln w="28575" cap="flat" cmpd="sng" algn="ctr">
            <a:solidFill>
              <a:srgbClr val="AAFFA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TextBox 15">
            <a:extLst>
              <a:ext uri="{FF2B5EF4-FFF2-40B4-BE49-F238E27FC236}">
                <a16:creationId xmlns:a16="http://schemas.microsoft.com/office/drawing/2014/main" id="{753CA64E-B84C-E6E1-2C25-64F3B58338CC}"/>
              </a:ext>
            </a:extLst>
          </p:cNvPr>
          <p:cNvSpPr txBox="1"/>
          <p:nvPr/>
        </p:nvSpPr>
        <p:spPr>
          <a:xfrm>
            <a:off x="609600" y="1727200"/>
            <a:ext cx="6604000" cy="254000"/>
          </a:xfrm>
          <a:prstGeom prst="rect">
            <a:avLst/>
          </a:prstGeom>
          <a:noFill/>
        </p:spPr>
        <p:txBody>
          <a:bodyPr vert="horz" wrap="square" lIns="0" tIns="0" rIns="0" bIns="0" rtlCol="0">
            <a:noAutofit/>
          </a:bodyPr>
          <a:lstStyle/>
          <a:p>
            <a:r>
              <a:rPr lang="en-SG" sz="1400">
                <a:solidFill>
                  <a:srgbClr val="2F9DFF"/>
                </a:solidFill>
                <a:latin typeface="Consolas" panose="020B0609020204030204" pitchFamily="49" charset="0"/>
              </a:rPr>
              <a:t>HACKATHON PROTOTYPE  ·  SYNTHETIC DATA</a:t>
            </a:r>
          </a:p>
        </p:txBody>
      </p:sp>
      <p:sp>
        <p:nvSpPr>
          <p:cNvPr id="17" name="TextBox 16">
            <a:extLst>
              <a:ext uri="{FF2B5EF4-FFF2-40B4-BE49-F238E27FC236}">
                <a16:creationId xmlns:a16="http://schemas.microsoft.com/office/drawing/2014/main" id="{9FE60B62-85C6-85B2-1503-102D8F7B5E9F}"/>
              </a:ext>
            </a:extLst>
          </p:cNvPr>
          <p:cNvSpPr txBox="1"/>
          <p:nvPr/>
        </p:nvSpPr>
        <p:spPr>
          <a:xfrm>
            <a:off x="609600" y="4038600"/>
            <a:ext cx="5969000" cy="1270000"/>
          </a:xfrm>
          <a:prstGeom prst="rect">
            <a:avLst/>
          </a:prstGeom>
          <a:noFill/>
        </p:spPr>
        <p:txBody>
          <a:bodyPr vert="horz" wrap="square" lIns="0" tIns="0" rIns="0" bIns="0" rtlCol="0">
            <a:noAutofit/>
          </a:bodyPr>
          <a:lstStyle/>
          <a:p>
            <a:r>
              <a:rPr lang="en-SG" sz="2000">
                <a:solidFill>
                  <a:srgbClr val="E1EAF4"/>
                </a:solidFill>
                <a:latin typeface="Segoe UI" panose="020B0502040204020203" pitchFamily="34" charset="0"/>
              </a:rPr>
              <a:t>Computer-generated forces that find each trainee’s focus area, work inside limits the instructor sets, and explain every move.</a:t>
            </a:r>
          </a:p>
        </p:txBody>
      </p:sp>
      <p:sp>
        <p:nvSpPr>
          <p:cNvPr id="18" name="TextBox 17">
            <a:extLst>
              <a:ext uri="{FF2B5EF4-FFF2-40B4-BE49-F238E27FC236}">
                <a16:creationId xmlns:a16="http://schemas.microsoft.com/office/drawing/2014/main" id="{70BC804C-538E-C084-3A39-5497FDD247B8}"/>
              </a:ext>
            </a:extLst>
          </p:cNvPr>
          <p:cNvSpPr txBox="1"/>
          <p:nvPr/>
        </p:nvSpPr>
        <p:spPr>
          <a:xfrm>
            <a:off x="609600" y="5537200"/>
            <a:ext cx="5969000" cy="304800"/>
          </a:xfrm>
          <a:prstGeom prst="rect">
            <a:avLst/>
          </a:prstGeom>
          <a:noFill/>
        </p:spPr>
        <p:txBody>
          <a:bodyPr vert="horz" wrap="square" lIns="0" tIns="0" rIns="0" bIns="0" rtlCol="0">
            <a:noAutofit/>
          </a:bodyPr>
          <a:lstStyle/>
          <a:p>
            <a:r>
              <a:rPr lang="en-SG" sz="1600">
                <a:solidFill>
                  <a:srgbClr val="93ABC6"/>
                </a:solidFill>
                <a:latin typeface="Segoe UI" panose="020B0502040204020203" pitchFamily="34" charset="0"/>
              </a:rPr>
              <a:t>Air, sea and land platforms. Runs offline from a file.</a:t>
            </a:r>
          </a:p>
        </p:txBody>
      </p:sp>
    </p:spTree>
    <p:extLst>
      <p:ext uri="{BB962C8B-B14F-4D97-AF65-F5344CB8AC3E}">
        <p14:creationId xmlns:p14="http://schemas.microsoft.com/office/powerpoint/2010/main" val="3863240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C3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83C54-4946-C373-BA2E-5D0714A5338D}"/>
              </a:ext>
            </a:extLst>
          </p:cNvPr>
          <p:cNvSpPr>
            <a:spLocks noGrp="1"/>
          </p:cNvSpPr>
          <p:nvPr>
            <p:ph type="title"/>
          </p:nvPr>
        </p:nvSpPr>
        <p:spPr>
          <a:xfrm>
            <a:off x="609600" y="787400"/>
            <a:ext cx="10972800" cy="1270000"/>
          </a:xfrm>
        </p:spPr>
        <p:txBody>
          <a:bodyPr wrap="square" lIns="0" tIns="0" rIns="0" bIns="0" anchor="t">
            <a:noAutofit/>
          </a:bodyPr>
          <a:lstStyle/>
          <a:p>
            <a:r>
              <a:rPr lang="en-SG" sz="4000" b="1">
                <a:solidFill>
                  <a:srgbClr val="F7FAFD"/>
                </a:solidFill>
                <a:latin typeface="Segoe UI" panose="020B0502040204020203" pitchFamily="34" charset="0"/>
              </a:rPr>
              <a:t>One instructor, many trainees, one scripted enemy</a:t>
            </a:r>
          </a:p>
        </p:txBody>
      </p:sp>
      <p:sp>
        <p:nvSpPr>
          <p:cNvPr id="3" name="TextBox 2">
            <a:extLst>
              <a:ext uri="{FF2B5EF4-FFF2-40B4-BE49-F238E27FC236}">
                <a16:creationId xmlns:a16="http://schemas.microsoft.com/office/drawing/2014/main" id="{7C796A78-E73C-EF9B-78AB-0CD76501279A}"/>
              </a:ext>
            </a:extLst>
          </p:cNvPr>
          <p:cNvSpPr txBox="1"/>
          <p:nvPr/>
        </p:nvSpPr>
        <p:spPr>
          <a:xfrm>
            <a:off x="609600" y="457200"/>
            <a:ext cx="5969000" cy="254000"/>
          </a:xfrm>
          <a:prstGeom prst="rect">
            <a:avLst/>
          </a:prstGeom>
          <a:noFill/>
        </p:spPr>
        <p:txBody>
          <a:bodyPr vert="horz" wrap="square" lIns="0" tIns="0" rIns="0" bIns="0" rtlCol="0">
            <a:noAutofit/>
          </a:bodyPr>
          <a:lstStyle/>
          <a:p>
            <a:r>
              <a:rPr lang="en-SG" sz="1400">
                <a:solidFill>
                  <a:srgbClr val="2F9DFF"/>
                </a:solidFill>
                <a:latin typeface="Consolas" panose="020B0609020204030204" pitchFamily="49" charset="0"/>
              </a:rPr>
              <a:t>THE PROBLEM</a:t>
            </a:r>
          </a:p>
        </p:txBody>
      </p:sp>
      <p:sp>
        <p:nvSpPr>
          <p:cNvPr id="4" name="Rectangle: Rounded Corners 3">
            <a:extLst>
              <a:ext uri="{FF2B5EF4-FFF2-40B4-BE49-F238E27FC236}">
                <a16:creationId xmlns:a16="http://schemas.microsoft.com/office/drawing/2014/main" id="{1C2DC043-16D7-96F7-741E-112FA6E3BB2C}"/>
              </a:ext>
            </a:extLst>
          </p:cNvPr>
          <p:cNvSpPr/>
          <p:nvPr/>
        </p:nvSpPr>
        <p:spPr>
          <a:xfrm>
            <a:off x="609600" y="2413000"/>
            <a:ext cx="3454400" cy="31750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51C14A27-EB2F-D395-C685-A48086234869}"/>
              </a:ext>
            </a:extLst>
          </p:cNvPr>
          <p:cNvSpPr txBox="1"/>
          <p:nvPr/>
        </p:nvSpPr>
        <p:spPr>
          <a:xfrm>
            <a:off x="863600" y="2641600"/>
            <a:ext cx="2946400" cy="254000"/>
          </a:xfrm>
          <a:prstGeom prst="rect">
            <a:avLst/>
          </a:prstGeom>
          <a:noFill/>
        </p:spPr>
        <p:txBody>
          <a:bodyPr vert="horz" wrap="square" lIns="0" tIns="0" rIns="0" bIns="0" rtlCol="0">
            <a:noAutofit/>
          </a:bodyPr>
          <a:lstStyle/>
          <a:p>
            <a:r>
              <a:rPr lang="en-SG" sz="1400">
                <a:solidFill>
                  <a:srgbClr val="93ABC6"/>
                </a:solidFill>
                <a:latin typeface="Consolas" panose="020B0609020204030204" pitchFamily="49" charset="0"/>
              </a:rPr>
              <a:t>01</a:t>
            </a:r>
          </a:p>
        </p:txBody>
      </p:sp>
      <p:sp>
        <p:nvSpPr>
          <p:cNvPr id="6" name="TextBox 5">
            <a:extLst>
              <a:ext uri="{FF2B5EF4-FFF2-40B4-BE49-F238E27FC236}">
                <a16:creationId xmlns:a16="http://schemas.microsoft.com/office/drawing/2014/main" id="{7015378F-BE25-C5C5-8ECA-BA6860BB18CE}"/>
              </a:ext>
            </a:extLst>
          </p:cNvPr>
          <p:cNvSpPr txBox="1"/>
          <p:nvPr/>
        </p:nvSpPr>
        <p:spPr>
          <a:xfrm>
            <a:off x="863600" y="2971800"/>
            <a:ext cx="2946400" cy="762000"/>
          </a:xfrm>
          <a:prstGeom prst="rect">
            <a:avLst/>
          </a:prstGeom>
          <a:noFill/>
        </p:spPr>
        <p:txBody>
          <a:bodyPr vert="horz" wrap="square" lIns="0" tIns="0" rIns="0" bIns="0" rtlCol="0">
            <a:noAutofit/>
          </a:bodyPr>
          <a:lstStyle/>
          <a:p>
            <a:r>
              <a:rPr lang="en-SG" sz="2200" b="1">
                <a:solidFill>
                  <a:srgbClr val="F7FAFD"/>
                </a:solidFill>
                <a:latin typeface="Segoe UI" panose="020B0502040204020203" pitchFamily="34" charset="0"/>
              </a:rPr>
              <a:t>Same scenario for all</a:t>
            </a:r>
          </a:p>
        </p:txBody>
      </p:sp>
      <p:sp>
        <p:nvSpPr>
          <p:cNvPr id="7" name="TextBox 6">
            <a:extLst>
              <a:ext uri="{FF2B5EF4-FFF2-40B4-BE49-F238E27FC236}">
                <a16:creationId xmlns:a16="http://schemas.microsoft.com/office/drawing/2014/main" id="{6C86F5E9-7258-6704-B792-CA8B5227E22E}"/>
              </a:ext>
            </a:extLst>
          </p:cNvPr>
          <p:cNvSpPr txBox="1"/>
          <p:nvPr/>
        </p:nvSpPr>
        <p:spPr>
          <a:xfrm>
            <a:off x="863600" y="3733800"/>
            <a:ext cx="2946400" cy="1701800"/>
          </a:xfrm>
          <a:prstGeom prst="rect">
            <a:avLst/>
          </a:prstGeom>
          <a:noFill/>
        </p:spPr>
        <p:txBody>
          <a:bodyPr vert="horz" wrap="square" lIns="0" tIns="0" rIns="0" bIns="0" rtlCol="0">
            <a:noAutofit/>
          </a:bodyPr>
          <a:lstStyle/>
          <a:p>
            <a:r>
              <a:rPr lang="en-SG" sz="1600">
                <a:solidFill>
                  <a:srgbClr val="E1EAF4"/>
                </a:solidFill>
                <a:latin typeface="Segoe UI" panose="020B0502040204020203" pitchFamily="34" charset="0"/>
              </a:rPr>
              <a:t>Fixed scenarios train the average trainee.</a:t>
            </a:r>
          </a:p>
        </p:txBody>
      </p:sp>
      <p:sp>
        <p:nvSpPr>
          <p:cNvPr id="8" name="Rectangle: Rounded Corners 7">
            <a:extLst>
              <a:ext uri="{FF2B5EF4-FFF2-40B4-BE49-F238E27FC236}">
                <a16:creationId xmlns:a16="http://schemas.microsoft.com/office/drawing/2014/main" id="{EA552C1C-9D63-02A6-6B34-4D8B2AA92381}"/>
              </a:ext>
            </a:extLst>
          </p:cNvPr>
          <p:cNvSpPr/>
          <p:nvPr/>
        </p:nvSpPr>
        <p:spPr>
          <a:xfrm>
            <a:off x="4368800" y="2413000"/>
            <a:ext cx="3454400" cy="31750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6D130BDD-26A9-9149-C1C1-791BB28A872A}"/>
              </a:ext>
            </a:extLst>
          </p:cNvPr>
          <p:cNvSpPr txBox="1"/>
          <p:nvPr/>
        </p:nvSpPr>
        <p:spPr>
          <a:xfrm>
            <a:off x="4622800" y="2641600"/>
            <a:ext cx="2946400" cy="254000"/>
          </a:xfrm>
          <a:prstGeom prst="rect">
            <a:avLst/>
          </a:prstGeom>
          <a:noFill/>
        </p:spPr>
        <p:txBody>
          <a:bodyPr vert="horz" wrap="square" lIns="0" tIns="0" rIns="0" bIns="0" rtlCol="0">
            <a:noAutofit/>
          </a:bodyPr>
          <a:lstStyle/>
          <a:p>
            <a:r>
              <a:rPr lang="en-SG" sz="1400">
                <a:solidFill>
                  <a:srgbClr val="93ABC6"/>
                </a:solidFill>
                <a:latin typeface="Consolas" panose="020B0609020204030204" pitchFamily="49" charset="0"/>
              </a:rPr>
              <a:t>02</a:t>
            </a:r>
          </a:p>
        </p:txBody>
      </p:sp>
      <p:sp>
        <p:nvSpPr>
          <p:cNvPr id="10" name="TextBox 9">
            <a:extLst>
              <a:ext uri="{FF2B5EF4-FFF2-40B4-BE49-F238E27FC236}">
                <a16:creationId xmlns:a16="http://schemas.microsoft.com/office/drawing/2014/main" id="{050CB7BE-2F71-594C-7AD8-15C535AD4A4A}"/>
              </a:ext>
            </a:extLst>
          </p:cNvPr>
          <p:cNvSpPr txBox="1"/>
          <p:nvPr/>
        </p:nvSpPr>
        <p:spPr>
          <a:xfrm>
            <a:off x="4622800" y="2971800"/>
            <a:ext cx="2946400" cy="762000"/>
          </a:xfrm>
          <a:prstGeom prst="rect">
            <a:avLst/>
          </a:prstGeom>
          <a:noFill/>
        </p:spPr>
        <p:txBody>
          <a:bodyPr vert="horz" wrap="square" lIns="0" tIns="0" rIns="0" bIns="0" rtlCol="0">
            <a:noAutofit/>
          </a:bodyPr>
          <a:lstStyle/>
          <a:p>
            <a:r>
              <a:rPr lang="en-SG" sz="2200" b="1">
                <a:solidFill>
                  <a:srgbClr val="F7FAFD"/>
                </a:solidFill>
                <a:latin typeface="Segoe UI" panose="020B0502040204020203" pitchFamily="34" charset="0"/>
              </a:rPr>
              <a:t>Weak spots by chance</a:t>
            </a:r>
          </a:p>
        </p:txBody>
      </p:sp>
      <p:sp>
        <p:nvSpPr>
          <p:cNvPr id="11" name="TextBox 10">
            <a:extLst>
              <a:ext uri="{FF2B5EF4-FFF2-40B4-BE49-F238E27FC236}">
                <a16:creationId xmlns:a16="http://schemas.microsoft.com/office/drawing/2014/main" id="{4FB14D3B-7E19-6609-55FA-AF842C324E30}"/>
              </a:ext>
            </a:extLst>
          </p:cNvPr>
          <p:cNvSpPr txBox="1"/>
          <p:nvPr/>
        </p:nvSpPr>
        <p:spPr>
          <a:xfrm>
            <a:off x="4622800" y="3733800"/>
            <a:ext cx="2946400" cy="1701800"/>
          </a:xfrm>
          <a:prstGeom prst="rect">
            <a:avLst/>
          </a:prstGeom>
          <a:noFill/>
        </p:spPr>
        <p:txBody>
          <a:bodyPr vert="horz" wrap="square" lIns="0" tIns="0" rIns="0" bIns="0" rtlCol="0">
            <a:noAutofit/>
          </a:bodyPr>
          <a:lstStyle/>
          <a:p>
            <a:r>
              <a:rPr lang="en-SG" sz="1600">
                <a:solidFill>
                  <a:srgbClr val="E1EAF4"/>
                </a:solidFill>
                <a:latin typeface="Segoe UI" panose="020B0502040204020203" pitchFamily="34" charset="0"/>
              </a:rPr>
              <a:t>Each person’s focus area is practised only if the script happens to reach it.</a:t>
            </a:r>
          </a:p>
        </p:txBody>
      </p:sp>
      <p:sp>
        <p:nvSpPr>
          <p:cNvPr id="12" name="Rectangle: Rounded Corners 11">
            <a:extLst>
              <a:ext uri="{FF2B5EF4-FFF2-40B4-BE49-F238E27FC236}">
                <a16:creationId xmlns:a16="http://schemas.microsoft.com/office/drawing/2014/main" id="{273581CD-72C7-F560-604E-7D8E483A53D2}"/>
              </a:ext>
            </a:extLst>
          </p:cNvPr>
          <p:cNvSpPr/>
          <p:nvPr/>
        </p:nvSpPr>
        <p:spPr>
          <a:xfrm>
            <a:off x="8128000" y="2413000"/>
            <a:ext cx="3454400" cy="31750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E2836CDE-A7D9-023B-A94D-7FE49832FE58}"/>
              </a:ext>
            </a:extLst>
          </p:cNvPr>
          <p:cNvSpPr txBox="1"/>
          <p:nvPr/>
        </p:nvSpPr>
        <p:spPr>
          <a:xfrm>
            <a:off x="8382000" y="2641600"/>
            <a:ext cx="2946400" cy="254000"/>
          </a:xfrm>
          <a:prstGeom prst="rect">
            <a:avLst/>
          </a:prstGeom>
          <a:noFill/>
        </p:spPr>
        <p:txBody>
          <a:bodyPr vert="horz" wrap="square" lIns="0" tIns="0" rIns="0" bIns="0" rtlCol="0">
            <a:noAutofit/>
          </a:bodyPr>
          <a:lstStyle/>
          <a:p>
            <a:r>
              <a:rPr lang="en-SG" sz="1400">
                <a:solidFill>
                  <a:srgbClr val="93ABC6"/>
                </a:solidFill>
                <a:latin typeface="Consolas" panose="020B0609020204030204" pitchFamily="49" charset="0"/>
              </a:rPr>
              <a:t>03</a:t>
            </a:r>
          </a:p>
        </p:txBody>
      </p:sp>
      <p:sp>
        <p:nvSpPr>
          <p:cNvPr id="14" name="TextBox 13">
            <a:extLst>
              <a:ext uri="{FF2B5EF4-FFF2-40B4-BE49-F238E27FC236}">
                <a16:creationId xmlns:a16="http://schemas.microsoft.com/office/drawing/2014/main" id="{F5985C43-A792-6D14-E901-E38D0D444217}"/>
              </a:ext>
            </a:extLst>
          </p:cNvPr>
          <p:cNvSpPr txBox="1"/>
          <p:nvPr/>
        </p:nvSpPr>
        <p:spPr>
          <a:xfrm>
            <a:off x="8382000" y="2971800"/>
            <a:ext cx="2946400" cy="762000"/>
          </a:xfrm>
          <a:prstGeom prst="rect">
            <a:avLst/>
          </a:prstGeom>
          <a:noFill/>
        </p:spPr>
        <p:txBody>
          <a:bodyPr vert="horz" wrap="square" lIns="0" tIns="0" rIns="0" bIns="0" rtlCol="0">
            <a:noAutofit/>
          </a:bodyPr>
          <a:lstStyle/>
          <a:p>
            <a:r>
              <a:rPr lang="en-SG" sz="2200" b="1">
                <a:solidFill>
                  <a:srgbClr val="F7FAFD"/>
                </a:solidFill>
                <a:latin typeface="Segoe UI" panose="020B0502040204020203" pitchFamily="34" charset="0"/>
              </a:rPr>
              <a:t>No time to retune</a:t>
            </a:r>
          </a:p>
        </p:txBody>
      </p:sp>
      <p:sp>
        <p:nvSpPr>
          <p:cNvPr id="15" name="TextBox 14">
            <a:extLst>
              <a:ext uri="{FF2B5EF4-FFF2-40B4-BE49-F238E27FC236}">
                <a16:creationId xmlns:a16="http://schemas.microsoft.com/office/drawing/2014/main" id="{16D9C818-64CB-12E7-012C-567D1EE18672}"/>
              </a:ext>
            </a:extLst>
          </p:cNvPr>
          <p:cNvSpPr txBox="1"/>
          <p:nvPr/>
        </p:nvSpPr>
        <p:spPr>
          <a:xfrm>
            <a:off x="8382000" y="3733800"/>
            <a:ext cx="2946400" cy="1701800"/>
          </a:xfrm>
          <a:prstGeom prst="rect">
            <a:avLst/>
          </a:prstGeom>
          <a:noFill/>
        </p:spPr>
        <p:txBody>
          <a:bodyPr vert="horz" wrap="square" lIns="0" tIns="0" rIns="0" bIns="0" rtlCol="0">
            <a:noAutofit/>
          </a:bodyPr>
          <a:lstStyle/>
          <a:p>
            <a:r>
              <a:rPr lang="en-SG" sz="1600">
                <a:solidFill>
                  <a:srgbClr val="E1EAF4"/>
                </a:solidFill>
                <a:latin typeface="Segoe UI" panose="020B0502040204020203" pitchFamily="34" charset="0"/>
              </a:rPr>
              <a:t>The instructor cannot adjust the enemy for every seat while running the exercise.</a:t>
            </a:r>
          </a:p>
        </p:txBody>
      </p:sp>
      <p:sp>
        <p:nvSpPr>
          <p:cNvPr id="16" name="TextBox 15">
            <a:extLst>
              <a:ext uri="{FF2B5EF4-FFF2-40B4-BE49-F238E27FC236}">
                <a16:creationId xmlns:a16="http://schemas.microsoft.com/office/drawing/2014/main" id="{3054B27E-6989-4906-281C-C4C30C2B01CF}"/>
              </a:ext>
            </a:extLst>
          </p:cNvPr>
          <p:cNvSpPr txBox="1"/>
          <p:nvPr/>
        </p:nvSpPr>
        <p:spPr>
          <a:xfrm>
            <a:off x="609600" y="6400800"/>
            <a:ext cx="8890000" cy="228600"/>
          </a:xfrm>
          <a:prstGeom prst="rect">
            <a:avLst/>
          </a:prstGeom>
          <a:noFill/>
        </p:spPr>
        <p:txBody>
          <a:bodyPr vert="horz" wrap="square" lIns="0" tIns="0" rIns="0" bIns="0" rtlCol="0">
            <a:noAutofit/>
          </a:bodyPr>
          <a:lstStyle/>
          <a:p>
            <a:r>
              <a:rPr lang="en-SG" sz="1200">
                <a:solidFill>
                  <a:srgbClr val="93ABC6"/>
                </a:solidFill>
                <a:latin typeface="Consolas" panose="020B0609020204030204" pitchFamily="49" charset="0"/>
              </a:rPr>
              <a:t>ADAPTIVE CGF TRAINER</a:t>
            </a:r>
          </a:p>
        </p:txBody>
      </p:sp>
      <p:sp>
        <p:nvSpPr>
          <p:cNvPr id="17" name="TextBox 16">
            <a:extLst>
              <a:ext uri="{FF2B5EF4-FFF2-40B4-BE49-F238E27FC236}">
                <a16:creationId xmlns:a16="http://schemas.microsoft.com/office/drawing/2014/main" id="{0137181D-A7DA-102B-CE6A-78FE2467A14C}"/>
              </a:ext>
            </a:extLst>
          </p:cNvPr>
          <p:cNvSpPr txBox="1"/>
          <p:nvPr/>
        </p:nvSpPr>
        <p:spPr>
          <a:xfrm>
            <a:off x="10312400" y="6400800"/>
            <a:ext cx="1270000" cy="228600"/>
          </a:xfrm>
          <a:prstGeom prst="rect">
            <a:avLst/>
          </a:prstGeom>
          <a:noFill/>
        </p:spPr>
        <p:txBody>
          <a:bodyPr vert="horz" wrap="square" lIns="0" tIns="0" rIns="0" bIns="0" rtlCol="0">
            <a:noAutofit/>
          </a:bodyPr>
          <a:lstStyle/>
          <a:p>
            <a:pPr algn="r"/>
            <a:r>
              <a:rPr lang="en-SG" sz="1200">
                <a:solidFill>
                  <a:srgbClr val="93ABC6"/>
                </a:solidFill>
                <a:latin typeface="Consolas" panose="020B0609020204030204" pitchFamily="49" charset="0"/>
              </a:rPr>
              <a:t>02</a:t>
            </a:r>
          </a:p>
        </p:txBody>
      </p:sp>
    </p:spTree>
    <p:extLst>
      <p:ext uri="{BB962C8B-B14F-4D97-AF65-F5344CB8AC3E}">
        <p14:creationId xmlns:p14="http://schemas.microsoft.com/office/powerpoint/2010/main" val="2102982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42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8A7D7-09E6-1659-A5D7-2F444424E812}"/>
              </a:ext>
            </a:extLst>
          </p:cNvPr>
          <p:cNvSpPr>
            <a:spLocks noGrp="1"/>
          </p:cNvSpPr>
          <p:nvPr>
            <p:ph type="title"/>
          </p:nvPr>
        </p:nvSpPr>
        <p:spPr>
          <a:xfrm>
            <a:off x="609600" y="787400"/>
            <a:ext cx="10972800" cy="1270000"/>
          </a:xfrm>
        </p:spPr>
        <p:txBody>
          <a:bodyPr wrap="square" lIns="0" tIns="0" rIns="0" bIns="0" anchor="t">
            <a:noAutofit/>
          </a:bodyPr>
          <a:lstStyle/>
          <a:p>
            <a:r>
              <a:rPr lang="en-SG" sz="3600" b="1">
                <a:solidFill>
                  <a:srgbClr val="F7FAFD"/>
                </a:solidFill>
                <a:latin typeface="Segoe UI" panose="020B0502040204020203" pitchFamily="34" charset="0"/>
              </a:rPr>
              <a:t>The key challenge: train each person’s weak spot, without losing control</a:t>
            </a:r>
          </a:p>
        </p:txBody>
      </p:sp>
      <p:sp>
        <p:nvSpPr>
          <p:cNvPr id="3" name="TextBox 2">
            <a:extLst>
              <a:ext uri="{FF2B5EF4-FFF2-40B4-BE49-F238E27FC236}">
                <a16:creationId xmlns:a16="http://schemas.microsoft.com/office/drawing/2014/main" id="{ADA3AEA7-24A9-288C-3249-BBA0DCA71E26}"/>
              </a:ext>
            </a:extLst>
          </p:cNvPr>
          <p:cNvSpPr txBox="1"/>
          <p:nvPr/>
        </p:nvSpPr>
        <p:spPr>
          <a:xfrm>
            <a:off x="609600" y="457200"/>
            <a:ext cx="5969000" cy="254000"/>
          </a:xfrm>
          <a:prstGeom prst="rect">
            <a:avLst/>
          </a:prstGeom>
          <a:noFill/>
        </p:spPr>
        <p:txBody>
          <a:bodyPr vert="horz" wrap="square" lIns="0" tIns="0" rIns="0" bIns="0" rtlCol="0">
            <a:noAutofit/>
          </a:bodyPr>
          <a:lstStyle/>
          <a:p>
            <a:r>
              <a:rPr lang="en-SG" sz="1400">
                <a:solidFill>
                  <a:srgbClr val="2F9DFF"/>
                </a:solidFill>
                <a:latin typeface="Consolas" panose="020B0609020204030204" pitchFamily="49" charset="0"/>
              </a:rPr>
              <a:t>THE KEY CHALLENGE</a:t>
            </a:r>
          </a:p>
        </p:txBody>
      </p:sp>
      <p:sp>
        <p:nvSpPr>
          <p:cNvPr id="4" name="Rectangle: Rounded Corners 3">
            <a:extLst>
              <a:ext uri="{FF2B5EF4-FFF2-40B4-BE49-F238E27FC236}">
                <a16:creationId xmlns:a16="http://schemas.microsoft.com/office/drawing/2014/main" id="{A8B2BA17-EB80-0668-17E1-114229F00786}"/>
              </a:ext>
            </a:extLst>
          </p:cNvPr>
          <p:cNvSpPr/>
          <p:nvPr/>
        </p:nvSpPr>
        <p:spPr>
          <a:xfrm>
            <a:off x="609600" y="2235200"/>
            <a:ext cx="3454400" cy="36830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C00E2C12-99C5-713D-C06B-2FBC28CB0369}"/>
              </a:ext>
            </a:extLst>
          </p:cNvPr>
          <p:cNvSpPr txBox="1"/>
          <p:nvPr/>
        </p:nvSpPr>
        <p:spPr>
          <a:xfrm>
            <a:off x="863600" y="2463800"/>
            <a:ext cx="2946400" cy="254000"/>
          </a:xfrm>
          <a:prstGeom prst="rect">
            <a:avLst/>
          </a:prstGeom>
          <a:noFill/>
        </p:spPr>
        <p:txBody>
          <a:bodyPr vert="horz" wrap="square" lIns="0" tIns="0" rIns="0" bIns="0" rtlCol="0">
            <a:noAutofit/>
          </a:bodyPr>
          <a:lstStyle/>
          <a:p>
            <a:r>
              <a:rPr lang="en-SG" sz="1200">
                <a:solidFill>
                  <a:srgbClr val="2F9DFF"/>
                </a:solidFill>
                <a:latin typeface="Consolas" panose="020B0609020204030204" pitchFamily="49" charset="0"/>
              </a:rPr>
              <a:t>THE CHALLENGE</a:t>
            </a:r>
          </a:p>
        </p:txBody>
      </p:sp>
      <p:sp>
        <p:nvSpPr>
          <p:cNvPr id="6" name="TextBox 5">
            <a:extLst>
              <a:ext uri="{FF2B5EF4-FFF2-40B4-BE49-F238E27FC236}">
                <a16:creationId xmlns:a16="http://schemas.microsoft.com/office/drawing/2014/main" id="{CBF2F537-11BF-02BF-2148-D310652AC3F3}"/>
              </a:ext>
            </a:extLst>
          </p:cNvPr>
          <p:cNvSpPr txBox="1"/>
          <p:nvPr/>
        </p:nvSpPr>
        <p:spPr>
          <a:xfrm>
            <a:off x="863600" y="2844800"/>
            <a:ext cx="2946400" cy="2921000"/>
          </a:xfrm>
          <a:prstGeom prst="rect">
            <a:avLst/>
          </a:prstGeom>
          <a:noFill/>
        </p:spPr>
        <p:txBody>
          <a:bodyPr vert="horz" wrap="square" lIns="0" tIns="0" rIns="0" bIns="0" rtlCol="0">
            <a:noAutofit/>
          </a:bodyPr>
          <a:lstStyle/>
          <a:p>
            <a:r>
              <a:rPr lang="en-SG" sz="1600">
                <a:solidFill>
                  <a:srgbClr val="E1EAF4"/>
                </a:solidFill>
                <a:latin typeface="Segoe UI" panose="020B0502040204020203" pitchFamily="34" charset="0"/>
              </a:rPr>
              <a:t>A scripted enemy cannot target one trainee’s weak spot, ease off when they struggle or push when they excel. An instructor cannot retune it by hand for every seat.</a:t>
            </a:r>
          </a:p>
        </p:txBody>
      </p:sp>
      <p:sp>
        <p:nvSpPr>
          <p:cNvPr id="7" name="Rectangle: Rounded Corners 6">
            <a:extLst>
              <a:ext uri="{FF2B5EF4-FFF2-40B4-BE49-F238E27FC236}">
                <a16:creationId xmlns:a16="http://schemas.microsoft.com/office/drawing/2014/main" id="{91F57A47-4D1A-31B6-5C91-DC68DD4531C5}"/>
              </a:ext>
            </a:extLst>
          </p:cNvPr>
          <p:cNvSpPr/>
          <p:nvPr/>
        </p:nvSpPr>
        <p:spPr>
          <a:xfrm>
            <a:off x="4368800" y="2235200"/>
            <a:ext cx="3454400" cy="3683000"/>
          </a:xfrm>
          <a:prstGeom prst="roundRect">
            <a:avLst>
              <a:gd name="adj" fmla="val 6000"/>
            </a:avLst>
          </a:prstGeom>
          <a:solidFill>
            <a:srgbClr val="160F2B"/>
          </a:solidFill>
          <a:ln w="9525">
            <a:solidFill>
              <a:srgbClr val="6B4F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BBA59CBF-9873-E7CF-EF7E-7019FBDBC6A4}"/>
              </a:ext>
            </a:extLst>
          </p:cNvPr>
          <p:cNvSpPr txBox="1"/>
          <p:nvPr/>
        </p:nvSpPr>
        <p:spPr>
          <a:xfrm>
            <a:off x="4622800" y="2463800"/>
            <a:ext cx="2946400" cy="254000"/>
          </a:xfrm>
          <a:prstGeom prst="rect">
            <a:avLst/>
          </a:prstGeom>
          <a:noFill/>
        </p:spPr>
        <p:txBody>
          <a:bodyPr vert="horz" wrap="square" lIns="0" tIns="0" rIns="0" bIns="0" rtlCol="0">
            <a:noAutofit/>
          </a:bodyPr>
          <a:lstStyle/>
          <a:p>
            <a:r>
              <a:rPr lang="en-SG" sz="1200">
                <a:solidFill>
                  <a:srgbClr val="B98FFF"/>
                </a:solidFill>
                <a:latin typeface="Consolas" panose="020B0609020204030204" pitchFamily="49" charset="0"/>
              </a:rPr>
              <a:t>THE APPROACH</a:t>
            </a:r>
          </a:p>
        </p:txBody>
      </p:sp>
      <p:sp>
        <p:nvSpPr>
          <p:cNvPr id="9" name="TextBox 8">
            <a:extLst>
              <a:ext uri="{FF2B5EF4-FFF2-40B4-BE49-F238E27FC236}">
                <a16:creationId xmlns:a16="http://schemas.microsoft.com/office/drawing/2014/main" id="{CA23536B-9A20-2274-CEE5-AF3A86DEA198}"/>
              </a:ext>
            </a:extLst>
          </p:cNvPr>
          <p:cNvSpPr txBox="1"/>
          <p:nvPr/>
        </p:nvSpPr>
        <p:spPr>
          <a:xfrm>
            <a:off x="4622800" y="2844800"/>
            <a:ext cx="2946400" cy="2921000"/>
          </a:xfrm>
          <a:prstGeom prst="rect">
            <a:avLst/>
          </a:prstGeom>
          <a:noFill/>
        </p:spPr>
        <p:txBody>
          <a:bodyPr vert="horz" wrap="square" lIns="0" tIns="0" rIns="0" bIns="0" rtlCol="0">
            <a:noAutofit/>
          </a:bodyPr>
          <a:lstStyle/>
          <a:p>
            <a:r>
              <a:rPr lang="en-SG" sz="1600">
                <a:solidFill>
                  <a:srgbClr val="EBDFFF"/>
                </a:solidFill>
                <a:latin typeface="Segoe UI" panose="020B0502040204020203" pitchFamily="34" charset="0"/>
              </a:rPr>
              <a:t>History picks the competency to exercise. The last 10 events set how hard to push. Every change stays inside the instructor’s limits and is explained.</a:t>
            </a:r>
          </a:p>
        </p:txBody>
      </p:sp>
      <p:sp>
        <p:nvSpPr>
          <p:cNvPr id="10" name="Rectangle: Rounded Corners 9">
            <a:extLst>
              <a:ext uri="{FF2B5EF4-FFF2-40B4-BE49-F238E27FC236}">
                <a16:creationId xmlns:a16="http://schemas.microsoft.com/office/drawing/2014/main" id="{1855930B-32A4-96A4-B6BB-23279DA23C60}"/>
              </a:ext>
            </a:extLst>
          </p:cNvPr>
          <p:cNvSpPr/>
          <p:nvPr/>
        </p:nvSpPr>
        <p:spPr>
          <a:xfrm>
            <a:off x="8128000" y="2235200"/>
            <a:ext cx="3454400" cy="36830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D80BFA8B-EBCE-565B-9E75-0328F3917CEB}"/>
              </a:ext>
            </a:extLst>
          </p:cNvPr>
          <p:cNvSpPr txBox="1"/>
          <p:nvPr/>
        </p:nvSpPr>
        <p:spPr>
          <a:xfrm>
            <a:off x="8382000" y="2463800"/>
            <a:ext cx="2946400" cy="254000"/>
          </a:xfrm>
          <a:prstGeom prst="rect">
            <a:avLst/>
          </a:prstGeom>
          <a:noFill/>
        </p:spPr>
        <p:txBody>
          <a:bodyPr vert="horz" wrap="square" lIns="0" tIns="0" rIns="0" bIns="0" rtlCol="0">
            <a:noAutofit/>
          </a:bodyPr>
          <a:lstStyle/>
          <a:p>
            <a:r>
              <a:rPr lang="en-SG" sz="1200">
                <a:solidFill>
                  <a:srgbClr val="2F9DFF"/>
                </a:solidFill>
                <a:latin typeface="Consolas" panose="020B0609020204030204" pitchFamily="49" charset="0"/>
              </a:rPr>
              <a:t>WHAT THE PROTOTYPE SHOWS</a:t>
            </a:r>
          </a:p>
        </p:txBody>
      </p:sp>
      <p:sp>
        <p:nvSpPr>
          <p:cNvPr id="12" name="TextBox 11">
            <a:extLst>
              <a:ext uri="{FF2B5EF4-FFF2-40B4-BE49-F238E27FC236}">
                <a16:creationId xmlns:a16="http://schemas.microsoft.com/office/drawing/2014/main" id="{F0BC9DB5-DD73-E542-6247-6AC82E9C9E2E}"/>
              </a:ext>
            </a:extLst>
          </p:cNvPr>
          <p:cNvSpPr txBox="1"/>
          <p:nvPr/>
        </p:nvSpPr>
        <p:spPr>
          <a:xfrm>
            <a:off x="8382000" y="2844800"/>
            <a:ext cx="2946400" cy="2921000"/>
          </a:xfrm>
          <a:prstGeom prst="rect">
            <a:avLst/>
          </a:prstGeom>
          <a:noFill/>
        </p:spPr>
        <p:txBody>
          <a:bodyPr vert="horz" wrap="square" lIns="0" tIns="0" rIns="0" bIns="0" rtlCol="0">
            <a:noAutofit/>
          </a:bodyPr>
          <a:lstStyle/>
          <a:p>
            <a:pPr marL="203200" indent="-203200">
              <a:spcAft>
                <a:spcPts val="800"/>
              </a:spcAft>
              <a:buFont typeface="+mj-lt"/>
              <a:buChar char="•"/>
            </a:pPr>
            <a:r>
              <a:rPr lang="en-SG" sz="1600">
                <a:solidFill>
                  <a:srgbClr val="E1EAF4"/>
                </a:solidFill>
                <a:latin typeface="Segoe UI" panose="020B0502040204020203" pitchFamily="34" charset="0"/>
              </a:rPr>
              <a:t>Pressure lands on the weak competency first.</a:t>
            </a:r>
          </a:p>
          <a:p>
            <a:pPr marL="203200" indent="-203200">
              <a:spcAft>
                <a:spcPts val="800"/>
              </a:spcAft>
              <a:buFont typeface="+mj-lt"/>
              <a:buChar char="•"/>
            </a:pPr>
            <a:r>
              <a:rPr lang="en-SG" sz="1600">
                <a:solidFill>
                  <a:srgbClr val="E1EAF4"/>
                </a:solidFill>
                <a:latin typeface="Segoe UI" panose="020B0502040204020203" pitchFamily="34" charset="0"/>
              </a:rPr>
              <a:t>It eases when the trainee struggles and rises when they do well.</a:t>
            </a:r>
          </a:p>
          <a:p>
            <a:pPr marL="203200" indent="-203200">
              <a:spcAft>
                <a:spcPts val="800"/>
              </a:spcAft>
              <a:buFont typeface="+mj-lt"/>
              <a:buChar char="•"/>
            </a:pPr>
            <a:r>
              <a:rPr lang="en-SG" sz="1600">
                <a:solidFill>
                  <a:srgbClr val="E1EAF4"/>
                </a:solidFill>
                <a:latin typeface="Segoe UI" panose="020B0502040204020203" pitchFamily="34" charset="0"/>
              </a:rPr>
              <a:t>No setting leaves the limits.</a:t>
            </a:r>
          </a:p>
          <a:p>
            <a:pPr marL="203200" indent="-203200">
              <a:spcAft>
                <a:spcPts val="800"/>
              </a:spcAft>
              <a:buFont typeface="+mj-lt"/>
              <a:buChar char="•"/>
            </a:pPr>
            <a:r>
              <a:rPr lang="en-SG" sz="1600">
                <a:solidFill>
                  <a:srgbClr val="E1EAF4"/>
                </a:solidFill>
                <a:latin typeface="Segoe UI" panose="020B0502040204020203" pitchFamily="34" charset="0"/>
              </a:rPr>
              <a:t>The report updates the profile.</a:t>
            </a:r>
          </a:p>
        </p:txBody>
      </p:sp>
      <p:sp>
        <p:nvSpPr>
          <p:cNvPr id="13" name="TextBox 12">
            <a:extLst>
              <a:ext uri="{FF2B5EF4-FFF2-40B4-BE49-F238E27FC236}">
                <a16:creationId xmlns:a16="http://schemas.microsoft.com/office/drawing/2014/main" id="{2EDB47DE-7454-F971-FB80-BC232EEC0085}"/>
              </a:ext>
            </a:extLst>
          </p:cNvPr>
          <p:cNvSpPr txBox="1"/>
          <p:nvPr/>
        </p:nvSpPr>
        <p:spPr>
          <a:xfrm>
            <a:off x="609600" y="6400800"/>
            <a:ext cx="8890000" cy="228600"/>
          </a:xfrm>
          <a:prstGeom prst="rect">
            <a:avLst/>
          </a:prstGeom>
          <a:noFill/>
        </p:spPr>
        <p:txBody>
          <a:bodyPr vert="horz" wrap="square" lIns="0" tIns="0" rIns="0" bIns="0" rtlCol="0">
            <a:noAutofit/>
          </a:bodyPr>
          <a:lstStyle/>
          <a:p>
            <a:r>
              <a:rPr lang="en-SG" sz="1200">
                <a:solidFill>
                  <a:srgbClr val="93ABC6"/>
                </a:solidFill>
                <a:latin typeface="Consolas" panose="020B0609020204030204" pitchFamily="49" charset="0"/>
              </a:rPr>
              <a:t>THE PROTOTYPE SHOWS THE MECHANISM  ·  TRAINING TRANSFER NEEDS A TRIAL</a:t>
            </a:r>
          </a:p>
        </p:txBody>
      </p:sp>
      <p:sp>
        <p:nvSpPr>
          <p:cNvPr id="14" name="TextBox 13">
            <a:extLst>
              <a:ext uri="{FF2B5EF4-FFF2-40B4-BE49-F238E27FC236}">
                <a16:creationId xmlns:a16="http://schemas.microsoft.com/office/drawing/2014/main" id="{5FF2F4DC-8B06-CAEF-E480-7CE871F370D8}"/>
              </a:ext>
            </a:extLst>
          </p:cNvPr>
          <p:cNvSpPr txBox="1"/>
          <p:nvPr/>
        </p:nvSpPr>
        <p:spPr>
          <a:xfrm>
            <a:off x="10312400" y="6400800"/>
            <a:ext cx="1270000" cy="228600"/>
          </a:xfrm>
          <a:prstGeom prst="rect">
            <a:avLst/>
          </a:prstGeom>
          <a:noFill/>
        </p:spPr>
        <p:txBody>
          <a:bodyPr vert="horz" wrap="square" lIns="0" tIns="0" rIns="0" bIns="0" rtlCol="0">
            <a:noAutofit/>
          </a:bodyPr>
          <a:lstStyle/>
          <a:p>
            <a:pPr algn="r"/>
            <a:r>
              <a:rPr lang="en-SG" sz="1200">
                <a:solidFill>
                  <a:srgbClr val="93ABC6"/>
                </a:solidFill>
                <a:latin typeface="Consolas" panose="020B0609020204030204" pitchFamily="49" charset="0"/>
              </a:rPr>
              <a:t>03</a:t>
            </a:r>
          </a:p>
        </p:txBody>
      </p:sp>
    </p:spTree>
    <p:extLst>
      <p:ext uri="{BB962C8B-B14F-4D97-AF65-F5344CB8AC3E}">
        <p14:creationId xmlns:p14="http://schemas.microsoft.com/office/powerpoint/2010/main" val="2909816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4183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F52C1-7F2C-E4F8-617A-5CA9DA7626FC}"/>
              </a:ext>
            </a:extLst>
          </p:cNvPr>
          <p:cNvSpPr>
            <a:spLocks noGrp="1"/>
          </p:cNvSpPr>
          <p:nvPr>
            <p:ph type="title"/>
          </p:nvPr>
        </p:nvSpPr>
        <p:spPr>
          <a:xfrm>
            <a:off x="609600" y="787400"/>
            <a:ext cx="10972800" cy="1270000"/>
          </a:xfrm>
        </p:spPr>
        <p:txBody>
          <a:bodyPr wrap="square" lIns="0" tIns="0" rIns="0" bIns="0" anchor="t">
            <a:noAutofit/>
          </a:bodyPr>
          <a:lstStyle/>
          <a:p>
            <a:r>
              <a:rPr lang="en-SG" sz="3600" b="1">
                <a:solidFill>
                  <a:srgbClr val="F3ECFF"/>
                </a:solidFill>
                <a:latin typeface="Segoe UI" panose="020B0502040204020203" pitchFamily="34" charset="0"/>
              </a:rPr>
              <a:t>History picks what to exercise. Live behaviour sets how hard.</a:t>
            </a:r>
          </a:p>
        </p:txBody>
      </p:sp>
      <p:sp>
        <p:nvSpPr>
          <p:cNvPr id="3" name="TextBox 2">
            <a:extLst>
              <a:ext uri="{FF2B5EF4-FFF2-40B4-BE49-F238E27FC236}">
                <a16:creationId xmlns:a16="http://schemas.microsoft.com/office/drawing/2014/main" id="{6D3BEE38-BE53-8591-EFD7-0E5928A9C4E0}"/>
              </a:ext>
            </a:extLst>
          </p:cNvPr>
          <p:cNvSpPr txBox="1"/>
          <p:nvPr/>
        </p:nvSpPr>
        <p:spPr>
          <a:xfrm>
            <a:off x="609600" y="457200"/>
            <a:ext cx="5969000" cy="254000"/>
          </a:xfrm>
          <a:prstGeom prst="rect">
            <a:avLst/>
          </a:prstGeom>
          <a:noFill/>
        </p:spPr>
        <p:txBody>
          <a:bodyPr vert="horz" wrap="square" lIns="0" tIns="0" rIns="0" bIns="0" rtlCol="0">
            <a:noAutofit/>
          </a:bodyPr>
          <a:lstStyle/>
          <a:p>
            <a:r>
              <a:rPr lang="en-SG" sz="1400">
                <a:solidFill>
                  <a:srgbClr val="B98FFF"/>
                </a:solidFill>
                <a:latin typeface="Consolas" panose="020B0609020204030204" pitchFamily="49" charset="0"/>
              </a:rPr>
              <a:t>THE IDEA</a:t>
            </a:r>
          </a:p>
        </p:txBody>
      </p:sp>
      <p:sp>
        <p:nvSpPr>
          <p:cNvPr id="4" name="Rectangle: Rounded Corners 3">
            <a:extLst>
              <a:ext uri="{FF2B5EF4-FFF2-40B4-BE49-F238E27FC236}">
                <a16:creationId xmlns:a16="http://schemas.microsoft.com/office/drawing/2014/main" id="{227EAFFA-9BC3-7D39-25C9-607161113904}"/>
              </a:ext>
            </a:extLst>
          </p:cNvPr>
          <p:cNvSpPr/>
          <p:nvPr/>
        </p:nvSpPr>
        <p:spPr>
          <a:xfrm>
            <a:off x="609600" y="2286000"/>
            <a:ext cx="5334000" cy="2794000"/>
          </a:xfrm>
          <a:prstGeom prst="roundRect">
            <a:avLst>
              <a:gd name="adj" fmla="val 6000"/>
            </a:avLst>
          </a:prstGeom>
          <a:solidFill>
            <a:srgbClr val="160F2B"/>
          </a:solidFill>
          <a:ln w="9525">
            <a:solidFill>
              <a:srgbClr val="6B4F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05D93849-9F35-D042-B7A2-2D2B22386718}"/>
              </a:ext>
            </a:extLst>
          </p:cNvPr>
          <p:cNvSpPr txBox="1"/>
          <p:nvPr/>
        </p:nvSpPr>
        <p:spPr>
          <a:xfrm>
            <a:off x="863600" y="2514600"/>
            <a:ext cx="4826000" cy="254000"/>
          </a:xfrm>
          <a:prstGeom prst="rect">
            <a:avLst/>
          </a:prstGeom>
          <a:noFill/>
        </p:spPr>
        <p:txBody>
          <a:bodyPr vert="horz" wrap="square" lIns="0" tIns="0" rIns="0" bIns="0" rtlCol="0">
            <a:noAutofit/>
          </a:bodyPr>
          <a:lstStyle/>
          <a:p>
            <a:r>
              <a:rPr lang="en-SG" sz="1400">
                <a:solidFill>
                  <a:srgbClr val="B98FFF"/>
                </a:solidFill>
                <a:latin typeface="Consolas" panose="020B0609020204030204" pitchFamily="49" charset="0"/>
              </a:rPr>
              <a:t>EXPERIENCE  ·  WHAT</a:t>
            </a:r>
          </a:p>
        </p:txBody>
      </p:sp>
      <p:sp>
        <p:nvSpPr>
          <p:cNvPr id="6" name="TextBox 5">
            <a:extLst>
              <a:ext uri="{FF2B5EF4-FFF2-40B4-BE49-F238E27FC236}">
                <a16:creationId xmlns:a16="http://schemas.microsoft.com/office/drawing/2014/main" id="{B2E0A24F-EF85-79CF-7745-60EE3B882910}"/>
              </a:ext>
            </a:extLst>
          </p:cNvPr>
          <p:cNvSpPr txBox="1"/>
          <p:nvPr/>
        </p:nvSpPr>
        <p:spPr>
          <a:xfrm>
            <a:off x="863600" y="2844800"/>
            <a:ext cx="4826000" cy="762000"/>
          </a:xfrm>
          <a:prstGeom prst="rect">
            <a:avLst/>
          </a:prstGeom>
          <a:noFill/>
        </p:spPr>
        <p:txBody>
          <a:bodyPr vert="horz" wrap="square" lIns="0" tIns="0" rIns="0" bIns="0" rtlCol="0">
            <a:noAutofit/>
          </a:bodyPr>
          <a:lstStyle/>
          <a:p>
            <a:r>
              <a:rPr lang="en-SG" sz="2200" b="1">
                <a:solidFill>
                  <a:srgbClr val="F3ECFF"/>
                </a:solidFill>
                <a:latin typeface="Segoe UI" panose="020B0502040204020203" pitchFamily="34" charset="0"/>
              </a:rPr>
              <a:t>The trainee profile</a:t>
            </a:r>
          </a:p>
        </p:txBody>
      </p:sp>
      <p:sp>
        <p:nvSpPr>
          <p:cNvPr id="7" name="TextBox 6">
            <a:extLst>
              <a:ext uri="{FF2B5EF4-FFF2-40B4-BE49-F238E27FC236}">
                <a16:creationId xmlns:a16="http://schemas.microsoft.com/office/drawing/2014/main" id="{FECC1055-771F-D573-86EE-904DBC48FEE0}"/>
              </a:ext>
            </a:extLst>
          </p:cNvPr>
          <p:cNvSpPr txBox="1"/>
          <p:nvPr/>
        </p:nvSpPr>
        <p:spPr>
          <a:xfrm>
            <a:off x="863600" y="3606800"/>
            <a:ext cx="4826000" cy="1320800"/>
          </a:xfrm>
          <a:prstGeom prst="rect">
            <a:avLst/>
          </a:prstGeom>
          <a:noFill/>
        </p:spPr>
        <p:txBody>
          <a:bodyPr vert="horz" wrap="square" lIns="0" tIns="0" rIns="0" bIns="0" rtlCol="0">
            <a:noAutofit/>
          </a:bodyPr>
          <a:lstStyle/>
          <a:p>
            <a:r>
              <a:rPr lang="en-SG" sz="1600">
                <a:solidFill>
                  <a:srgbClr val="EBDFFF"/>
                </a:solidFill>
                <a:latin typeface="Segoe UI" panose="020B0502040204020203" pitchFamily="34" charset="0"/>
              </a:rPr>
              <a:t>Kept across sessions. The weakest competency with enough evidence becomes the target.</a:t>
            </a:r>
          </a:p>
        </p:txBody>
      </p:sp>
      <p:sp>
        <p:nvSpPr>
          <p:cNvPr id="8" name="Rectangle: Rounded Corners 7">
            <a:extLst>
              <a:ext uri="{FF2B5EF4-FFF2-40B4-BE49-F238E27FC236}">
                <a16:creationId xmlns:a16="http://schemas.microsoft.com/office/drawing/2014/main" id="{4A8B1D65-1006-CF7B-A34F-CE3592E8BEB0}"/>
              </a:ext>
            </a:extLst>
          </p:cNvPr>
          <p:cNvSpPr/>
          <p:nvPr/>
        </p:nvSpPr>
        <p:spPr>
          <a:xfrm>
            <a:off x="6248400" y="2286000"/>
            <a:ext cx="5334000" cy="2794000"/>
          </a:xfrm>
          <a:prstGeom prst="roundRect">
            <a:avLst>
              <a:gd name="adj" fmla="val 6000"/>
            </a:avLst>
          </a:prstGeom>
          <a:solidFill>
            <a:srgbClr val="160F2B"/>
          </a:solidFill>
          <a:ln w="9525">
            <a:solidFill>
              <a:srgbClr val="6B4F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3D0E04E7-D15B-71C1-20F8-ADC77E4CCDE8}"/>
              </a:ext>
            </a:extLst>
          </p:cNvPr>
          <p:cNvSpPr txBox="1"/>
          <p:nvPr/>
        </p:nvSpPr>
        <p:spPr>
          <a:xfrm>
            <a:off x="6502400" y="2514600"/>
            <a:ext cx="4826000" cy="254000"/>
          </a:xfrm>
          <a:prstGeom prst="rect">
            <a:avLst/>
          </a:prstGeom>
          <a:noFill/>
        </p:spPr>
        <p:txBody>
          <a:bodyPr vert="horz" wrap="square" lIns="0" tIns="0" rIns="0" bIns="0" rtlCol="0">
            <a:noAutofit/>
          </a:bodyPr>
          <a:lstStyle/>
          <a:p>
            <a:r>
              <a:rPr lang="en-SG" sz="1400">
                <a:solidFill>
                  <a:srgbClr val="B98FFF"/>
                </a:solidFill>
                <a:latin typeface="Consolas" panose="020B0609020204030204" pitchFamily="49" charset="0"/>
              </a:rPr>
              <a:t>CURRENT BEHAVIOUR  ·  HOW HARD</a:t>
            </a:r>
          </a:p>
        </p:txBody>
      </p:sp>
      <p:sp>
        <p:nvSpPr>
          <p:cNvPr id="10" name="TextBox 9">
            <a:extLst>
              <a:ext uri="{FF2B5EF4-FFF2-40B4-BE49-F238E27FC236}">
                <a16:creationId xmlns:a16="http://schemas.microsoft.com/office/drawing/2014/main" id="{93B3A58D-9E3E-D2C3-3433-DB27231A3DDE}"/>
              </a:ext>
            </a:extLst>
          </p:cNvPr>
          <p:cNvSpPr txBox="1"/>
          <p:nvPr/>
        </p:nvSpPr>
        <p:spPr>
          <a:xfrm>
            <a:off x="6502400" y="2844800"/>
            <a:ext cx="4826000" cy="762000"/>
          </a:xfrm>
          <a:prstGeom prst="rect">
            <a:avLst/>
          </a:prstGeom>
          <a:noFill/>
        </p:spPr>
        <p:txBody>
          <a:bodyPr vert="horz" wrap="square" lIns="0" tIns="0" rIns="0" bIns="0" rtlCol="0">
            <a:noAutofit/>
          </a:bodyPr>
          <a:lstStyle/>
          <a:p>
            <a:r>
              <a:rPr lang="en-SG" sz="2200" b="1">
                <a:solidFill>
                  <a:srgbClr val="F3ECFF"/>
                </a:solidFill>
                <a:latin typeface="Segoe UI" panose="020B0502040204020203" pitchFamily="34" charset="0"/>
              </a:rPr>
              <a:t>The last 10 events</a:t>
            </a:r>
          </a:p>
        </p:txBody>
      </p:sp>
      <p:sp>
        <p:nvSpPr>
          <p:cNvPr id="11" name="TextBox 10">
            <a:extLst>
              <a:ext uri="{FF2B5EF4-FFF2-40B4-BE49-F238E27FC236}">
                <a16:creationId xmlns:a16="http://schemas.microsoft.com/office/drawing/2014/main" id="{3B51996F-1E34-8DF6-D737-8AAAD04812FE}"/>
              </a:ext>
            </a:extLst>
          </p:cNvPr>
          <p:cNvSpPr txBox="1"/>
          <p:nvPr/>
        </p:nvSpPr>
        <p:spPr>
          <a:xfrm>
            <a:off x="6502400" y="3606800"/>
            <a:ext cx="4826000" cy="1320800"/>
          </a:xfrm>
          <a:prstGeom prst="rect">
            <a:avLst/>
          </a:prstGeom>
          <a:noFill/>
        </p:spPr>
        <p:txBody>
          <a:bodyPr vert="horz" wrap="square" lIns="0" tIns="0" rIns="0" bIns="0" rtlCol="0">
            <a:noAutofit/>
          </a:bodyPr>
          <a:lstStyle/>
          <a:p>
            <a:r>
              <a:rPr lang="en-SG" sz="1600">
                <a:solidFill>
                  <a:srgbClr val="EBDFFF"/>
                </a:solidFill>
                <a:latin typeface="Segoe UI" panose="020B0502040204020203" pitchFamily="34" charset="0"/>
              </a:rPr>
              <a:t>Doing well on the target: raise the pressure. Struggling: ease off.</a:t>
            </a:r>
          </a:p>
        </p:txBody>
      </p:sp>
      <p:sp>
        <p:nvSpPr>
          <p:cNvPr id="12" name="TextBox 11">
            <a:extLst>
              <a:ext uri="{FF2B5EF4-FFF2-40B4-BE49-F238E27FC236}">
                <a16:creationId xmlns:a16="http://schemas.microsoft.com/office/drawing/2014/main" id="{6AD390CA-874B-A00F-5CFC-0FA770E85735}"/>
              </a:ext>
            </a:extLst>
          </p:cNvPr>
          <p:cNvSpPr txBox="1"/>
          <p:nvPr/>
        </p:nvSpPr>
        <p:spPr>
          <a:xfrm>
            <a:off x="609600" y="5384800"/>
            <a:ext cx="10972800" cy="635000"/>
          </a:xfrm>
          <a:prstGeom prst="rect">
            <a:avLst/>
          </a:prstGeom>
          <a:noFill/>
        </p:spPr>
        <p:txBody>
          <a:bodyPr vert="horz" wrap="square" lIns="0" tIns="0" rIns="0" bIns="0" rtlCol="0">
            <a:noAutofit/>
          </a:bodyPr>
          <a:lstStyle/>
          <a:p>
            <a:r>
              <a:rPr lang="en-SG" sz="2000">
                <a:solidFill>
                  <a:srgbClr val="EBDFFF"/>
                </a:solidFill>
                <a:latin typeface="Segoe UI" panose="020B0502040204020203" pitchFamily="34" charset="0"/>
              </a:rPr>
              <a:t>Adjustments change CGF settings only. They never change the trainee’s score or the outcome.</a:t>
            </a:r>
          </a:p>
        </p:txBody>
      </p:sp>
      <p:sp>
        <p:nvSpPr>
          <p:cNvPr id="13" name="TextBox 12">
            <a:extLst>
              <a:ext uri="{FF2B5EF4-FFF2-40B4-BE49-F238E27FC236}">
                <a16:creationId xmlns:a16="http://schemas.microsoft.com/office/drawing/2014/main" id="{FBAC8D42-6926-A408-D47D-72DD44CBB89F}"/>
              </a:ext>
            </a:extLst>
          </p:cNvPr>
          <p:cNvSpPr txBox="1"/>
          <p:nvPr/>
        </p:nvSpPr>
        <p:spPr>
          <a:xfrm>
            <a:off x="609600" y="6400800"/>
            <a:ext cx="8890000" cy="228600"/>
          </a:xfrm>
          <a:prstGeom prst="rect">
            <a:avLst/>
          </a:prstGeom>
          <a:noFill/>
        </p:spPr>
        <p:txBody>
          <a:bodyPr vert="horz" wrap="square" lIns="0" tIns="0" rIns="0" bIns="0" rtlCol="0">
            <a:noAutofit/>
          </a:bodyPr>
          <a:lstStyle/>
          <a:p>
            <a:r>
              <a:rPr lang="en-SG" sz="1200">
                <a:solidFill>
                  <a:srgbClr val="B98FFF"/>
                </a:solidFill>
                <a:latin typeface="Consolas" panose="020B0609020204030204" pitchFamily="49" charset="0"/>
              </a:rPr>
              <a:t>ADAPTIVE CGF TRAINER</a:t>
            </a:r>
          </a:p>
        </p:txBody>
      </p:sp>
      <p:sp>
        <p:nvSpPr>
          <p:cNvPr id="14" name="TextBox 13">
            <a:extLst>
              <a:ext uri="{FF2B5EF4-FFF2-40B4-BE49-F238E27FC236}">
                <a16:creationId xmlns:a16="http://schemas.microsoft.com/office/drawing/2014/main" id="{602BECFA-0F96-CDD2-6DD1-A6AF2E02AE24}"/>
              </a:ext>
            </a:extLst>
          </p:cNvPr>
          <p:cNvSpPr txBox="1"/>
          <p:nvPr/>
        </p:nvSpPr>
        <p:spPr>
          <a:xfrm>
            <a:off x="10312400" y="6400800"/>
            <a:ext cx="1270000" cy="228600"/>
          </a:xfrm>
          <a:prstGeom prst="rect">
            <a:avLst/>
          </a:prstGeom>
          <a:noFill/>
        </p:spPr>
        <p:txBody>
          <a:bodyPr vert="horz" wrap="square" lIns="0" tIns="0" rIns="0" bIns="0" rtlCol="0">
            <a:noAutofit/>
          </a:bodyPr>
          <a:lstStyle/>
          <a:p>
            <a:pPr algn="r"/>
            <a:r>
              <a:rPr lang="en-SG" sz="1200">
                <a:solidFill>
                  <a:srgbClr val="B98FFF"/>
                </a:solidFill>
                <a:latin typeface="Consolas" panose="020B0609020204030204" pitchFamily="49" charset="0"/>
              </a:rPr>
              <a:t>04</a:t>
            </a:r>
          </a:p>
        </p:txBody>
      </p:sp>
    </p:spTree>
    <p:extLst>
      <p:ext uri="{BB962C8B-B14F-4D97-AF65-F5344CB8AC3E}">
        <p14:creationId xmlns:p14="http://schemas.microsoft.com/office/powerpoint/2010/main" val="1979337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42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0AB6F-7F7A-F301-39D4-3BD9CBFDA4E9}"/>
              </a:ext>
            </a:extLst>
          </p:cNvPr>
          <p:cNvSpPr>
            <a:spLocks noGrp="1"/>
          </p:cNvSpPr>
          <p:nvPr>
            <p:ph type="title"/>
          </p:nvPr>
        </p:nvSpPr>
        <p:spPr>
          <a:xfrm>
            <a:off x="609600" y="787400"/>
            <a:ext cx="10972800" cy="762000"/>
          </a:xfrm>
        </p:spPr>
        <p:txBody>
          <a:bodyPr wrap="square" lIns="0" tIns="0" rIns="0" bIns="0" anchor="t">
            <a:noAutofit/>
          </a:bodyPr>
          <a:lstStyle/>
          <a:p>
            <a:r>
              <a:rPr lang="en-SG" sz="4000" b="1">
                <a:solidFill>
                  <a:srgbClr val="F7FAFD"/>
                </a:solidFill>
                <a:latin typeface="Segoe UI" panose="020B0502040204020203" pitchFamily="34" charset="0"/>
              </a:rPr>
              <a:t>Allocate, run, report, update</a:t>
            </a:r>
          </a:p>
        </p:txBody>
      </p:sp>
      <p:sp>
        <p:nvSpPr>
          <p:cNvPr id="3" name="TextBox 2">
            <a:extLst>
              <a:ext uri="{FF2B5EF4-FFF2-40B4-BE49-F238E27FC236}">
                <a16:creationId xmlns:a16="http://schemas.microsoft.com/office/drawing/2014/main" id="{14809EDD-BED4-4289-C740-6305A6EAF713}"/>
              </a:ext>
            </a:extLst>
          </p:cNvPr>
          <p:cNvSpPr txBox="1"/>
          <p:nvPr/>
        </p:nvSpPr>
        <p:spPr>
          <a:xfrm>
            <a:off x="609600" y="457200"/>
            <a:ext cx="5969000" cy="254000"/>
          </a:xfrm>
          <a:prstGeom prst="rect">
            <a:avLst/>
          </a:prstGeom>
          <a:noFill/>
        </p:spPr>
        <p:txBody>
          <a:bodyPr vert="horz" wrap="square" lIns="0" tIns="0" rIns="0" bIns="0" rtlCol="0">
            <a:noAutofit/>
          </a:bodyPr>
          <a:lstStyle/>
          <a:p>
            <a:r>
              <a:rPr lang="en-SG" sz="1400">
                <a:solidFill>
                  <a:srgbClr val="2F9DFF"/>
                </a:solidFill>
                <a:latin typeface="Consolas" panose="020B0609020204030204" pitchFamily="49" charset="0"/>
              </a:rPr>
              <a:t>THE LOOP</a:t>
            </a:r>
          </a:p>
        </p:txBody>
      </p:sp>
      <p:sp>
        <p:nvSpPr>
          <p:cNvPr id="4" name="Rectangle: Rounded Corners 3">
            <a:extLst>
              <a:ext uri="{FF2B5EF4-FFF2-40B4-BE49-F238E27FC236}">
                <a16:creationId xmlns:a16="http://schemas.microsoft.com/office/drawing/2014/main" id="{F7EBF5E2-60B8-A356-C95E-49F0B1F53C48}"/>
              </a:ext>
            </a:extLst>
          </p:cNvPr>
          <p:cNvSpPr/>
          <p:nvPr/>
        </p:nvSpPr>
        <p:spPr>
          <a:xfrm>
            <a:off x="609600" y="2413000"/>
            <a:ext cx="2362200" cy="24130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2C456C26-B579-890A-D136-3F6721200849}"/>
              </a:ext>
            </a:extLst>
          </p:cNvPr>
          <p:cNvSpPr txBox="1"/>
          <p:nvPr/>
        </p:nvSpPr>
        <p:spPr>
          <a:xfrm>
            <a:off x="812800" y="2641600"/>
            <a:ext cx="1955800" cy="254000"/>
          </a:xfrm>
          <a:prstGeom prst="rect">
            <a:avLst/>
          </a:prstGeom>
          <a:noFill/>
        </p:spPr>
        <p:txBody>
          <a:bodyPr vert="horz" wrap="square" lIns="0" tIns="0" rIns="0" bIns="0" rtlCol="0">
            <a:noAutofit/>
          </a:bodyPr>
          <a:lstStyle/>
          <a:p>
            <a:r>
              <a:rPr lang="en-SG" sz="1200">
                <a:solidFill>
                  <a:srgbClr val="2F9DFF"/>
                </a:solidFill>
                <a:latin typeface="Consolas" panose="020B0609020204030204" pitchFamily="49" charset="0"/>
              </a:rPr>
              <a:t>allocate.html</a:t>
            </a:r>
          </a:p>
        </p:txBody>
      </p:sp>
      <p:sp>
        <p:nvSpPr>
          <p:cNvPr id="6" name="TextBox 5">
            <a:extLst>
              <a:ext uri="{FF2B5EF4-FFF2-40B4-BE49-F238E27FC236}">
                <a16:creationId xmlns:a16="http://schemas.microsoft.com/office/drawing/2014/main" id="{F40C76D2-19B6-9B26-C7F4-CEFF7469DE55}"/>
              </a:ext>
            </a:extLst>
          </p:cNvPr>
          <p:cNvSpPr txBox="1"/>
          <p:nvPr/>
        </p:nvSpPr>
        <p:spPr>
          <a:xfrm>
            <a:off x="812800" y="3022600"/>
            <a:ext cx="1955800" cy="431800"/>
          </a:xfrm>
          <a:prstGeom prst="rect">
            <a:avLst/>
          </a:prstGeom>
          <a:noFill/>
        </p:spPr>
        <p:txBody>
          <a:bodyPr vert="horz" wrap="square" lIns="0" tIns="0" rIns="0" bIns="0" rtlCol="0">
            <a:noAutofit/>
          </a:bodyPr>
          <a:lstStyle/>
          <a:p>
            <a:r>
              <a:rPr lang="en-SG" sz="2400" b="1">
                <a:solidFill>
                  <a:srgbClr val="F7FAFD"/>
                </a:solidFill>
                <a:latin typeface="Segoe UI" panose="020B0502040204020203" pitchFamily="34" charset="0"/>
              </a:rPr>
              <a:t>Allocate</a:t>
            </a:r>
          </a:p>
        </p:txBody>
      </p:sp>
      <p:sp>
        <p:nvSpPr>
          <p:cNvPr id="7" name="TextBox 6">
            <a:extLst>
              <a:ext uri="{FF2B5EF4-FFF2-40B4-BE49-F238E27FC236}">
                <a16:creationId xmlns:a16="http://schemas.microsoft.com/office/drawing/2014/main" id="{4CD285DD-F402-29C8-7B0E-1EE2B4108A4C}"/>
              </a:ext>
            </a:extLst>
          </p:cNvPr>
          <p:cNvSpPr txBox="1"/>
          <p:nvPr/>
        </p:nvSpPr>
        <p:spPr>
          <a:xfrm>
            <a:off x="812800" y="3606800"/>
            <a:ext cx="1955800" cy="1016000"/>
          </a:xfrm>
          <a:prstGeom prst="rect">
            <a:avLst/>
          </a:prstGeom>
          <a:noFill/>
        </p:spPr>
        <p:txBody>
          <a:bodyPr vert="horz" wrap="square" lIns="0" tIns="0" rIns="0" bIns="0" rtlCol="0">
            <a:noAutofit/>
          </a:bodyPr>
          <a:lstStyle/>
          <a:p>
            <a:r>
              <a:rPr lang="en-SG" sz="1600">
                <a:solidFill>
                  <a:srgbClr val="E1EAF4"/>
                </a:solidFill>
                <a:latin typeface="Segoe UI" panose="020B0502040204020203" pitchFamily="34" charset="0"/>
              </a:rPr>
              <a:t>Platform, crew, limits.</a:t>
            </a:r>
          </a:p>
        </p:txBody>
      </p:sp>
      <p:sp>
        <p:nvSpPr>
          <p:cNvPr id="8" name="Arrow: Right 7">
            <a:extLst>
              <a:ext uri="{FF2B5EF4-FFF2-40B4-BE49-F238E27FC236}">
                <a16:creationId xmlns:a16="http://schemas.microsoft.com/office/drawing/2014/main" id="{05CB8ACE-D815-7EF3-EDBF-A35465190F3D}"/>
              </a:ext>
            </a:extLst>
          </p:cNvPr>
          <p:cNvSpPr/>
          <p:nvPr/>
        </p:nvSpPr>
        <p:spPr>
          <a:xfrm>
            <a:off x="3073400" y="3517900"/>
            <a:ext cx="304800" cy="203200"/>
          </a:xfrm>
          <a:prstGeom prst="rightArrow">
            <a:avLst/>
          </a:prstGeom>
          <a:solidFill>
            <a:srgbClr val="4A78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Rounded Corners 8">
            <a:extLst>
              <a:ext uri="{FF2B5EF4-FFF2-40B4-BE49-F238E27FC236}">
                <a16:creationId xmlns:a16="http://schemas.microsoft.com/office/drawing/2014/main" id="{879BEA69-6BE4-E84A-ECCC-09C967171692}"/>
              </a:ext>
            </a:extLst>
          </p:cNvPr>
          <p:cNvSpPr/>
          <p:nvPr/>
        </p:nvSpPr>
        <p:spPr>
          <a:xfrm>
            <a:off x="3479800" y="2413000"/>
            <a:ext cx="2362200" cy="24130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1A485130-0857-B8BF-106F-63756C293CC2}"/>
              </a:ext>
            </a:extLst>
          </p:cNvPr>
          <p:cNvSpPr txBox="1"/>
          <p:nvPr/>
        </p:nvSpPr>
        <p:spPr>
          <a:xfrm>
            <a:off x="3683000" y="2641600"/>
            <a:ext cx="1955800" cy="254000"/>
          </a:xfrm>
          <a:prstGeom prst="rect">
            <a:avLst/>
          </a:prstGeom>
          <a:noFill/>
        </p:spPr>
        <p:txBody>
          <a:bodyPr vert="horz" wrap="square" lIns="0" tIns="0" rIns="0" bIns="0" rtlCol="0">
            <a:noAutofit/>
          </a:bodyPr>
          <a:lstStyle/>
          <a:p>
            <a:r>
              <a:rPr lang="en-SG" sz="1200">
                <a:solidFill>
                  <a:srgbClr val="2F9DFF"/>
                </a:solidFill>
                <a:latin typeface="Consolas" panose="020B0609020204030204" pitchFamily="49" charset="0"/>
              </a:rPr>
              <a:t>runtime.html</a:t>
            </a:r>
          </a:p>
        </p:txBody>
      </p:sp>
      <p:sp>
        <p:nvSpPr>
          <p:cNvPr id="11" name="TextBox 10">
            <a:extLst>
              <a:ext uri="{FF2B5EF4-FFF2-40B4-BE49-F238E27FC236}">
                <a16:creationId xmlns:a16="http://schemas.microsoft.com/office/drawing/2014/main" id="{73E80DBE-C87D-AD2A-688D-57F95F053948}"/>
              </a:ext>
            </a:extLst>
          </p:cNvPr>
          <p:cNvSpPr txBox="1"/>
          <p:nvPr/>
        </p:nvSpPr>
        <p:spPr>
          <a:xfrm>
            <a:off x="3683000" y="3022600"/>
            <a:ext cx="1955800" cy="431800"/>
          </a:xfrm>
          <a:prstGeom prst="rect">
            <a:avLst/>
          </a:prstGeom>
          <a:noFill/>
        </p:spPr>
        <p:txBody>
          <a:bodyPr vert="horz" wrap="square" lIns="0" tIns="0" rIns="0" bIns="0" rtlCol="0">
            <a:noAutofit/>
          </a:bodyPr>
          <a:lstStyle/>
          <a:p>
            <a:r>
              <a:rPr lang="en-SG" sz="2400" b="1">
                <a:solidFill>
                  <a:srgbClr val="F7FAFD"/>
                </a:solidFill>
                <a:latin typeface="Segoe UI" panose="020B0502040204020203" pitchFamily="34" charset="0"/>
              </a:rPr>
              <a:t>Run</a:t>
            </a:r>
          </a:p>
        </p:txBody>
      </p:sp>
      <p:sp>
        <p:nvSpPr>
          <p:cNvPr id="12" name="TextBox 11">
            <a:extLst>
              <a:ext uri="{FF2B5EF4-FFF2-40B4-BE49-F238E27FC236}">
                <a16:creationId xmlns:a16="http://schemas.microsoft.com/office/drawing/2014/main" id="{05C66EFF-DE04-7F9F-6818-B6C55F1EDB36}"/>
              </a:ext>
            </a:extLst>
          </p:cNvPr>
          <p:cNvSpPr txBox="1"/>
          <p:nvPr/>
        </p:nvSpPr>
        <p:spPr>
          <a:xfrm>
            <a:off x="3683000" y="3606800"/>
            <a:ext cx="1955800" cy="1016000"/>
          </a:xfrm>
          <a:prstGeom prst="rect">
            <a:avLst/>
          </a:prstGeom>
          <a:noFill/>
        </p:spPr>
        <p:txBody>
          <a:bodyPr vert="horz" wrap="square" lIns="0" tIns="0" rIns="0" bIns="0" rtlCol="0">
            <a:noAutofit/>
          </a:bodyPr>
          <a:lstStyle/>
          <a:p>
            <a:r>
              <a:rPr lang="en-SG" sz="1600">
                <a:solidFill>
                  <a:srgbClr val="E1EAF4"/>
                </a:solidFill>
                <a:latin typeface="Segoe UI" panose="020B0502040204020203" pitchFamily="34" charset="0"/>
              </a:rPr>
              <a:t>The CGFs adapt and say why.</a:t>
            </a:r>
          </a:p>
        </p:txBody>
      </p:sp>
      <p:sp>
        <p:nvSpPr>
          <p:cNvPr id="13" name="Arrow: Right 12">
            <a:extLst>
              <a:ext uri="{FF2B5EF4-FFF2-40B4-BE49-F238E27FC236}">
                <a16:creationId xmlns:a16="http://schemas.microsoft.com/office/drawing/2014/main" id="{5FD75457-3FAD-251A-0E3E-1FDFD0D8DCE5}"/>
              </a:ext>
            </a:extLst>
          </p:cNvPr>
          <p:cNvSpPr/>
          <p:nvPr/>
        </p:nvSpPr>
        <p:spPr>
          <a:xfrm>
            <a:off x="5943600" y="3517900"/>
            <a:ext cx="304800" cy="203200"/>
          </a:xfrm>
          <a:prstGeom prst="rightArrow">
            <a:avLst/>
          </a:prstGeom>
          <a:solidFill>
            <a:srgbClr val="4A78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Rectangle: Rounded Corners 13">
            <a:extLst>
              <a:ext uri="{FF2B5EF4-FFF2-40B4-BE49-F238E27FC236}">
                <a16:creationId xmlns:a16="http://schemas.microsoft.com/office/drawing/2014/main" id="{BF817913-0310-DB73-BDAE-451882A2F3DE}"/>
              </a:ext>
            </a:extLst>
          </p:cNvPr>
          <p:cNvSpPr/>
          <p:nvPr/>
        </p:nvSpPr>
        <p:spPr>
          <a:xfrm>
            <a:off x="6350000" y="2413000"/>
            <a:ext cx="2362200" cy="24130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TextBox 14">
            <a:extLst>
              <a:ext uri="{FF2B5EF4-FFF2-40B4-BE49-F238E27FC236}">
                <a16:creationId xmlns:a16="http://schemas.microsoft.com/office/drawing/2014/main" id="{BE201128-AF31-C734-4E1E-763D275F2D36}"/>
              </a:ext>
            </a:extLst>
          </p:cNvPr>
          <p:cNvSpPr txBox="1"/>
          <p:nvPr/>
        </p:nvSpPr>
        <p:spPr>
          <a:xfrm>
            <a:off x="6553200" y="2641600"/>
            <a:ext cx="1955800" cy="254000"/>
          </a:xfrm>
          <a:prstGeom prst="rect">
            <a:avLst/>
          </a:prstGeom>
          <a:noFill/>
        </p:spPr>
        <p:txBody>
          <a:bodyPr vert="horz" wrap="square" lIns="0" tIns="0" rIns="0" bIns="0" rtlCol="0">
            <a:noAutofit/>
          </a:bodyPr>
          <a:lstStyle/>
          <a:p>
            <a:r>
              <a:rPr lang="en-SG" sz="1200">
                <a:solidFill>
                  <a:srgbClr val="2F9DFF"/>
                </a:solidFill>
                <a:latin typeface="Consolas" panose="020B0609020204030204" pitchFamily="49" charset="0"/>
              </a:rPr>
              <a:t>report.html</a:t>
            </a:r>
          </a:p>
        </p:txBody>
      </p:sp>
      <p:sp>
        <p:nvSpPr>
          <p:cNvPr id="16" name="TextBox 15">
            <a:extLst>
              <a:ext uri="{FF2B5EF4-FFF2-40B4-BE49-F238E27FC236}">
                <a16:creationId xmlns:a16="http://schemas.microsoft.com/office/drawing/2014/main" id="{773A7844-4B87-13F0-E2B3-08662A7A95A1}"/>
              </a:ext>
            </a:extLst>
          </p:cNvPr>
          <p:cNvSpPr txBox="1"/>
          <p:nvPr/>
        </p:nvSpPr>
        <p:spPr>
          <a:xfrm>
            <a:off x="6553200" y="3022600"/>
            <a:ext cx="1955800" cy="431800"/>
          </a:xfrm>
          <a:prstGeom prst="rect">
            <a:avLst/>
          </a:prstGeom>
          <a:noFill/>
        </p:spPr>
        <p:txBody>
          <a:bodyPr vert="horz" wrap="square" lIns="0" tIns="0" rIns="0" bIns="0" rtlCol="0">
            <a:noAutofit/>
          </a:bodyPr>
          <a:lstStyle/>
          <a:p>
            <a:r>
              <a:rPr lang="en-SG" sz="2400" b="1">
                <a:solidFill>
                  <a:srgbClr val="F7FAFD"/>
                </a:solidFill>
                <a:latin typeface="Segoe UI" panose="020B0502040204020203" pitchFamily="34" charset="0"/>
              </a:rPr>
              <a:t>Report</a:t>
            </a:r>
          </a:p>
        </p:txBody>
      </p:sp>
      <p:sp>
        <p:nvSpPr>
          <p:cNvPr id="17" name="TextBox 16">
            <a:extLst>
              <a:ext uri="{FF2B5EF4-FFF2-40B4-BE49-F238E27FC236}">
                <a16:creationId xmlns:a16="http://schemas.microsoft.com/office/drawing/2014/main" id="{F75B661C-0AC2-1B60-6C8C-2DEDFFACC01C}"/>
              </a:ext>
            </a:extLst>
          </p:cNvPr>
          <p:cNvSpPr txBox="1"/>
          <p:nvPr/>
        </p:nvSpPr>
        <p:spPr>
          <a:xfrm>
            <a:off x="6553200" y="3606800"/>
            <a:ext cx="1955800" cy="1016000"/>
          </a:xfrm>
          <a:prstGeom prst="rect">
            <a:avLst/>
          </a:prstGeom>
          <a:noFill/>
        </p:spPr>
        <p:txBody>
          <a:bodyPr vert="horz" wrap="square" lIns="0" tIns="0" rIns="0" bIns="0" rtlCol="0">
            <a:noAutofit/>
          </a:bodyPr>
          <a:lstStyle/>
          <a:p>
            <a:r>
              <a:rPr lang="en-SG" sz="1600">
                <a:solidFill>
                  <a:srgbClr val="E1EAF4"/>
                </a:solidFill>
                <a:latin typeface="Segoe UI" panose="020B0502040204020203" pitchFamily="34" charset="0"/>
              </a:rPr>
              <a:t>A debrief for each trainee.</a:t>
            </a:r>
          </a:p>
        </p:txBody>
      </p:sp>
      <p:sp>
        <p:nvSpPr>
          <p:cNvPr id="18" name="Arrow: Right 17">
            <a:extLst>
              <a:ext uri="{FF2B5EF4-FFF2-40B4-BE49-F238E27FC236}">
                <a16:creationId xmlns:a16="http://schemas.microsoft.com/office/drawing/2014/main" id="{B1AF551C-33C4-69E9-35DA-C9EFA818F1C2}"/>
              </a:ext>
            </a:extLst>
          </p:cNvPr>
          <p:cNvSpPr/>
          <p:nvPr/>
        </p:nvSpPr>
        <p:spPr>
          <a:xfrm>
            <a:off x="8813800" y="3517900"/>
            <a:ext cx="304800" cy="203200"/>
          </a:xfrm>
          <a:prstGeom prst="rightArrow">
            <a:avLst/>
          </a:prstGeom>
          <a:solidFill>
            <a:srgbClr val="4A78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Rectangle: Rounded Corners 18">
            <a:extLst>
              <a:ext uri="{FF2B5EF4-FFF2-40B4-BE49-F238E27FC236}">
                <a16:creationId xmlns:a16="http://schemas.microsoft.com/office/drawing/2014/main" id="{97822A96-5161-313D-FA24-26EE0DD8C181}"/>
              </a:ext>
            </a:extLst>
          </p:cNvPr>
          <p:cNvSpPr/>
          <p:nvPr/>
        </p:nvSpPr>
        <p:spPr>
          <a:xfrm>
            <a:off x="9220200" y="2413000"/>
            <a:ext cx="2362200" cy="2413000"/>
          </a:xfrm>
          <a:prstGeom prst="roundRect">
            <a:avLst>
              <a:gd name="adj" fmla="val 6000"/>
            </a:avLst>
          </a:prstGeom>
          <a:solidFill>
            <a:srgbClr val="24183F"/>
          </a:solidFill>
          <a:ln w="9525">
            <a:solidFill>
              <a:srgbClr val="6B4F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TextBox 19">
            <a:extLst>
              <a:ext uri="{FF2B5EF4-FFF2-40B4-BE49-F238E27FC236}">
                <a16:creationId xmlns:a16="http://schemas.microsoft.com/office/drawing/2014/main" id="{0FC22B5C-1D70-230A-7C51-81AC02B67346}"/>
              </a:ext>
            </a:extLst>
          </p:cNvPr>
          <p:cNvSpPr txBox="1"/>
          <p:nvPr/>
        </p:nvSpPr>
        <p:spPr>
          <a:xfrm>
            <a:off x="9423400" y="2641600"/>
            <a:ext cx="1955800" cy="254000"/>
          </a:xfrm>
          <a:prstGeom prst="rect">
            <a:avLst/>
          </a:prstGeom>
          <a:noFill/>
        </p:spPr>
        <p:txBody>
          <a:bodyPr vert="horz" wrap="square" lIns="0" tIns="0" rIns="0" bIns="0" rtlCol="0">
            <a:noAutofit/>
          </a:bodyPr>
          <a:lstStyle/>
          <a:p>
            <a:r>
              <a:rPr lang="en-SG" sz="1200">
                <a:solidFill>
                  <a:srgbClr val="B98FFF"/>
                </a:solidFill>
                <a:latin typeface="Consolas" panose="020B0609020204030204" pitchFamily="49" charset="0"/>
              </a:rPr>
              <a:t>profile + history</a:t>
            </a:r>
          </a:p>
        </p:txBody>
      </p:sp>
      <p:sp>
        <p:nvSpPr>
          <p:cNvPr id="21" name="TextBox 20">
            <a:extLst>
              <a:ext uri="{FF2B5EF4-FFF2-40B4-BE49-F238E27FC236}">
                <a16:creationId xmlns:a16="http://schemas.microsoft.com/office/drawing/2014/main" id="{FE233E9A-AD61-C468-3006-BEBFC310A392}"/>
              </a:ext>
            </a:extLst>
          </p:cNvPr>
          <p:cNvSpPr txBox="1"/>
          <p:nvPr/>
        </p:nvSpPr>
        <p:spPr>
          <a:xfrm>
            <a:off x="9423400" y="3022600"/>
            <a:ext cx="1955800" cy="431800"/>
          </a:xfrm>
          <a:prstGeom prst="rect">
            <a:avLst/>
          </a:prstGeom>
          <a:noFill/>
        </p:spPr>
        <p:txBody>
          <a:bodyPr vert="horz" wrap="square" lIns="0" tIns="0" rIns="0" bIns="0" rtlCol="0">
            <a:noAutofit/>
          </a:bodyPr>
          <a:lstStyle/>
          <a:p>
            <a:r>
              <a:rPr lang="en-SG" sz="2400" b="1">
                <a:solidFill>
                  <a:srgbClr val="F3ECFF"/>
                </a:solidFill>
                <a:latin typeface="Segoe UI" panose="020B0502040204020203" pitchFamily="34" charset="0"/>
              </a:rPr>
              <a:t>Update</a:t>
            </a:r>
          </a:p>
        </p:txBody>
      </p:sp>
      <p:sp>
        <p:nvSpPr>
          <p:cNvPr id="22" name="TextBox 21">
            <a:extLst>
              <a:ext uri="{FF2B5EF4-FFF2-40B4-BE49-F238E27FC236}">
                <a16:creationId xmlns:a16="http://schemas.microsoft.com/office/drawing/2014/main" id="{041F8F5E-0245-19F6-64AD-8B2879E4E986}"/>
              </a:ext>
            </a:extLst>
          </p:cNvPr>
          <p:cNvSpPr txBox="1"/>
          <p:nvPr/>
        </p:nvSpPr>
        <p:spPr>
          <a:xfrm>
            <a:off x="9423400" y="3606800"/>
            <a:ext cx="1955800" cy="1016000"/>
          </a:xfrm>
          <a:prstGeom prst="rect">
            <a:avLst/>
          </a:prstGeom>
          <a:noFill/>
        </p:spPr>
        <p:txBody>
          <a:bodyPr vert="horz" wrap="square" lIns="0" tIns="0" rIns="0" bIns="0" rtlCol="0">
            <a:noAutofit/>
          </a:bodyPr>
          <a:lstStyle/>
          <a:p>
            <a:r>
              <a:rPr lang="en-SG" sz="1600">
                <a:solidFill>
                  <a:srgbClr val="EBDFFF"/>
                </a:solidFill>
                <a:latin typeface="Segoe UI" panose="020B0502040204020203" pitchFamily="34" charset="0"/>
              </a:rPr>
              <a:t>The next session starts from it.</a:t>
            </a:r>
          </a:p>
        </p:txBody>
      </p:sp>
      <p:sp>
        <p:nvSpPr>
          <p:cNvPr id="23" name="TextBox 22">
            <a:extLst>
              <a:ext uri="{FF2B5EF4-FFF2-40B4-BE49-F238E27FC236}">
                <a16:creationId xmlns:a16="http://schemas.microsoft.com/office/drawing/2014/main" id="{C8146B9D-B23A-FD38-9C43-1D3F06A3654E}"/>
              </a:ext>
            </a:extLst>
          </p:cNvPr>
          <p:cNvSpPr txBox="1"/>
          <p:nvPr/>
        </p:nvSpPr>
        <p:spPr>
          <a:xfrm>
            <a:off x="609600" y="5334000"/>
            <a:ext cx="10972800" cy="381000"/>
          </a:xfrm>
          <a:prstGeom prst="rect">
            <a:avLst/>
          </a:prstGeom>
          <a:noFill/>
        </p:spPr>
        <p:txBody>
          <a:bodyPr vert="horz" wrap="square" lIns="0" tIns="0" rIns="0" bIns="0" rtlCol="0">
            <a:noAutofit/>
          </a:bodyPr>
          <a:lstStyle/>
          <a:p>
            <a:r>
              <a:rPr lang="en-SG">
                <a:solidFill>
                  <a:srgbClr val="93ABC6"/>
                </a:solidFill>
                <a:latin typeface="Segoe UI" panose="020B0502040204020203" pitchFamily="34" charset="0"/>
              </a:rPr>
              <a:t>Every page opens from a file. No server, no install.</a:t>
            </a:r>
          </a:p>
        </p:txBody>
      </p:sp>
      <p:sp>
        <p:nvSpPr>
          <p:cNvPr id="24" name="TextBox 23">
            <a:extLst>
              <a:ext uri="{FF2B5EF4-FFF2-40B4-BE49-F238E27FC236}">
                <a16:creationId xmlns:a16="http://schemas.microsoft.com/office/drawing/2014/main" id="{86BB8EEB-03B2-8230-4A42-ED9706955527}"/>
              </a:ext>
            </a:extLst>
          </p:cNvPr>
          <p:cNvSpPr txBox="1"/>
          <p:nvPr/>
        </p:nvSpPr>
        <p:spPr>
          <a:xfrm>
            <a:off x="609600" y="6400800"/>
            <a:ext cx="8890000" cy="228600"/>
          </a:xfrm>
          <a:prstGeom prst="rect">
            <a:avLst/>
          </a:prstGeom>
          <a:noFill/>
        </p:spPr>
        <p:txBody>
          <a:bodyPr vert="horz" wrap="square" lIns="0" tIns="0" rIns="0" bIns="0" rtlCol="0">
            <a:noAutofit/>
          </a:bodyPr>
          <a:lstStyle/>
          <a:p>
            <a:r>
              <a:rPr lang="en-SG" sz="1200">
                <a:solidFill>
                  <a:srgbClr val="93ABC6"/>
                </a:solidFill>
                <a:latin typeface="Consolas" panose="020B0609020204030204" pitchFamily="49" charset="0"/>
              </a:rPr>
              <a:t>ADAPTIVE CGF TRAINER</a:t>
            </a:r>
          </a:p>
        </p:txBody>
      </p:sp>
      <p:sp>
        <p:nvSpPr>
          <p:cNvPr id="25" name="TextBox 24">
            <a:extLst>
              <a:ext uri="{FF2B5EF4-FFF2-40B4-BE49-F238E27FC236}">
                <a16:creationId xmlns:a16="http://schemas.microsoft.com/office/drawing/2014/main" id="{EA3D34BC-7348-C545-63B9-2F1C764657B0}"/>
              </a:ext>
            </a:extLst>
          </p:cNvPr>
          <p:cNvSpPr txBox="1"/>
          <p:nvPr/>
        </p:nvSpPr>
        <p:spPr>
          <a:xfrm>
            <a:off x="10312400" y="6400800"/>
            <a:ext cx="1270000" cy="228600"/>
          </a:xfrm>
          <a:prstGeom prst="rect">
            <a:avLst/>
          </a:prstGeom>
          <a:noFill/>
        </p:spPr>
        <p:txBody>
          <a:bodyPr vert="horz" wrap="square" lIns="0" tIns="0" rIns="0" bIns="0" rtlCol="0">
            <a:noAutofit/>
          </a:bodyPr>
          <a:lstStyle/>
          <a:p>
            <a:pPr algn="r"/>
            <a:r>
              <a:rPr lang="en-SG" sz="1200">
                <a:solidFill>
                  <a:srgbClr val="93ABC6"/>
                </a:solidFill>
                <a:latin typeface="Consolas" panose="020B0609020204030204" pitchFamily="49" charset="0"/>
              </a:rPr>
              <a:t>05</a:t>
            </a:r>
          </a:p>
        </p:txBody>
      </p:sp>
    </p:spTree>
    <p:extLst>
      <p:ext uri="{BB962C8B-B14F-4D97-AF65-F5344CB8AC3E}">
        <p14:creationId xmlns:p14="http://schemas.microsoft.com/office/powerpoint/2010/main" val="306693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C3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7DB29-0FE9-6839-74BA-3F113134BEED}"/>
              </a:ext>
            </a:extLst>
          </p:cNvPr>
          <p:cNvSpPr>
            <a:spLocks noGrp="1"/>
          </p:cNvSpPr>
          <p:nvPr>
            <p:ph type="title"/>
          </p:nvPr>
        </p:nvSpPr>
        <p:spPr>
          <a:xfrm>
            <a:off x="609600" y="787400"/>
            <a:ext cx="10972800" cy="1270000"/>
          </a:xfrm>
        </p:spPr>
        <p:txBody>
          <a:bodyPr wrap="square" lIns="0" tIns="0" rIns="0" bIns="0" anchor="t">
            <a:noAutofit/>
          </a:bodyPr>
          <a:lstStyle/>
          <a:p>
            <a:r>
              <a:rPr lang="en-SG" sz="3600" b="1">
                <a:solidFill>
                  <a:srgbClr val="F7FAFD"/>
                </a:solidFill>
                <a:latin typeface="Segoe UI" panose="020B0502040204020203" pitchFamily="34" charset="0"/>
              </a:rPr>
              <a:t>Choose the platform, seat the crew, set the limits</a:t>
            </a:r>
          </a:p>
        </p:txBody>
      </p:sp>
      <p:sp>
        <p:nvSpPr>
          <p:cNvPr id="3" name="TextBox 2">
            <a:extLst>
              <a:ext uri="{FF2B5EF4-FFF2-40B4-BE49-F238E27FC236}">
                <a16:creationId xmlns:a16="http://schemas.microsoft.com/office/drawing/2014/main" id="{59EE4D39-29B8-B7DE-F13F-FEA2DFC180C0}"/>
              </a:ext>
            </a:extLst>
          </p:cNvPr>
          <p:cNvSpPr txBox="1"/>
          <p:nvPr/>
        </p:nvSpPr>
        <p:spPr>
          <a:xfrm>
            <a:off x="609600" y="457200"/>
            <a:ext cx="5969000" cy="254000"/>
          </a:xfrm>
          <a:prstGeom prst="rect">
            <a:avLst/>
          </a:prstGeom>
          <a:noFill/>
        </p:spPr>
        <p:txBody>
          <a:bodyPr vert="horz" wrap="square" lIns="0" tIns="0" rIns="0" bIns="0" rtlCol="0">
            <a:noAutofit/>
          </a:bodyPr>
          <a:lstStyle/>
          <a:p>
            <a:r>
              <a:rPr lang="en-SG" sz="1400">
                <a:solidFill>
                  <a:srgbClr val="2F9DFF"/>
                </a:solidFill>
                <a:latin typeface="Consolas" panose="020B0609020204030204" pitchFamily="49" charset="0"/>
              </a:rPr>
              <a:t>ALLOCATE</a:t>
            </a:r>
          </a:p>
        </p:txBody>
      </p:sp>
      <p:sp>
        <p:nvSpPr>
          <p:cNvPr id="4" name="TextBox 3">
            <a:extLst>
              <a:ext uri="{FF2B5EF4-FFF2-40B4-BE49-F238E27FC236}">
                <a16:creationId xmlns:a16="http://schemas.microsoft.com/office/drawing/2014/main" id="{DA9B0956-3979-8325-EEB5-ECC019E892A5}"/>
              </a:ext>
            </a:extLst>
          </p:cNvPr>
          <p:cNvSpPr txBox="1"/>
          <p:nvPr/>
        </p:nvSpPr>
        <p:spPr>
          <a:xfrm>
            <a:off x="609600" y="2235200"/>
            <a:ext cx="3175000" cy="330200"/>
          </a:xfrm>
          <a:prstGeom prst="rect">
            <a:avLst/>
          </a:prstGeom>
          <a:noFill/>
        </p:spPr>
        <p:txBody>
          <a:bodyPr vert="horz" wrap="square" lIns="0" tIns="0" rIns="0" bIns="0" rtlCol="0">
            <a:noAutofit/>
          </a:bodyPr>
          <a:lstStyle/>
          <a:p>
            <a:r>
              <a:rPr lang="en-SG" b="1">
                <a:solidFill>
                  <a:srgbClr val="F7FAFD"/>
                </a:solidFill>
                <a:latin typeface="Segoe UI" panose="020B0502040204020203" pitchFamily="34" charset="0"/>
              </a:rPr>
              <a:t>Six platforms</a:t>
            </a:r>
          </a:p>
        </p:txBody>
      </p:sp>
      <p:sp>
        <p:nvSpPr>
          <p:cNvPr id="5" name="TextBox 4">
            <a:extLst>
              <a:ext uri="{FF2B5EF4-FFF2-40B4-BE49-F238E27FC236}">
                <a16:creationId xmlns:a16="http://schemas.microsoft.com/office/drawing/2014/main" id="{3D8A9F2D-3896-895D-22A4-8FAC29F92DAB}"/>
              </a:ext>
            </a:extLst>
          </p:cNvPr>
          <p:cNvSpPr txBox="1"/>
          <p:nvPr/>
        </p:nvSpPr>
        <p:spPr>
          <a:xfrm>
            <a:off x="609600" y="2590800"/>
            <a:ext cx="3175000" cy="8128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Fighter, warship and tank, two models each, with their own seats.</a:t>
            </a:r>
          </a:p>
        </p:txBody>
      </p:sp>
      <p:sp>
        <p:nvSpPr>
          <p:cNvPr id="6" name="TextBox 5">
            <a:extLst>
              <a:ext uri="{FF2B5EF4-FFF2-40B4-BE49-F238E27FC236}">
                <a16:creationId xmlns:a16="http://schemas.microsoft.com/office/drawing/2014/main" id="{27EE3846-3185-65E7-DF1F-413FC25DD375}"/>
              </a:ext>
            </a:extLst>
          </p:cNvPr>
          <p:cNvSpPr txBox="1"/>
          <p:nvPr/>
        </p:nvSpPr>
        <p:spPr>
          <a:xfrm>
            <a:off x="609600" y="3581400"/>
            <a:ext cx="3175000" cy="330200"/>
          </a:xfrm>
          <a:prstGeom prst="rect">
            <a:avLst/>
          </a:prstGeom>
          <a:noFill/>
        </p:spPr>
        <p:txBody>
          <a:bodyPr vert="horz" wrap="square" lIns="0" tIns="0" rIns="0" bIns="0" rtlCol="0">
            <a:noAutofit/>
          </a:bodyPr>
          <a:lstStyle/>
          <a:p>
            <a:r>
              <a:rPr lang="en-SG" b="1">
                <a:solidFill>
                  <a:srgbClr val="F7FAFD"/>
                </a:solidFill>
                <a:latin typeface="Segoe UI" panose="020B0502040204020203" pitchFamily="34" charset="0"/>
              </a:rPr>
              <a:t>Know the trainee</a:t>
            </a:r>
          </a:p>
        </p:txBody>
      </p:sp>
      <p:sp>
        <p:nvSpPr>
          <p:cNvPr id="7" name="TextBox 6">
            <a:extLst>
              <a:ext uri="{FF2B5EF4-FFF2-40B4-BE49-F238E27FC236}">
                <a16:creationId xmlns:a16="http://schemas.microsoft.com/office/drawing/2014/main" id="{6607AEB1-4741-FB7F-9A8D-95EAF72F1493}"/>
              </a:ext>
            </a:extLst>
          </p:cNvPr>
          <p:cNvSpPr txBox="1"/>
          <p:nvPr/>
        </p:nvSpPr>
        <p:spPr>
          <a:xfrm>
            <a:off x="609600" y="3937000"/>
            <a:ext cx="3175000" cy="8128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Competency bars and focus areas per seat, plus a private note.</a:t>
            </a:r>
          </a:p>
        </p:txBody>
      </p:sp>
      <p:sp>
        <p:nvSpPr>
          <p:cNvPr id="8" name="TextBox 7">
            <a:extLst>
              <a:ext uri="{FF2B5EF4-FFF2-40B4-BE49-F238E27FC236}">
                <a16:creationId xmlns:a16="http://schemas.microsoft.com/office/drawing/2014/main" id="{576AC535-297D-71CD-D1CF-CF589EDBD85C}"/>
              </a:ext>
            </a:extLst>
          </p:cNvPr>
          <p:cNvSpPr txBox="1"/>
          <p:nvPr/>
        </p:nvSpPr>
        <p:spPr>
          <a:xfrm>
            <a:off x="609600" y="4927600"/>
            <a:ext cx="3175000" cy="330200"/>
          </a:xfrm>
          <a:prstGeom prst="rect">
            <a:avLst/>
          </a:prstGeom>
          <a:noFill/>
        </p:spPr>
        <p:txBody>
          <a:bodyPr vert="horz" wrap="square" lIns="0" tIns="0" rIns="0" bIns="0" rtlCol="0">
            <a:noAutofit/>
          </a:bodyPr>
          <a:lstStyle/>
          <a:p>
            <a:r>
              <a:rPr lang="en-SG" b="1">
                <a:solidFill>
                  <a:srgbClr val="F7FAFD"/>
                </a:solidFill>
                <a:latin typeface="Segoe UI" panose="020B0502040204020203" pitchFamily="34" charset="0"/>
              </a:rPr>
              <a:t>Practice or assess</a:t>
            </a:r>
          </a:p>
        </p:txBody>
      </p:sp>
      <p:sp>
        <p:nvSpPr>
          <p:cNvPr id="9" name="TextBox 8">
            <a:extLst>
              <a:ext uri="{FF2B5EF4-FFF2-40B4-BE49-F238E27FC236}">
                <a16:creationId xmlns:a16="http://schemas.microsoft.com/office/drawing/2014/main" id="{E01AD8E1-68A4-1CD3-4B36-ECBA159F66C2}"/>
              </a:ext>
            </a:extLst>
          </p:cNvPr>
          <p:cNvSpPr txBox="1"/>
          <p:nvPr/>
        </p:nvSpPr>
        <p:spPr>
          <a:xfrm>
            <a:off x="609600" y="5283200"/>
            <a:ext cx="3175000" cy="8128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The mode badge, run length and the envelope are set before start.</a:t>
            </a:r>
          </a:p>
        </p:txBody>
      </p:sp>
      <p:pic>
        <p:nvPicPr>
          <p:cNvPr id="11" name="Picture 10" descr="The trainee allocation page: warship crew seats on the left, trainee pool with competency bars on the right">
            <a:extLst>
              <a:ext uri="{FF2B5EF4-FFF2-40B4-BE49-F238E27FC236}">
                <a16:creationId xmlns:a16="http://schemas.microsoft.com/office/drawing/2014/main" id="{67F78E68-DB63-9589-A97A-D33684764E1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89400" y="2235200"/>
            <a:ext cx="7493000" cy="3841589"/>
          </a:xfrm>
          <a:prstGeom prst="rect">
            <a:avLst/>
          </a:prstGeom>
          <a:ln w="9525">
            <a:solidFill>
              <a:srgbClr val="4A78A8"/>
            </a:solidFill>
          </a:ln>
        </p:spPr>
      </p:pic>
      <p:sp>
        <p:nvSpPr>
          <p:cNvPr id="12" name="TextBox 11">
            <a:extLst>
              <a:ext uri="{FF2B5EF4-FFF2-40B4-BE49-F238E27FC236}">
                <a16:creationId xmlns:a16="http://schemas.microsoft.com/office/drawing/2014/main" id="{CEB37774-B480-DFBC-E013-DEAC0ED900A5}"/>
              </a:ext>
            </a:extLst>
          </p:cNvPr>
          <p:cNvSpPr txBox="1"/>
          <p:nvPr/>
        </p:nvSpPr>
        <p:spPr>
          <a:xfrm>
            <a:off x="609600" y="6400800"/>
            <a:ext cx="8890000" cy="228600"/>
          </a:xfrm>
          <a:prstGeom prst="rect">
            <a:avLst/>
          </a:prstGeom>
          <a:noFill/>
        </p:spPr>
        <p:txBody>
          <a:bodyPr vert="horz" wrap="square" lIns="0" tIns="0" rIns="0" bIns="0" rtlCol="0">
            <a:noAutofit/>
          </a:bodyPr>
          <a:lstStyle/>
          <a:p>
            <a:r>
              <a:rPr lang="en-SG" sz="1200">
                <a:solidFill>
                  <a:srgbClr val="93ABC6"/>
                </a:solidFill>
                <a:latin typeface="Consolas" panose="020B0609020204030204" pitchFamily="49" charset="0"/>
              </a:rPr>
              <a:t>ADAPTIVE CGF TRAINER  ·  SYNTHETIC TRAINEES</a:t>
            </a:r>
          </a:p>
        </p:txBody>
      </p:sp>
      <p:sp>
        <p:nvSpPr>
          <p:cNvPr id="13" name="TextBox 12">
            <a:extLst>
              <a:ext uri="{FF2B5EF4-FFF2-40B4-BE49-F238E27FC236}">
                <a16:creationId xmlns:a16="http://schemas.microsoft.com/office/drawing/2014/main" id="{C4793D72-691F-608C-CB09-5B2AF9F28F0E}"/>
              </a:ext>
            </a:extLst>
          </p:cNvPr>
          <p:cNvSpPr txBox="1"/>
          <p:nvPr/>
        </p:nvSpPr>
        <p:spPr>
          <a:xfrm>
            <a:off x="10312400" y="6400800"/>
            <a:ext cx="1270000" cy="228600"/>
          </a:xfrm>
          <a:prstGeom prst="rect">
            <a:avLst/>
          </a:prstGeom>
          <a:noFill/>
        </p:spPr>
        <p:txBody>
          <a:bodyPr vert="horz" wrap="square" lIns="0" tIns="0" rIns="0" bIns="0" rtlCol="0">
            <a:noAutofit/>
          </a:bodyPr>
          <a:lstStyle/>
          <a:p>
            <a:pPr algn="r"/>
            <a:r>
              <a:rPr lang="en-SG" sz="1200">
                <a:solidFill>
                  <a:srgbClr val="93ABC6"/>
                </a:solidFill>
                <a:latin typeface="Consolas" panose="020B0609020204030204" pitchFamily="49" charset="0"/>
              </a:rPr>
              <a:t>06</a:t>
            </a:r>
          </a:p>
        </p:txBody>
      </p:sp>
    </p:spTree>
    <p:extLst>
      <p:ext uri="{BB962C8B-B14F-4D97-AF65-F5344CB8AC3E}">
        <p14:creationId xmlns:p14="http://schemas.microsoft.com/office/powerpoint/2010/main" val="177335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142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97174-E026-D138-23E2-4CD5234FC2EA}"/>
              </a:ext>
            </a:extLst>
          </p:cNvPr>
          <p:cNvSpPr>
            <a:spLocks noGrp="1"/>
          </p:cNvSpPr>
          <p:nvPr>
            <p:ph type="title"/>
          </p:nvPr>
        </p:nvSpPr>
        <p:spPr>
          <a:xfrm>
            <a:off x="609600" y="787400"/>
            <a:ext cx="10972800" cy="1270000"/>
          </a:xfrm>
        </p:spPr>
        <p:txBody>
          <a:bodyPr wrap="square" lIns="0" tIns="0" rIns="0" bIns="0" anchor="t">
            <a:noAutofit/>
          </a:bodyPr>
          <a:lstStyle/>
          <a:p>
            <a:r>
              <a:rPr lang="en-SG" sz="3600" b="1">
                <a:solidFill>
                  <a:srgbClr val="F7FAFD"/>
                </a:solidFill>
                <a:latin typeface="Segoe UI" panose="020B0502040204020203" pitchFamily="34" charset="0"/>
              </a:rPr>
              <a:t>The enemy reacts to this crew, not a script</a:t>
            </a:r>
          </a:p>
        </p:txBody>
      </p:sp>
      <p:sp>
        <p:nvSpPr>
          <p:cNvPr id="3" name="TextBox 2">
            <a:extLst>
              <a:ext uri="{FF2B5EF4-FFF2-40B4-BE49-F238E27FC236}">
                <a16:creationId xmlns:a16="http://schemas.microsoft.com/office/drawing/2014/main" id="{3544599F-DFBE-078F-5B3E-B7FD974DEA15}"/>
              </a:ext>
            </a:extLst>
          </p:cNvPr>
          <p:cNvSpPr txBox="1"/>
          <p:nvPr/>
        </p:nvSpPr>
        <p:spPr>
          <a:xfrm>
            <a:off x="609600" y="457200"/>
            <a:ext cx="5969000" cy="254000"/>
          </a:xfrm>
          <a:prstGeom prst="rect">
            <a:avLst/>
          </a:prstGeom>
          <a:noFill/>
        </p:spPr>
        <p:txBody>
          <a:bodyPr vert="horz" wrap="square" lIns="0" tIns="0" rIns="0" bIns="0" rtlCol="0">
            <a:noAutofit/>
          </a:bodyPr>
          <a:lstStyle/>
          <a:p>
            <a:r>
              <a:rPr lang="en-SG" sz="1400">
                <a:solidFill>
                  <a:srgbClr val="2F9DFF"/>
                </a:solidFill>
                <a:latin typeface="Consolas" panose="020B0609020204030204" pitchFamily="49" charset="0"/>
              </a:rPr>
              <a:t>RUN</a:t>
            </a:r>
          </a:p>
        </p:txBody>
      </p:sp>
      <p:pic>
        <p:nvPicPr>
          <p:cNvPr id="5" name="Picture 4" descr="The runtime: a strait transit map with red, black, pirate and neutral contacts, and the contact list beside it">
            <a:extLst>
              <a:ext uri="{FF2B5EF4-FFF2-40B4-BE49-F238E27FC236}">
                <a16:creationId xmlns:a16="http://schemas.microsoft.com/office/drawing/2014/main" id="{DD2AD0EA-1663-B0ED-FC69-B9403FF4A19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2235200"/>
            <a:ext cx="7493000" cy="3841589"/>
          </a:xfrm>
          <a:prstGeom prst="rect">
            <a:avLst/>
          </a:prstGeom>
          <a:ln w="9525">
            <a:solidFill>
              <a:srgbClr val="4A78A8"/>
            </a:solidFill>
          </a:ln>
        </p:spPr>
      </p:pic>
      <p:sp>
        <p:nvSpPr>
          <p:cNvPr id="6" name="TextBox 5">
            <a:extLst>
              <a:ext uri="{FF2B5EF4-FFF2-40B4-BE49-F238E27FC236}">
                <a16:creationId xmlns:a16="http://schemas.microsoft.com/office/drawing/2014/main" id="{BBA5DBAB-FF82-8893-603C-D4665210CD6C}"/>
              </a:ext>
            </a:extLst>
          </p:cNvPr>
          <p:cNvSpPr txBox="1"/>
          <p:nvPr/>
        </p:nvSpPr>
        <p:spPr>
          <a:xfrm>
            <a:off x="8407400" y="2235200"/>
            <a:ext cx="3175000" cy="330200"/>
          </a:xfrm>
          <a:prstGeom prst="rect">
            <a:avLst/>
          </a:prstGeom>
          <a:noFill/>
        </p:spPr>
        <p:txBody>
          <a:bodyPr vert="horz" wrap="square" lIns="0" tIns="0" rIns="0" bIns="0" rtlCol="0">
            <a:noAutofit/>
          </a:bodyPr>
          <a:lstStyle/>
          <a:p>
            <a:r>
              <a:rPr lang="en-SG" b="1">
                <a:solidFill>
                  <a:srgbClr val="F7FAFD"/>
                </a:solidFill>
                <a:latin typeface="Segoe UI" panose="020B0502040204020203" pitchFamily="34" charset="0"/>
              </a:rPr>
              <a:t>Targets the focus area</a:t>
            </a:r>
          </a:p>
        </p:txBody>
      </p:sp>
      <p:sp>
        <p:nvSpPr>
          <p:cNvPr id="7" name="TextBox 6">
            <a:extLst>
              <a:ext uri="{FF2B5EF4-FFF2-40B4-BE49-F238E27FC236}">
                <a16:creationId xmlns:a16="http://schemas.microsoft.com/office/drawing/2014/main" id="{A4A18EA5-9669-FD3B-18D3-C952809761EC}"/>
              </a:ext>
            </a:extLst>
          </p:cNvPr>
          <p:cNvSpPr txBox="1"/>
          <p:nvPr/>
        </p:nvSpPr>
        <p:spPr>
          <a:xfrm>
            <a:off x="8407400" y="2590800"/>
            <a:ext cx="3175000" cy="8128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The first pressure lands on the competency the profile says needs it.</a:t>
            </a:r>
          </a:p>
        </p:txBody>
      </p:sp>
      <p:sp>
        <p:nvSpPr>
          <p:cNvPr id="8" name="TextBox 7">
            <a:extLst>
              <a:ext uri="{FF2B5EF4-FFF2-40B4-BE49-F238E27FC236}">
                <a16:creationId xmlns:a16="http://schemas.microsoft.com/office/drawing/2014/main" id="{EBA116EA-395D-876C-960D-94F72E6FEFC1}"/>
              </a:ext>
            </a:extLst>
          </p:cNvPr>
          <p:cNvSpPr txBox="1"/>
          <p:nvPr/>
        </p:nvSpPr>
        <p:spPr>
          <a:xfrm>
            <a:off x="8407400" y="3581400"/>
            <a:ext cx="3175000" cy="330200"/>
          </a:xfrm>
          <a:prstGeom prst="rect">
            <a:avLst/>
          </a:prstGeom>
          <a:noFill/>
        </p:spPr>
        <p:txBody>
          <a:bodyPr vert="horz" wrap="square" lIns="0" tIns="0" rIns="0" bIns="0" rtlCol="0">
            <a:noAutofit/>
          </a:bodyPr>
          <a:lstStyle/>
          <a:p>
            <a:r>
              <a:rPr lang="en-SG" b="1">
                <a:solidFill>
                  <a:srgbClr val="F7FAFD"/>
                </a:solidFill>
                <a:latin typeface="Segoe UI" panose="020B0502040204020203" pitchFamily="34" charset="0"/>
              </a:rPr>
              <a:t>Forces cooperate</a:t>
            </a:r>
          </a:p>
        </p:txBody>
      </p:sp>
      <p:sp>
        <p:nvSpPr>
          <p:cNvPr id="9" name="TextBox 8">
            <a:extLst>
              <a:ext uri="{FF2B5EF4-FFF2-40B4-BE49-F238E27FC236}">
                <a16:creationId xmlns:a16="http://schemas.microsoft.com/office/drawing/2014/main" id="{26B38BC0-E680-0A93-399D-EA65E5229EDB}"/>
              </a:ext>
            </a:extLst>
          </p:cNvPr>
          <p:cNvSpPr txBox="1"/>
          <p:nvPr/>
        </p:nvSpPr>
        <p:spPr>
          <a:xfrm>
            <a:off x="8407400" y="3937000"/>
            <a:ext cx="3175000" cy="8128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A unit that meets a response shares it, and nearby units join in.</a:t>
            </a:r>
          </a:p>
        </p:txBody>
      </p:sp>
      <p:sp>
        <p:nvSpPr>
          <p:cNvPr id="10" name="TextBox 9">
            <a:extLst>
              <a:ext uri="{FF2B5EF4-FFF2-40B4-BE49-F238E27FC236}">
                <a16:creationId xmlns:a16="http://schemas.microsoft.com/office/drawing/2014/main" id="{DBCA4152-5CAC-ACC5-513E-9EC679713337}"/>
              </a:ext>
            </a:extLst>
          </p:cNvPr>
          <p:cNvSpPr txBox="1"/>
          <p:nvPr/>
        </p:nvSpPr>
        <p:spPr>
          <a:xfrm>
            <a:off x="8407400" y="4927600"/>
            <a:ext cx="3175000" cy="330200"/>
          </a:xfrm>
          <a:prstGeom prst="rect">
            <a:avLst/>
          </a:prstGeom>
          <a:noFill/>
        </p:spPr>
        <p:txBody>
          <a:bodyPr vert="horz" wrap="square" lIns="0" tIns="0" rIns="0" bIns="0" rtlCol="0">
            <a:noAutofit/>
          </a:bodyPr>
          <a:lstStyle/>
          <a:p>
            <a:r>
              <a:rPr lang="en-SG" b="1">
                <a:solidFill>
                  <a:srgbClr val="F7FAFD"/>
                </a:solidFill>
                <a:latin typeface="Segoe UI" panose="020B0502040204020203" pitchFamily="34" charset="0"/>
              </a:rPr>
              <a:t>Invisible to the trainee</a:t>
            </a:r>
          </a:p>
        </p:txBody>
      </p:sp>
      <p:sp>
        <p:nvSpPr>
          <p:cNvPr id="11" name="TextBox 10">
            <a:extLst>
              <a:ext uri="{FF2B5EF4-FFF2-40B4-BE49-F238E27FC236}">
                <a16:creationId xmlns:a16="http://schemas.microsoft.com/office/drawing/2014/main" id="{217D6D90-A948-2ED8-182B-8EE2F54A53C2}"/>
              </a:ext>
            </a:extLst>
          </p:cNvPr>
          <p:cNvSpPr txBox="1"/>
          <p:nvPr/>
        </p:nvSpPr>
        <p:spPr>
          <a:xfrm>
            <a:off x="8407400" y="5283200"/>
            <a:ext cx="3175000" cy="8128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The trainee sees an exercise. The reasoning shows to the instructor.</a:t>
            </a:r>
          </a:p>
        </p:txBody>
      </p:sp>
      <p:sp>
        <p:nvSpPr>
          <p:cNvPr id="12" name="TextBox 11">
            <a:extLst>
              <a:ext uri="{FF2B5EF4-FFF2-40B4-BE49-F238E27FC236}">
                <a16:creationId xmlns:a16="http://schemas.microsoft.com/office/drawing/2014/main" id="{DB12074D-12AC-5E02-4BDC-4FCEB2B3A237}"/>
              </a:ext>
            </a:extLst>
          </p:cNvPr>
          <p:cNvSpPr txBox="1"/>
          <p:nvPr/>
        </p:nvSpPr>
        <p:spPr>
          <a:xfrm>
            <a:off x="609600" y="6400800"/>
            <a:ext cx="8890000" cy="228600"/>
          </a:xfrm>
          <a:prstGeom prst="rect">
            <a:avLst/>
          </a:prstGeom>
          <a:noFill/>
        </p:spPr>
        <p:txBody>
          <a:bodyPr vert="horz" wrap="square" lIns="0" tIns="0" rIns="0" bIns="0" rtlCol="0">
            <a:noAutofit/>
          </a:bodyPr>
          <a:lstStyle/>
          <a:p>
            <a:r>
              <a:rPr lang="fr-FR" sz="1200">
                <a:solidFill>
                  <a:srgbClr val="93ABC6"/>
                </a:solidFill>
                <a:latin typeface="Consolas" panose="020B0609020204030204" pitchFamily="49" charset="0"/>
              </a:rPr>
              <a:t>ADAPTIVE CGF TRAINER  ·  STRAIT TRANSIT SCENARIO</a:t>
            </a:r>
            <a:endParaRPr lang="en-SG" sz="1200">
              <a:solidFill>
                <a:srgbClr val="93ABC6"/>
              </a:solidFill>
              <a:latin typeface="Consolas" panose="020B0609020204030204" pitchFamily="49" charset="0"/>
            </a:endParaRPr>
          </a:p>
        </p:txBody>
      </p:sp>
      <p:sp>
        <p:nvSpPr>
          <p:cNvPr id="13" name="TextBox 12">
            <a:extLst>
              <a:ext uri="{FF2B5EF4-FFF2-40B4-BE49-F238E27FC236}">
                <a16:creationId xmlns:a16="http://schemas.microsoft.com/office/drawing/2014/main" id="{4EA5AEFB-30F1-6D8B-EDE6-5CDD67F4D24B}"/>
              </a:ext>
            </a:extLst>
          </p:cNvPr>
          <p:cNvSpPr txBox="1"/>
          <p:nvPr/>
        </p:nvSpPr>
        <p:spPr>
          <a:xfrm>
            <a:off x="10312400" y="6400800"/>
            <a:ext cx="1270000" cy="228600"/>
          </a:xfrm>
          <a:prstGeom prst="rect">
            <a:avLst/>
          </a:prstGeom>
          <a:noFill/>
        </p:spPr>
        <p:txBody>
          <a:bodyPr vert="horz" wrap="square" lIns="0" tIns="0" rIns="0" bIns="0" rtlCol="0">
            <a:noAutofit/>
          </a:bodyPr>
          <a:lstStyle/>
          <a:p>
            <a:pPr algn="r"/>
            <a:r>
              <a:rPr lang="en-SG" sz="1200">
                <a:solidFill>
                  <a:srgbClr val="93ABC6"/>
                </a:solidFill>
                <a:latin typeface="Consolas" panose="020B0609020204030204" pitchFamily="49" charset="0"/>
              </a:rPr>
              <a:t>07</a:t>
            </a:r>
          </a:p>
        </p:txBody>
      </p:sp>
    </p:spTree>
    <p:extLst>
      <p:ext uri="{BB962C8B-B14F-4D97-AF65-F5344CB8AC3E}">
        <p14:creationId xmlns:p14="http://schemas.microsoft.com/office/powerpoint/2010/main" val="391303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C3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ABC52-69C6-CD7B-2893-21B92DE0BB9F}"/>
              </a:ext>
            </a:extLst>
          </p:cNvPr>
          <p:cNvSpPr>
            <a:spLocks noGrp="1"/>
          </p:cNvSpPr>
          <p:nvPr>
            <p:ph type="title"/>
          </p:nvPr>
        </p:nvSpPr>
        <p:spPr>
          <a:xfrm>
            <a:off x="609600" y="787400"/>
            <a:ext cx="10972800" cy="1270000"/>
          </a:xfrm>
        </p:spPr>
        <p:txBody>
          <a:bodyPr wrap="square" lIns="0" tIns="0" rIns="0" bIns="0" anchor="t">
            <a:noAutofit/>
          </a:bodyPr>
          <a:lstStyle/>
          <a:p>
            <a:r>
              <a:rPr lang="en-SG" sz="3600" b="1">
                <a:solidFill>
                  <a:srgbClr val="F7FAFD"/>
                </a:solidFill>
                <a:latin typeface="Segoe UI" panose="020B0502040204020203" pitchFamily="34" charset="0"/>
              </a:rPr>
              <a:t>Every adjustment shows what, why and on what evidence</a:t>
            </a:r>
          </a:p>
        </p:txBody>
      </p:sp>
      <p:sp>
        <p:nvSpPr>
          <p:cNvPr id="3" name="TextBox 2">
            <a:extLst>
              <a:ext uri="{FF2B5EF4-FFF2-40B4-BE49-F238E27FC236}">
                <a16:creationId xmlns:a16="http://schemas.microsoft.com/office/drawing/2014/main" id="{3B552156-5966-1DC5-5FE0-83F352563270}"/>
              </a:ext>
            </a:extLst>
          </p:cNvPr>
          <p:cNvSpPr txBox="1"/>
          <p:nvPr/>
        </p:nvSpPr>
        <p:spPr>
          <a:xfrm>
            <a:off x="609600" y="457200"/>
            <a:ext cx="5969000" cy="254000"/>
          </a:xfrm>
          <a:prstGeom prst="rect">
            <a:avLst/>
          </a:prstGeom>
          <a:noFill/>
        </p:spPr>
        <p:txBody>
          <a:bodyPr vert="horz" wrap="square" lIns="0" tIns="0" rIns="0" bIns="0" rtlCol="0">
            <a:noAutofit/>
          </a:bodyPr>
          <a:lstStyle/>
          <a:p>
            <a:r>
              <a:rPr lang="en-SG" sz="1400">
                <a:solidFill>
                  <a:srgbClr val="2F9DFF"/>
                </a:solidFill>
                <a:latin typeface="Consolas" panose="020B0609020204030204" pitchFamily="49" charset="0"/>
              </a:rPr>
              <a:t>EXPLAINED</a:t>
            </a:r>
          </a:p>
        </p:txBody>
      </p:sp>
      <p:pic>
        <p:nvPicPr>
          <p:cNvPr id="5" name="Picture 4" descr="The reasoning panel during a run: a live raise of the ignored-warning weight from 2.2 to 2.5, with the evidence events and the reason">
            <a:extLst>
              <a:ext uri="{FF2B5EF4-FFF2-40B4-BE49-F238E27FC236}">
                <a16:creationId xmlns:a16="http://schemas.microsoft.com/office/drawing/2014/main" id="{66BCC885-2B01-3FE7-642E-B19F63D6AC5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2235200"/>
            <a:ext cx="5080000" cy="4191000"/>
          </a:xfrm>
          <a:prstGeom prst="rect">
            <a:avLst/>
          </a:prstGeom>
          <a:ln w="9525">
            <a:solidFill>
              <a:srgbClr val="4A78A8"/>
            </a:solidFill>
          </a:ln>
        </p:spPr>
      </p:pic>
      <p:sp>
        <p:nvSpPr>
          <p:cNvPr id="6" name="TextBox 5">
            <a:extLst>
              <a:ext uri="{FF2B5EF4-FFF2-40B4-BE49-F238E27FC236}">
                <a16:creationId xmlns:a16="http://schemas.microsoft.com/office/drawing/2014/main" id="{390C34EE-9C6E-0A30-E447-99572EC4CE27}"/>
              </a:ext>
            </a:extLst>
          </p:cNvPr>
          <p:cNvSpPr txBox="1"/>
          <p:nvPr/>
        </p:nvSpPr>
        <p:spPr>
          <a:xfrm>
            <a:off x="5994400" y="2235200"/>
            <a:ext cx="5588000" cy="304800"/>
          </a:xfrm>
          <a:prstGeom prst="rect">
            <a:avLst/>
          </a:prstGeom>
          <a:noFill/>
        </p:spPr>
        <p:txBody>
          <a:bodyPr vert="horz" wrap="square" lIns="0" tIns="0" rIns="0" bIns="0" rtlCol="0">
            <a:noAutofit/>
          </a:bodyPr>
          <a:lstStyle/>
          <a:p>
            <a:r>
              <a:rPr lang="en-SG" sz="1600" b="1">
                <a:solidFill>
                  <a:srgbClr val="F7FAFD"/>
                </a:solidFill>
                <a:latin typeface="Segoe UI" panose="020B0502040204020203" pitchFamily="34" charset="0"/>
              </a:rPr>
              <a:t>Success rate over the last 10 events on the target</a:t>
            </a:r>
          </a:p>
        </p:txBody>
      </p:sp>
      <p:sp>
        <p:nvSpPr>
          <p:cNvPr id="7" name="Rectangle: Rounded Corners 6">
            <a:extLst>
              <a:ext uri="{FF2B5EF4-FFF2-40B4-BE49-F238E27FC236}">
                <a16:creationId xmlns:a16="http://schemas.microsoft.com/office/drawing/2014/main" id="{380AA4C3-9CBA-6DC4-D090-7C6B189D8574}"/>
              </a:ext>
            </a:extLst>
          </p:cNvPr>
          <p:cNvSpPr/>
          <p:nvPr/>
        </p:nvSpPr>
        <p:spPr>
          <a:xfrm>
            <a:off x="5994400" y="2641600"/>
            <a:ext cx="2133600" cy="914400"/>
          </a:xfrm>
          <a:prstGeom prst="roundRect">
            <a:avLst>
              <a:gd name="adj" fmla="val 10000"/>
            </a:avLst>
          </a:prstGeom>
          <a:solidFill>
            <a:srgbClr val="1A2D47"/>
          </a:solidFill>
          <a:ln w="9525">
            <a:solidFill>
              <a:srgbClr val="4A78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E6C38973-EDA8-3389-9EEC-A64951CCF241}"/>
              </a:ext>
            </a:extLst>
          </p:cNvPr>
          <p:cNvSpPr txBox="1"/>
          <p:nvPr/>
        </p:nvSpPr>
        <p:spPr>
          <a:xfrm>
            <a:off x="6146800" y="2768600"/>
            <a:ext cx="1879600" cy="228600"/>
          </a:xfrm>
          <a:prstGeom prst="rect">
            <a:avLst/>
          </a:prstGeom>
          <a:noFill/>
        </p:spPr>
        <p:txBody>
          <a:bodyPr vert="horz" wrap="square" lIns="0" tIns="0" rIns="0" bIns="0" rtlCol="0">
            <a:noAutofit/>
          </a:bodyPr>
          <a:lstStyle/>
          <a:p>
            <a:r>
              <a:rPr lang="en-SG" sz="1200">
                <a:solidFill>
                  <a:srgbClr val="93ABC6"/>
                </a:solidFill>
                <a:latin typeface="Consolas" panose="020B0609020204030204" pitchFamily="49" charset="0"/>
              </a:rPr>
              <a:t>below 40%</a:t>
            </a:r>
          </a:p>
        </p:txBody>
      </p:sp>
      <p:sp>
        <p:nvSpPr>
          <p:cNvPr id="9" name="TextBox 8">
            <a:extLst>
              <a:ext uri="{FF2B5EF4-FFF2-40B4-BE49-F238E27FC236}">
                <a16:creationId xmlns:a16="http://schemas.microsoft.com/office/drawing/2014/main" id="{B11DAE52-2BF2-2744-D32D-0CF7E849C2D2}"/>
              </a:ext>
            </a:extLst>
          </p:cNvPr>
          <p:cNvSpPr txBox="1"/>
          <p:nvPr/>
        </p:nvSpPr>
        <p:spPr>
          <a:xfrm>
            <a:off x="6146800" y="3048000"/>
            <a:ext cx="1879600" cy="355600"/>
          </a:xfrm>
          <a:prstGeom prst="rect">
            <a:avLst/>
          </a:prstGeom>
          <a:noFill/>
        </p:spPr>
        <p:txBody>
          <a:bodyPr vert="horz" wrap="square" lIns="0" tIns="0" rIns="0" bIns="0" rtlCol="0">
            <a:noAutofit/>
          </a:bodyPr>
          <a:lstStyle/>
          <a:p>
            <a:r>
              <a:rPr lang="en-SG" b="1">
                <a:solidFill>
                  <a:srgbClr val="F7FAFD"/>
                </a:solidFill>
                <a:latin typeface="Segoe UI" panose="020B0502040204020203" pitchFamily="34" charset="0"/>
              </a:rPr>
              <a:t>▼ Ease off</a:t>
            </a:r>
          </a:p>
        </p:txBody>
      </p:sp>
      <p:sp>
        <p:nvSpPr>
          <p:cNvPr id="10" name="Rectangle: Rounded Corners 9">
            <a:extLst>
              <a:ext uri="{FF2B5EF4-FFF2-40B4-BE49-F238E27FC236}">
                <a16:creationId xmlns:a16="http://schemas.microsoft.com/office/drawing/2014/main" id="{6AF83CD6-DE3E-4A9B-F3FF-C5E2D0659443}"/>
              </a:ext>
            </a:extLst>
          </p:cNvPr>
          <p:cNvSpPr/>
          <p:nvPr/>
        </p:nvSpPr>
        <p:spPr>
          <a:xfrm>
            <a:off x="8255000" y="2641600"/>
            <a:ext cx="1600200" cy="914400"/>
          </a:xfrm>
          <a:prstGeom prst="roundRect">
            <a:avLst>
              <a:gd name="adj" fmla="val 10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C3069B86-7114-3188-FAE9-1ADE67837607}"/>
              </a:ext>
            </a:extLst>
          </p:cNvPr>
          <p:cNvSpPr txBox="1"/>
          <p:nvPr/>
        </p:nvSpPr>
        <p:spPr>
          <a:xfrm>
            <a:off x="8407400" y="2768600"/>
            <a:ext cx="1346200" cy="228600"/>
          </a:xfrm>
          <a:prstGeom prst="rect">
            <a:avLst/>
          </a:prstGeom>
          <a:noFill/>
        </p:spPr>
        <p:txBody>
          <a:bodyPr vert="horz" wrap="square" lIns="0" tIns="0" rIns="0" bIns="0" rtlCol="0">
            <a:noAutofit/>
          </a:bodyPr>
          <a:lstStyle/>
          <a:p>
            <a:r>
              <a:rPr lang="en-SG" sz="1200">
                <a:solidFill>
                  <a:srgbClr val="93ABC6"/>
                </a:solidFill>
                <a:latin typeface="Consolas" panose="020B0609020204030204" pitchFamily="49" charset="0"/>
              </a:rPr>
              <a:t>40–70%</a:t>
            </a:r>
          </a:p>
        </p:txBody>
      </p:sp>
      <p:sp>
        <p:nvSpPr>
          <p:cNvPr id="12" name="TextBox 11">
            <a:extLst>
              <a:ext uri="{FF2B5EF4-FFF2-40B4-BE49-F238E27FC236}">
                <a16:creationId xmlns:a16="http://schemas.microsoft.com/office/drawing/2014/main" id="{EFE08711-3DF8-6F3A-D5F2-5A164623D0B8}"/>
              </a:ext>
            </a:extLst>
          </p:cNvPr>
          <p:cNvSpPr txBox="1"/>
          <p:nvPr/>
        </p:nvSpPr>
        <p:spPr>
          <a:xfrm>
            <a:off x="8407400" y="3048000"/>
            <a:ext cx="1346200" cy="355600"/>
          </a:xfrm>
          <a:prstGeom prst="rect">
            <a:avLst/>
          </a:prstGeom>
          <a:noFill/>
        </p:spPr>
        <p:txBody>
          <a:bodyPr vert="horz" wrap="square" lIns="0" tIns="0" rIns="0" bIns="0" rtlCol="0">
            <a:noAutofit/>
          </a:bodyPr>
          <a:lstStyle/>
          <a:p>
            <a:r>
              <a:rPr lang="en-SG" b="1">
                <a:solidFill>
                  <a:srgbClr val="F7FAFD"/>
                </a:solidFill>
                <a:latin typeface="Segoe UI" panose="020B0502040204020203" pitchFamily="34" charset="0"/>
              </a:rPr>
              <a:t>Hold</a:t>
            </a:r>
          </a:p>
        </p:txBody>
      </p:sp>
      <p:sp>
        <p:nvSpPr>
          <p:cNvPr id="13" name="Rectangle: Rounded Corners 12">
            <a:extLst>
              <a:ext uri="{FF2B5EF4-FFF2-40B4-BE49-F238E27FC236}">
                <a16:creationId xmlns:a16="http://schemas.microsoft.com/office/drawing/2014/main" id="{89700891-0F6A-0F71-BFFB-BB4D9AD0C9A5}"/>
              </a:ext>
            </a:extLst>
          </p:cNvPr>
          <p:cNvSpPr/>
          <p:nvPr/>
        </p:nvSpPr>
        <p:spPr>
          <a:xfrm>
            <a:off x="9982200" y="2641600"/>
            <a:ext cx="1600200" cy="914400"/>
          </a:xfrm>
          <a:prstGeom prst="roundRect">
            <a:avLst>
              <a:gd name="adj" fmla="val 10000"/>
            </a:avLst>
          </a:prstGeom>
          <a:solidFill>
            <a:srgbClr val="24183F"/>
          </a:solidFill>
          <a:ln w="9525">
            <a:solidFill>
              <a:srgbClr val="B98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TextBox 13">
            <a:extLst>
              <a:ext uri="{FF2B5EF4-FFF2-40B4-BE49-F238E27FC236}">
                <a16:creationId xmlns:a16="http://schemas.microsoft.com/office/drawing/2014/main" id="{971538B0-452C-E5AB-D885-501CC4222552}"/>
              </a:ext>
            </a:extLst>
          </p:cNvPr>
          <p:cNvSpPr txBox="1"/>
          <p:nvPr/>
        </p:nvSpPr>
        <p:spPr>
          <a:xfrm>
            <a:off x="10134600" y="2768600"/>
            <a:ext cx="1346200" cy="228600"/>
          </a:xfrm>
          <a:prstGeom prst="rect">
            <a:avLst/>
          </a:prstGeom>
          <a:noFill/>
        </p:spPr>
        <p:txBody>
          <a:bodyPr vert="horz" wrap="square" lIns="0" tIns="0" rIns="0" bIns="0" rtlCol="0">
            <a:noAutofit/>
          </a:bodyPr>
          <a:lstStyle/>
          <a:p>
            <a:r>
              <a:rPr lang="en-SG" sz="1200">
                <a:solidFill>
                  <a:srgbClr val="EBDFFF"/>
                </a:solidFill>
                <a:latin typeface="Consolas" panose="020B0609020204030204" pitchFamily="49" charset="0"/>
              </a:rPr>
              <a:t>above 70%</a:t>
            </a:r>
          </a:p>
        </p:txBody>
      </p:sp>
      <p:sp>
        <p:nvSpPr>
          <p:cNvPr id="15" name="TextBox 14">
            <a:extLst>
              <a:ext uri="{FF2B5EF4-FFF2-40B4-BE49-F238E27FC236}">
                <a16:creationId xmlns:a16="http://schemas.microsoft.com/office/drawing/2014/main" id="{007C89E6-4EB7-7882-64AD-A9E8B40F97F5}"/>
              </a:ext>
            </a:extLst>
          </p:cNvPr>
          <p:cNvSpPr txBox="1"/>
          <p:nvPr/>
        </p:nvSpPr>
        <p:spPr>
          <a:xfrm>
            <a:off x="10134600" y="3048000"/>
            <a:ext cx="1346200" cy="355600"/>
          </a:xfrm>
          <a:prstGeom prst="rect">
            <a:avLst/>
          </a:prstGeom>
          <a:noFill/>
        </p:spPr>
        <p:txBody>
          <a:bodyPr vert="horz" wrap="square" lIns="0" tIns="0" rIns="0" bIns="0" rtlCol="0">
            <a:noAutofit/>
          </a:bodyPr>
          <a:lstStyle/>
          <a:p>
            <a:r>
              <a:rPr lang="en-SG" b="1">
                <a:solidFill>
                  <a:srgbClr val="F3ECFF"/>
                </a:solidFill>
                <a:latin typeface="Segoe UI" panose="020B0502040204020203" pitchFamily="34" charset="0"/>
              </a:rPr>
              <a:t>▲ Raise</a:t>
            </a:r>
          </a:p>
        </p:txBody>
      </p:sp>
      <p:sp>
        <p:nvSpPr>
          <p:cNvPr id="16" name="TextBox 15">
            <a:extLst>
              <a:ext uri="{FF2B5EF4-FFF2-40B4-BE49-F238E27FC236}">
                <a16:creationId xmlns:a16="http://schemas.microsoft.com/office/drawing/2014/main" id="{2CA77B9B-F01C-6BFB-2926-1976C37D1C10}"/>
              </a:ext>
            </a:extLst>
          </p:cNvPr>
          <p:cNvSpPr txBox="1"/>
          <p:nvPr/>
        </p:nvSpPr>
        <p:spPr>
          <a:xfrm>
            <a:off x="5994400" y="3860800"/>
            <a:ext cx="5588000" cy="2159000"/>
          </a:xfrm>
          <a:prstGeom prst="rect">
            <a:avLst/>
          </a:prstGeom>
          <a:noFill/>
        </p:spPr>
        <p:txBody>
          <a:bodyPr vert="horz" wrap="square" lIns="0" tIns="0" rIns="0" bIns="0" rtlCol="0">
            <a:noAutofit/>
          </a:bodyPr>
          <a:lstStyle/>
          <a:p>
            <a:pPr marL="203200" indent="-203200">
              <a:spcAft>
                <a:spcPts val="800"/>
              </a:spcAft>
              <a:buFont typeface="+mj-lt"/>
              <a:buChar char="•"/>
            </a:pPr>
            <a:r>
              <a:rPr lang="en-SG" sz="1600">
                <a:solidFill>
                  <a:srgbClr val="E1EAF4"/>
                </a:solidFill>
                <a:latin typeface="Segoe UI" panose="020B0502040204020203" pitchFamily="34" charset="0"/>
              </a:rPr>
              <a:t>Each entry names its cause: history, live, team or the instructor.</a:t>
            </a:r>
          </a:p>
          <a:p>
            <a:pPr marL="203200" indent="-203200">
              <a:spcAft>
                <a:spcPts val="800"/>
              </a:spcAft>
              <a:buFont typeface="+mj-lt"/>
              <a:buChar char="•"/>
            </a:pPr>
            <a:r>
              <a:rPr lang="en-SG" sz="1600">
                <a:solidFill>
                  <a:srgbClr val="E1EAF4"/>
                </a:solidFill>
                <a:latin typeface="Segoe UI" panose="020B0502040204020203" pitchFamily="34" charset="0"/>
              </a:rPr>
              <a:t>Fewer than 3 events: no rate yet, so exposure stays up.</a:t>
            </a:r>
          </a:p>
          <a:p>
            <a:pPr marL="203200" indent="-203200">
              <a:spcAft>
                <a:spcPts val="800"/>
              </a:spcAft>
              <a:buFont typeface="+mj-lt"/>
              <a:buChar char="•"/>
            </a:pPr>
            <a:r>
              <a:rPr lang="en-SG" sz="1600">
                <a:solidFill>
                  <a:srgbClr val="E1EAF4"/>
                </a:solidFill>
                <a:latin typeface="Segoe UI" panose="020B0502040204020203" pitchFamily="34" charset="0"/>
              </a:rPr>
              <a:t>Easing stops at the instructor’s base setting.</a:t>
            </a:r>
          </a:p>
          <a:p>
            <a:pPr marL="203200" indent="-203200">
              <a:spcAft>
                <a:spcPts val="800"/>
              </a:spcAft>
              <a:buFont typeface="+mj-lt"/>
              <a:buChar char="•"/>
            </a:pPr>
            <a:r>
              <a:rPr lang="en-SG" sz="1600">
                <a:solidFill>
                  <a:srgbClr val="E1EAF4"/>
                </a:solidFill>
                <a:latin typeface="Segoe UI" panose="020B0502040204020203" pitchFamily="34" charset="0"/>
              </a:rPr>
              <a:t>Every step stays inside the envelope.</a:t>
            </a:r>
          </a:p>
        </p:txBody>
      </p:sp>
      <p:sp>
        <p:nvSpPr>
          <p:cNvPr id="17" name="TextBox 16">
            <a:extLst>
              <a:ext uri="{FF2B5EF4-FFF2-40B4-BE49-F238E27FC236}">
                <a16:creationId xmlns:a16="http://schemas.microsoft.com/office/drawing/2014/main" id="{A1F87BA4-12B6-CFD9-6F6B-74313B22E3DD}"/>
              </a:ext>
            </a:extLst>
          </p:cNvPr>
          <p:cNvSpPr txBox="1"/>
          <p:nvPr/>
        </p:nvSpPr>
        <p:spPr>
          <a:xfrm>
            <a:off x="609600" y="6400800"/>
            <a:ext cx="8890000" cy="228600"/>
          </a:xfrm>
          <a:prstGeom prst="rect">
            <a:avLst/>
          </a:prstGeom>
          <a:noFill/>
        </p:spPr>
        <p:txBody>
          <a:bodyPr vert="horz" wrap="square" lIns="0" tIns="0" rIns="0" bIns="0" rtlCol="0">
            <a:noAutofit/>
          </a:bodyPr>
          <a:lstStyle/>
          <a:p>
            <a:r>
              <a:rPr lang="en-SG" sz="1200">
                <a:solidFill>
                  <a:srgbClr val="93ABC6"/>
                </a:solidFill>
                <a:latin typeface="Consolas" panose="020B0609020204030204" pitchFamily="49" charset="0"/>
              </a:rPr>
              <a:t>REAL ENTRY FROM THE DEMO RUN  ·  REASONING TAB</a:t>
            </a:r>
          </a:p>
        </p:txBody>
      </p:sp>
      <p:sp>
        <p:nvSpPr>
          <p:cNvPr id="18" name="TextBox 17">
            <a:extLst>
              <a:ext uri="{FF2B5EF4-FFF2-40B4-BE49-F238E27FC236}">
                <a16:creationId xmlns:a16="http://schemas.microsoft.com/office/drawing/2014/main" id="{CAC1E2E5-ECB5-C547-E1CA-495899EF1FB9}"/>
              </a:ext>
            </a:extLst>
          </p:cNvPr>
          <p:cNvSpPr txBox="1"/>
          <p:nvPr/>
        </p:nvSpPr>
        <p:spPr>
          <a:xfrm>
            <a:off x="10312400" y="6400800"/>
            <a:ext cx="1270000" cy="228600"/>
          </a:xfrm>
          <a:prstGeom prst="rect">
            <a:avLst/>
          </a:prstGeom>
          <a:noFill/>
        </p:spPr>
        <p:txBody>
          <a:bodyPr vert="horz" wrap="square" lIns="0" tIns="0" rIns="0" bIns="0" rtlCol="0">
            <a:noAutofit/>
          </a:bodyPr>
          <a:lstStyle/>
          <a:p>
            <a:pPr algn="r"/>
            <a:r>
              <a:rPr lang="en-SG" sz="1200">
                <a:solidFill>
                  <a:srgbClr val="93ABC6"/>
                </a:solidFill>
                <a:latin typeface="Consolas" panose="020B0609020204030204" pitchFamily="49" charset="0"/>
              </a:rPr>
              <a:t>08</a:t>
            </a:r>
          </a:p>
        </p:txBody>
      </p:sp>
    </p:spTree>
    <p:extLst>
      <p:ext uri="{BB962C8B-B14F-4D97-AF65-F5344CB8AC3E}">
        <p14:creationId xmlns:p14="http://schemas.microsoft.com/office/powerpoint/2010/main" val="3690337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42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0341E-3A07-3D67-9379-BB7B897320FA}"/>
              </a:ext>
            </a:extLst>
          </p:cNvPr>
          <p:cNvSpPr>
            <a:spLocks noGrp="1"/>
          </p:cNvSpPr>
          <p:nvPr>
            <p:ph type="title"/>
          </p:nvPr>
        </p:nvSpPr>
        <p:spPr>
          <a:xfrm>
            <a:off x="609600" y="787400"/>
            <a:ext cx="10972800" cy="762000"/>
          </a:xfrm>
        </p:spPr>
        <p:txBody>
          <a:bodyPr wrap="square" lIns="0" tIns="0" rIns="0" bIns="0" anchor="t">
            <a:noAutofit/>
          </a:bodyPr>
          <a:lstStyle/>
          <a:p>
            <a:r>
              <a:rPr lang="en-SG" sz="4000" b="1">
                <a:solidFill>
                  <a:srgbClr val="F7FAFD"/>
                </a:solidFill>
                <a:latin typeface="Segoe UI" panose="020B0502040204020203" pitchFamily="34" charset="0"/>
              </a:rPr>
              <a:t>The instructor stays in command</a:t>
            </a:r>
          </a:p>
        </p:txBody>
      </p:sp>
      <p:sp>
        <p:nvSpPr>
          <p:cNvPr id="3" name="TextBox 2">
            <a:extLst>
              <a:ext uri="{FF2B5EF4-FFF2-40B4-BE49-F238E27FC236}">
                <a16:creationId xmlns:a16="http://schemas.microsoft.com/office/drawing/2014/main" id="{762A29C6-E727-7F00-0617-EF0D769C547D}"/>
              </a:ext>
            </a:extLst>
          </p:cNvPr>
          <p:cNvSpPr txBox="1"/>
          <p:nvPr/>
        </p:nvSpPr>
        <p:spPr>
          <a:xfrm>
            <a:off x="609600" y="457200"/>
            <a:ext cx="5969000" cy="254000"/>
          </a:xfrm>
          <a:prstGeom prst="rect">
            <a:avLst/>
          </a:prstGeom>
          <a:noFill/>
        </p:spPr>
        <p:txBody>
          <a:bodyPr vert="horz" wrap="square" lIns="0" tIns="0" rIns="0" bIns="0" rtlCol="0">
            <a:noAutofit/>
          </a:bodyPr>
          <a:lstStyle/>
          <a:p>
            <a:r>
              <a:rPr lang="en-SG" sz="1400">
                <a:solidFill>
                  <a:srgbClr val="2F9DFF"/>
                </a:solidFill>
                <a:latin typeface="Consolas" panose="020B0609020204030204" pitchFamily="49" charset="0"/>
              </a:rPr>
              <a:t>CONTROL</a:t>
            </a:r>
          </a:p>
        </p:txBody>
      </p:sp>
      <p:sp>
        <p:nvSpPr>
          <p:cNvPr id="4" name="Rectangle: Rounded Corners 3">
            <a:extLst>
              <a:ext uri="{FF2B5EF4-FFF2-40B4-BE49-F238E27FC236}">
                <a16:creationId xmlns:a16="http://schemas.microsoft.com/office/drawing/2014/main" id="{39958F39-BDEB-21D3-04E2-CBA9F01E577A}"/>
              </a:ext>
            </a:extLst>
          </p:cNvPr>
          <p:cNvSpPr/>
          <p:nvPr/>
        </p:nvSpPr>
        <p:spPr>
          <a:xfrm>
            <a:off x="609600" y="1905000"/>
            <a:ext cx="5334000" cy="19558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Oval 4">
            <a:extLst>
              <a:ext uri="{FF2B5EF4-FFF2-40B4-BE49-F238E27FC236}">
                <a16:creationId xmlns:a16="http://schemas.microsoft.com/office/drawing/2014/main" id="{8EDB9ADD-FAD8-BF8A-F9F3-C20C5DF4AB4B}"/>
              </a:ext>
            </a:extLst>
          </p:cNvPr>
          <p:cNvSpPr/>
          <p:nvPr/>
        </p:nvSpPr>
        <p:spPr>
          <a:xfrm>
            <a:off x="889000" y="2184400"/>
            <a:ext cx="508000" cy="508000"/>
          </a:xfrm>
          <a:prstGeom prst="ellipse">
            <a:avLst/>
          </a:prstGeom>
          <a:solidFill>
            <a:srgbClr val="1A2D47"/>
          </a:solidFill>
          <a:ln w="9525">
            <a:solidFill>
              <a:srgbClr val="4A78A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SG" b="1">
                <a:solidFill>
                  <a:srgbClr val="F7FAFD"/>
                </a:solidFill>
                <a:latin typeface="Consolas" panose="020B0609020204030204" pitchFamily="49" charset="0"/>
              </a:rPr>
              <a:t>1</a:t>
            </a:r>
          </a:p>
        </p:txBody>
      </p:sp>
      <p:sp>
        <p:nvSpPr>
          <p:cNvPr id="6" name="TextBox 5">
            <a:extLst>
              <a:ext uri="{FF2B5EF4-FFF2-40B4-BE49-F238E27FC236}">
                <a16:creationId xmlns:a16="http://schemas.microsoft.com/office/drawing/2014/main" id="{153A47D3-ADFA-6844-815F-AB185788F131}"/>
              </a:ext>
            </a:extLst>
          </p:cNvPr>
          <p:cNvSpPr txBox="1"/>
          <p:nvPr/>
        </p:nvSpPr>
        <p:spPr>
          <a:xfrm>
            <a:off x="1600200" y="2235200"/>
            <a:ext cx="4140200" cy="406400"/>
          </a:xfrm>
          <a:prstGeom prst="rect">
            <a:avLst/>
          </a:prstGeom>
          <a:noFill/>
        </p:spPr>
        <p:txBody>
          <a:bodyPr vert="horz" wrap="square" lIns="0" tIns="0" rIns="0" bIns="0" rtlCol="0">
            <a:noAutofit/>
          </a:bodyPr>
          <a:lstStyle/>
          <a:p>
            <a:r>
              <a:rPr lang="en-SG" sz="2000" b="1">
                <a:solidFill>
                  <a:srgbClr val="F7FAFD"/>
                </a:solidFill>
                <a:latin typeface="Segoe UI" panose="020B0502040204020203" pitchFamily="34" charset="0"/>
              </a:rPr>
              <a:t>Limits the AI cannot leave</a:t>
            </a:r>
          </a:p>
        </p:txBody>
      </p:sp>
      <p:sp>
        <p:nvSpPr>
          <p:cNvPr id="7" name="TextBox 6">
            <a:extLst>
              <a:ext uri="{FF2B5EF4-FFF2-40B4-BE49-F238E27FC236}">
                <a16:creationId xmlns:a16="http://schemas.microsoft.com/office/drawing/2014/main" id="{5F019803-BD42-1518-7372-ABA92A82EFC1}"/>
              </a:ext>
            </a:extLst>
          </p:cNvPr>
          <p:cNvSpPr txBox="1"/>
          <p:nvPr/>
        </p:nvSpPr>
        <p:spPr>
          <a:xfrm>
            <a:off x="889000" y="2895600"/>
            <a:ext cx="4775200" cy="838200"/>
          </a:xfrm>
          <a:prstGeom prst="rect">
            <a:avLst/>
          </a:prstGeom>
          <a:noFill/>
        </p:spPr>
        <p:txBody>
          <a:bodyPr vert="horz" wrap="square" lIns="0" tIns="0" rIns="0" bIns="0" rtlCol="0">
            <a:noAutofit/>
          </a:bodyPr>
          <a:lstStyle/>
          <a:p>
            <a:r>
              <a:rPr lang="en-SG" sz="1600">
                <a:solidFill>
                  <a:srgbClr val="E1EAF4"/>
                </a:solidFill>
                <a:latin typeface="Segoe UI" panose="020B0502040204020203" pitchFamily="34" charset="0"/>
              </a:rPr>
              <a:t>Min, base and max for each setting. A clamped value is marked.</a:t>
            </a:r>
          </a:p>
        </p:txBody>
      </p:sp>
      <p:sp>
        <p:nvSpPr>
          <p:cNvPr id="8" name="Rectangle: Rounded Corners 7">
            <a:extLst>
              <a:ext uri="{FF2B5EF4-FFF2-40B4-BE49-F238E27FC236}">
                <a16:creationId xmlns:a16="http://schemas.microsoft.com/office/drawing/2014/main" id="{501523CD-5CE4-6ED2-E2A4-36DF2024DF45}"/>
              </a:ext>
            </a:extLst>
          </p:cNvPr>
          <p:cNvSpPr/>
          <p:nvPr/>
        </p:nvSpPr>
        <p:spPr>
          <a:xfrm>
            <a:off x="6248400" y="1905000"/>
            <a:ext cx="5334000" cy="19558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9D0B75B9-088B-08B5-EF96-6209638F1FA2}"/>
              </a:ext>
            </a:extLst>
          </p:cNvPr>
          <p:cNvSpPr/>
          <p:nvPr/>
        </p:nvSpPr>
        <p:spPr>
          <a:xfrm>
            <a:off x="6527800" y="2184400"/>
            <a:ext cx="508000" cy="508000"/>
          </a:xfrm>
          <a:prstGeom prst="ellipse">
            <a:avLst/>
          </a:prstGeom>
          <a:solidFill>
            <a:srgbClr val="1A2D47"/>
          </a:solidFill>
          <a:ln w="9525">
            <a:solidFill>
              <a:srgbClr val="4A78A8"/>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SG" b="1">
                <a:solidFill>
                  <a:srgbClr val="F7FAFD"/>
                </a:solidFill>
                <a:latin typeface="Consolas" panose="020B0609020204030204" pitchFamily="49" charset="0"/>
              </a:rPr>
              <a:t>2</a:t>
            </a:r>
          </a:p>
        </p:txBody>
      </p:sp>
      <p:sp>
        <p:nvSpPr>
          <p:cNvPr id="10" name="TextBox 9">
            <a:extLst>
              <a:ext uri="{FF2B5EF4-FFF2-40B4-BE49-F238E27FC236}">
                <a16:creationId xmlns:a16="http://schemas.microsoft.com/office/drawing/2014/main" id="{E08245A5-EE12-8CC2-2231-90EBD20568D5}"/>
              </a:ext>
            </a:extLst>
          </p:cNvPr>
          <p:cNvSpPr txBox="1"/>
          <p:nvPr/>
        </p:nvSpPr>
        <p:spPr>
          <a:xfrm>
            <a:off x="7239000" y="2235200"/>
            <a:ext cx="4140200" cy="406400"/>
          </a:xfrm>
          <a:prstGeom prst="rect">
            <a:avLst/>
          </a:prstGeom>
          <a:noFill/>
        </p:spPr>
        <p:txBody>
          <a:bodyPr vert="horz" wrap="square" lIns="0" tIns="0" rIns="0" bIns="0" rtlCol="0">
            <a:noAutofit/>
          </a:bodyPr>
          <a:lstStyle/>
          <a:p>
            <a:r>
              <a:rPr lang="en-SG" sz="2000" b="1">
                <a:solidFill>
                  <a:srgbClr val="F7FAFD"/>
                </a:solidFill>
                <a:latin typeface="Segoe UI" panose="020B0502040204020203" pitchFamily="34" charset="0"/>
              </a:rPr>
              <a:t>Fixed mode for assessment</a:t>
            </a:r>
          </a:p>
        </p:txBody>
      </p:sp>
      <p:sp>
        <p:nvSpPr>
          <p:cNvPr id="11" name="TextBox 10">
            <a:extLst>
              <a:ext uri="{FF2B5EF4-FFF2-40B4-BE49-F238E27FC236}">
                <a16:creationId xmlns:a16="http://schemas.microsoft.com/office/drawing/2014/main" id="{8640169F-7AA5-F627-E45D-B059925D3D27}"/>
              </a:ext>
            </a:extLst>
          </p:cNvPr>
          <p:cNvSpPr txBox="1"/>
          <p:nvPr/>
        </p:nvSpPr>
        <p:spPr>
          <a:xfrm>
            <a:off x="6527800" y="2895600"/>
            <a:ext cx="4775200" cy="838200"/>
          </a:xfrm>
          <a:prstGeom prst="rect">
            <a:avLst/>
          </a:prstGeom>
          <a:noFill/>
        </p:spPr>
        <p:txBody>
          <a:bodyPr vert="horz" wrap="square" lIns="0" tIns="0" rIns="0" bIns="0" rtlCol="0">
            <a:noAutofit/>
          </a:bodyPr>
          <a:lstStyle/>
          <a:p>
            <a:r>
              <a:rPr lang="en-SG" sz="1600">
                <a:solidFill>
                  <a:srgbClr val="E1EAF4"/>
                </a:solidFill>
                <a:latin typeface="Segoe UI" panose="020B0502040204020203" pitchFamily="34" charset="0"/>
              </a:rPr>
              <a:t>Zero adjustments, a different badge. Practice and assessment stay apart.</a:t>
            </a:r>
          </a:p>
        </p:txBody>
      </p:sp>
      <p:sp>
        <p:nvSpPr>
          <p:cNvPr id="12" name="Rectangle: Rounded Corners 11">
            <a:extLst>
              <a:ext uri="{FF2B5EF4-FFF2-40B4-BE49-F238E27FC236}">
                <a16:creationId xmlns:a16="http://schemas.microsoft.com/office/drawing/2014/main" id="{D2B5EF23-5595-73FF-EC13-E2D0BC185EAE}"/>
              </a:ext>
            </a:extLst>
          </p:cNvPr>
          <p:cNvSpPr/>
          <p:nvPr/>
        </p:nvSpPr>
        <p:spPr>
          <a:xfrm>
            <a:off x="609600" y="4064000"/>
            <a:ext cx="5334000" cy="19558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Oval 12">
            <a:extLst>
              <a:ext uri="{FF2B5EF4-FFF2-40B4-BE49-F238E27FC236}">
                <a16:creationId xmlns:a16="http://schemas.microsoft.com/office/drawing/2014/main" id="{49E520A6-1A74-C275-C0FC-34E29322E211}"/>
              </a:ext>
            </a:extLst>
          </p:cNvPr>
          <p:cNvSpPr/>
          <p:nvPr/>
        </p:nvSpPr>
        <p:spPr>
          <a:xfrm>
            <a:off x="889000" y="4343400"/>
            <a:ext cx="508000" cy="508000"/>
          </a:xfrm>
          <a:prstGeom prst="ellipse">
            <a:avLst/>
          </a:prstGeom>
          <a:solidFill>
            <a:srgbClr val="24183F"/>
          </a:solidFill>
          <a:ln w="9525">
            <a:solidFill>
              <a:srgbClr val="B98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SG" b="1">
                <a:solidFill>
                  <a:srgbClr val="EBDFFF"/>
                </a:solidFill>
                <a:latin typeface="Consolas" panose="020B0609020204030204" pitchFamily="49" charset="0"/>
              </a:rPr>
              <a:t>3</a:t>
            </a:r>
          </a:p>
        </p:txBody>
      </p:sp>
      <p:sp>
        <p:nvSpPr>
          <p:cNvPr id="14" name="TextBox 13">
            <a:extLst>
              <a:ext uri="{FF2B5EF4-FFF2-40B4-BE49-F238E27FC236}">
                <a16:creationId xmlns:a16="http://schemas.microsoft.com/office/drawing/2014/main" id="{3FAF8422-0235-27F9-056A-67355BD98068}"/>
              </a:ext>
            </a:extLst>
          </p:cNvPr>
          <p:cNvSpPr txBox="1"/>
          <p:nvPr/>
        </p:nvSpPr>
        <p:spPr>
          <a:xfrm>
            <a:off x="1600200" y="4394200"/>
            <a:ext cx="4140200" cy="406400"/>
          </a:xfrm>
          <a:prstGeom prst="rect">
            <a:avLst/>
          </a:prstGeom>
          <a:noFill/>
        </p:spPr>
        <p:txBody>
          <a:bodyPr vert="horz" wrap="square" lIns="0" tIns="0" rIns="0" bIns="0" rtlCol="0">
            <a:noAutofit/>
          </a:bodyPr>
          <a:lstStyle/>
          <a:p>
            <a:r>
              <a:rPr lang="en-SG" sz="2000" b="1">
                <a:solidFill>
                  <a:srgbClr val="F7FAFD"/>
                </a:solidFill>
                <a:latin typeface="Segoe UI" panose="020B0502040204020203" pitchFamily="34" charset="0"/>
              </a:rPr>
              <a:t>Steer in plain language</a:t>
            </a:r>
          </a:p>
        </p:txBody>
      </p:sp>
      <p:sp>
        <p:nvSpPr>
          <p:cNvPr id="15" name="TextBox 14">
            <a:extLst>
              <a:ext uri="{FF2B5EF4-FFF2-40B4-BE49-F238E27FC236}">
                <a16:creationId xmlns:a16="http://schemas.microsoft.com/office/drawing/2014/main" id="{69ECB924-5ABD-711C-3CC3-F70064EDA5C3}"/>
              </a:ext>
            </a:extLst>
          </p:cNvPr>
          <p:cNvSpPr txBox="1"/>
          <p:nvPr/>
        </p:nvSpPr>
        <p:spPr>
          <a:xfrm>
            <a:off x="889000" y="5054600"/>
            <a:ext cx="4775200" cy="838200"/>
          </a:xfrm>
          <a:prstGeom prst="rect">
            <a:avLst/>
          </a:prstGeom>
          <a:noFill/>
        </p:spPr>
        <p:txBody>
          <a:bodyPr vert="horz" wrap="square" lIns="0" tIns="0" rIns="0" bIns="0" rtlCol="0">
            <a:noAutofit/>
          </a:bodyPr>
          <a:lstStyle/>
          <a:p>
            <a:r>
              <a:rPr lang="en-SG" sz="1600">
                <a:solidFill>
                  <a:srgbClr val="E1EAF4"/>
                </a:solidFill>
                <a:latin typeface="Segoe UI" panose="020B0502040204020203" pitchFamily="34" charset="0"/>
              </a:rPr>
              <a:t>The typed request becomes a directive, shown before it applies.</a:t>
            </a:r>
          </a:p>
        </p:txBody>
      </p:sp>
      <p:sp>
        <p:nvSpPr>
          <p:cNvPr id="16" name="Rectangle: Rounded Corners 15">
            <a:extLst>
              <a:ext uri="{FF2B5EF4-FFF2-40B4-BE49-F238E27FC236}">
                <a16:creationId xmlns:a16="http://schemas.microsoft.com/office/drawing/2014/main" id="{748DF49C-4E1B-3401-5BFF-5D92B58C0CA4}"/>
              </a:ext>
            </a:extLst>
          </p:cNvPr>
          <p:cNvSpPr/>
          <p:nvPr/>
        </p:nvSpPr>
        <p:spPr>
          <a:xfrm>
            <a:off x="6248400" y="4064000"/>
            <a:ext cx="5334000" cy="19558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 name="Oval 16">
            <a:extLst>
              <a:ext uri="{FF2B5EF4-FFF2-40B4-BE49-F238E27FC236}">
                <a16:creationId xmlns:a16="http://schemas.microsoft.com/office/drawing/2014/main" id="{7129EF57-4ECE-F87E-A7F4-6F87E6923A46}"/>
              </a:ext>
            </a:extLst>
          </p:cNvPr>
          <p:cNvSpPr/>
          <p:nvPr/>
        </p:nvSpPr>
        <p:spPr>
          <a:xfrm>
            <a:off x="6527800" y="4343400"/>
            <a:ext cx="508000" cy="508000"/>
          </a:xfrm>
          <a:prstGeom prst="ellipse">
            <a:avLst/>
          </a:prstGeom>
          <a:solidFill>
            <a:srgbClr val="24183F"/>
          </a:solidFill>
          <a:ln w="9525">
            <a:solidFill>
              <a:srgbClr val="B98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SG" b="1">
                <a:solidFill>
                  <a:srgbClr val="EBDFFF"/>
                </a:solidFill>
                <a:latin typeface="Consolas" panose="020B0609020204030204" pitchFamily="49" charset="0"/>
              </a:rPr>
              <a:t>4</a:t>
            </a:r>
          </a:p>
        </p:txBody>
      </p:sp>
      <p:sp>
        <p:nvSpPr>
          <p:cNvPr id="18" name="TextBox 17">
            <a:extLst>
              <a:ext uri="{FF2B5EF4-FFF2-40B4-BE49-F238E27FC236}">
                <a16:creationId xmlns:a16="http://schemas.microsoft.com/office/drawing/2014/main" id="{EF4F43E2-6DE1-2F9B-FC44-1603DEFB2354}"/>
              </a:ext>
            </a:extLst>
          </p:cNvPr>
          <p:cNvSpPr txBox="1"/>
          <p:nvPr/>
        </p:nvSpPr>
        <p:spPr>
          <a:xfrm>
            <a:off x="7239000" y="4394200"/>
            <a:ext cx="4140200" cy="406400"/>
          </a:xfrm>
          <a:prstGeom prst="rect">
            <a:avLst/>
          </a:prstGeom>
          <a:noFill/>
        </p:spPr>
        <p:txBody>
          <a:bodyPr vert="horz" wrap="square" lIns="0" tIns="0" rIns="0" bIns="0" rtlCol="0">
            <a:noAutofit/>
          </a:bodyPr>
          <a:lstStyle/>
          <a:p>
            <a:r>
              <a:rPr lang="en-SG" sz="2000" b="1">
                <a:solidFill>
                  <a:srgbClr val="F7FAFD"/>
                </a:solidFill>
                <a:latin typeface="Segoe UI" panose="020B0502040204020203" pitchFamily="34" charset="0"/>
              </a:rPr>
              <a:t>Figures come from code</a:t>
            </a:r>
          </a:p>
        </p:txBody>
      </p:sp>
      <p:sp>
        <p:nvSpPr>
          <p:cNvPr id="19" name="TextBox 18">
            <a:extLst>
              <a:ext uri="{FF2B5EF4-FFF2-40B4-BE49-F238E27FC236}">
                <a16:creationId xmlns:a16="http://schemas.microsoft.com/office/drawing/2014/main" id="{8CCD9C55-DE2C-A560-6973-481FC2AE29B1}"/>
              </a:ext>
            </a:extLst>
          </p:cNvPr>
          <p:cNvSpPr txBox="1"/>
          <p:nvPr/>
        </p:nvSpPr>
        <p:spPr>
          <a:xfrm>
            <a:off x="6527800" y="5054600"/>
            <a:ext cx="4775200" cy="838200"/>
          </a:xfrm>
          <a:prstGeom prst="rect">
            <a:avLst/>
          </a:prstGeom>
          <a:noFill/>
        </p:spPr>
        <p:txBody>
          <a:bodyPr vert="horz" wrap="square" lIns="0" tIns="0" rIns="0" bIns="0" rtlCol="0">
            <a:noAutofit/>
          </a:bodyPr>
          <a:lstStyle/>
          <a:p>
            <a:r>
              <a:rPr lang="en-SG" sz="1600">
                <a:solidFill>
                  <a:srgbClr val="E1EAF4"/>
                </a:solidFill>
                <a:latin typeface="Segoe UI" panose="020B0502040204020203" pitchFamily="34" charset="0"/>
              </a:rPr>
              <a:t>The optional local LLM only rephrases. It never adds a number.</a:t>
            </a:r>
          </a:p>
        </p:txBody>
      </p:sp>
      <p:sp>
        <p:nvSpPr>
          <p:cNvPr id="20" name="TextBox 19">
            <a:extLst>
              <a:ext uri="{FF2B5EF4-FFF2-40B4-BE49-F238E27FC236}">
                <a16:creationId xmlns:a16="http://schemas.microsoft.com/office/drawing/2014/main" id="{3BDD1699-46AA-0BCE-9254-97361503425B}"/>
              </a:ext>
            </a:extLst>
          </p:cNvPr>
          <p:cNvSpPr txBox="1"/>
          <p:nvPr/>
        </p:nvSpPr>
        <p:spPr>
          <a:xfrm>
            <a:off x="609600" y="6400800"/>
            <a:ext cx="8890000" cy="228600"/>
          </a:xfrm>
          <a:prstGeom prst="rect">
            <a:avLst/>
          </a:prstGeom>
          <a:noFill/>
        </p:spPr>
        <p:txBody>
          <a:bodyPr vert="horz" wrap="square" lIns="0" tIns="0" rIns="0" bIns="0" rtlCol="0">
            <a:noAutofit/>
          </a:bodyPr>
          <a:lstStyle/>
          <a:p>
            <a:r>
              <a:rPr lang="en-SG" sz="1200">
                <a:solidFill>
                  <a:srgbClr val="93ABC6"/>
                </a:solidFill>
                <a:latin typeface="Consolas" panose="020B0609020204030204" pitchFamily="49" charset="0"/>
              </a:rPr>
              <a:t>ADAPTIVE CGF TRAINER</a:t>
            </a:r>
          </a:p>
        </p:txBody>
      </p:sp>
      <p:sp>
        <p:nvSpPr>
          <p:cNvPr id="21" name="TextBox 20">
            <a:extLst>
              <a:ext uri="{FF2B5EF4-FFF2-40B4-BE49-F238E27FC236}">
                <a16:creationId xmlns:a16="http://schemas.microsoft.com/office/drawing/2014/main" id="{F172679D-74EA-65A7-F8DA-8CE1A2EAA576}"/>
              </a:ext>
            </a:extLst>
          </p:cNvPr>
          <p:cNvSpPr txBox="1"/>
          <p:nvPr/>
        </p:nvSpPr>
        <p:spPr>
          <a:xfrm>
            <a:off x="10312400" y="6400800"/>
            <a:ext cx="1270000" cy="228600"/>
          </a:xfrm>
          <a:prstGeom prst="rect">
            <a:avLst/>
          </a:prstGeom>
          <a:noFill/>
        </p:spPr>
        <p:txBody>
          <a:bodyPr vert="horz" wrap="square" lIns="0" tIns="0" rIns="0" bIns="0" rtlCol="0">
            <a:noAutofit/>
          </a:bodyPr>
          <a:lstStyle/>
          <a:p>
            <a:pPr algn="r"/>
            <a:r>
              <a:rPr lang="en-SG" sz="1200">
                <a:solidFill>
                  <a:srgbClr val="93ABC6"/>
                </a:solidFill>
                <a:latin typeface="Consolas" panose="020B0609020204030204" pitchFamily="49" charset="0"/>
              </a:rPr>
              <a:t>09</a:t>
            </a:r>
          </a:p>
        </p:txBody>
      </p:sp>
    </p:spTree>
    <p:extLst>
      <p:ext uri="{BB962C8B-B14F-4D97-AF65-F5344CB8AC3E}">
        <p14:creationId xmlns:p14="http://schemas.microsoft.com/office/powerpoint/2010/main" val="2770566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C3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7A25D-1241-0B92-7D3E-EA990C537219}"/>
              </a:ext>
            </a:extLst>
          </p:cNvPr>
          <p:cNvSpPr>
            <a:spLocks noGrp="1"/>
          </p:cNvSpPr>
          <p:nvPr>
            <p:ph type="title"/>
          </p:nvPr>
        </p:nvSpPr>
        <p:spPr>
          <a:xfrm>
            <a:off x="609600" y="787400"/>
            <a:ext cx="10972800" cy="1270000"/>
          </a:xfrm>
        </p:spPr>
        <p:txBody>
          <a:bodyPr wrap="square" lIns="0" tIns="0" rIns="0" bIns="0" anchor="t">
            <a:noAutofit/>
          </a:bodyPr>
          <a:lstStyle/>
          <a:p>
            <a:r>
              <a:rPr lang="en-SG" sz="3600" b="1">
                <a:solidFill>
                  <a:srgbClr val="F7FAFD"/>
                </a:solidFill>
                <a:latin typeface="Segoe UI" panose="020B0502040204020203" pitchFamily="34" charset="0"/>
              </a:rPr>
              <a:t>The report feeds the profile for next time</a:t>
            </a:r>
          </a:p>
        </p:txBody>
      </p:sp>
      <p:sp>
        <p:nvSpPr>
          <p:cNvPr id="3" name="TextBox 2">
            <a:extLst>
              <a:ext uri="{FF2B5EF4-FFF2-40B4-BE49-F238E27FC236}">
                <a16:creationId xmlns:a16="http://schemas.microsoft.com/office/drawing/2014/main" id="{CF2C02D9-5E5C-0784-82D1-5CAC108DB24D}"/>
              </a:ext>
            </a:extLst>
          </p:cNvPr>
          <p:cNvSpPr txBox="1"/>
          <p:nvPr/>
        </p:nvSpPr>
        <p:spPr>
          <a:xfrm>
            <a:off x="609600" y="457200"/>
            <a:ext cx="5969000" cy="254000"/>
          </a:xfrm>
          <a:prstGeom prst="rect">
            <a:avLst/>
          </a:prstGeom>
          <a:noFill/>
        </p:spPr>
        <p:txBody>
          <a:bodyPr vert="horz" wrap="square" lIns="0" tIns="0" rIns="0" bIns="0" rtlCol="0">
            <a:noAutofit/>
          </a:bodyPr>
          <a:lstStyle/>
          <a:p>
            <a:r>
              <a:rPr lang="en-SG" sz="1400">
                <a:solidFill>
                  <a:srgbClr val="2F9DFF"/>
                </a:solidFill>
                <a:latin typeface="Consolas" panose="020B0609020204030204" pitchFamily="49" charset="0"/>
              </a:rPr>
              <a:t>DEBRIEF</a:t>
            </a:r>
          </a:p>
        </p:txBody>
      </p:sp>
      <p:sp>
        <p:nvSpPr>
          <p:cNvPr id="4" name="TextBox 3">
            <a:extLst>
              <a:ext uri="{FF2B5EF4-FFF2-40B4-BE49-F238E27FC236}">
                <a16:creationId xmlns:a16="http://schemas.microsoft.com/office/drawing/2014/main" id="{279D2AFE-0ADD-9BA2-16D6-0940C33C9810}"/>
              </a:ext>
            </a:extLst>
          </p:cNvPr>
          <p:cNvSpPr txBox="1"/>
          <p:nvPr/>
        </p:nvSpPr>
        <p:spPr>
          <a:xfrm>
            <a:off x="609600" y="2235200"/>
            <a:ext cx="3175000" cy="330200"/>
          </a:xfrm>
          <a:prstGeom prst="rect">
            <a:avLst/>
          </a:prstGeom>
          <a:noFill/>
        </p:spPr>
        <p:txBody>
          <a:bodyPr vert="horz" wrap="square" lIns="0" tIns="0" rIns="0" bIns="0" rtlCol="0">
            <a:noAutofit/>
          </a:bodyPr>
          <a:lstStyle/>
          <a:p>
            <a:r>
              <a:rPr lang="en-SG" b="1">
                <a:solidFill>
                  <a:srgbClr val="F7FAFD"/>
                </a:solidFill>
                <a:latin typeface="Segoe UI" panose="020B0502040204020203" pitchFamily="34" charset="0"/>
              </a:rPr>
              <a:t>One debrief per trainee</a:t>
            </a:r>
          </a:p>
        </p:txBody>
      </p:sp>
      <p:sp>
        <p:nvSpPr>
          <p:cNvPr id="5" name="TextBox 4">
            <a:extLst>
              <a:ext uri="{FF2B5EF4-FFF2-40B4-BE49-F238E27FC236}">
                <a16:creationId xmlns:a16="http://schemas.microsoft.com/office/drawing/2014/main" id="{22576DF3-6068-08E4-6C65-6C6DD393CD90}"/>
              </a:ext>
            </a:extLst>
          </p:cNvPr>
          <p:cNvSpPr txBox="1"/>
          <p:nvPr/>
        </p:nvSpPr>
        <p:spPr>
          <a:xfrm>
            <a:off x="609600" y="2590800"/>
            <a:ext cx="3175000" cy="8128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Events handled, focus area, and why the CGFs acted.</a:t>
            </a:r>
          </a:p>
        </p:txBody>
      </p:sp>
      <p:sp>
        <p:nvSpPr>
          <p:cNvPr id="6" name="TextBox 5">
            <a:extLst>
              <a:ext uri="{FF2B5EF4-FFF2-40B4-BE49-F238E27FC236}">
                <a16:creationId xmlns:a16="http://schemas.microsoft.com/office/drawing/2014/main" id="{01CBF03D-BF95-B5B2-4DC9-A37E6B9669CD}"/>
              </a:ext>
            </a:extLst>
          </p:cNvPr>
          <p:cNvSpPr txBox="1"/>
          <p:nvPr/>
        </p:nvSpPr>
        <p:spPr>
          <a:xfrm>
            <a:off x="609600" y="3581400"/>
            <a:ext cx="3175000" cy="330200"/>
          </a:xfrm>
          <a:prstGeom prst="rect">
            <a:avLst/>
          </a:prstGeom>
          <a:noFill/>
        </p:spPr>
        <p:txBody>
          <a:bodyPr vert="horz" wrap="square" lIns="0" tIns="0" rIns="0" bIns="0" rtlCol="0">
            <a:noAutofit/>
          </a:bodyPr>
          <a:lstStyle/>
          <a:p>
            <a:r>
              <a:rPr lang="en-SG" b="1">
                <a:solidFill>
                  <a:srgbClr val="F7FAFD"/>
                </a:solidFill>
                <a:latin typeface="Segoe UI" panose="020B0502040204020203" pitchFamily="34" charset="0"/>
              </a:rPr>
              <a:t>Pressure over time</a:t>
            </a:r>
          </a:p>
        </p:txBody>
      </p:sp>
      <p:sp>
        <p:nvSpPr>
          <p:cNvPr id="7" name="TextBox 6">
            <a:extLst>
              <a:ext uri="{FF2B5EF4-FFF2-40B4-BE49-F238E27FC236}">
                <a16:creationId xmlns:a16="http://schemas.microsoft.com/office/drawing/2014/main" id="{BC2F31A8-0835-D5C1-67EC-22584D4E1E3E}"/>
              </a:ext>
            </a:extLst>
          </p:cNvPr>
          <p:cNvSpPr txBox="1"/>
          <p:nvPr/>
        </p:nvSpPr>
        <p:spPr>
          <a:xfrm>
            <a:off x="609600" y="3937000"/>
            <a:ext cx="3175000" cy="8128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A chart of CGF pressure against the trainee’s success rate.</a:t>
            </a:r>
          </a:p>
        </p:txBody>
      </p:sp>
      <p:sp>
        <p:nvSpPr>
          <p:cNvPr id="8" name="TextBox 7">
            <a:extLst>
              <a:ext uri="{FF2B5EF4-FFF2-40B4-BE49-F238E27FC236}">
                <a16:creationId xmlns:a16="http://schemas.microsoft.com/office/drawing/2014/main" id="{2696B5A7-DBC4-C4DF-E53F-3E378072CDFB}"/>
              </a:ext>
            </a:extLst>
          </p:cNvPr>
          <p:cNvSpPr txBox="1"/>
          <p:nvPr/>
        </p:nvSpPr>
        <p:spPr>
          <a:xfrm>
            <a:off x="609600" y="4927600"/>
            <a:ext cx="3175000" cy="330200"/>
          </a:xfrm>
          <a:prstGeom prst="rect">
            <a:avLst/>
          </a:prstGeom>
          <a:noFill/>
        </p:spPr>
        <p:txBody>
          <a:bodyPr vert="horz" wrap="square" lIns="0" tIns="0" rIns="0" bIns="0" rtlCol="0">
            <a:noAutofit/>
          </a:bodyPr>
          <a:lstStyle/>
          <a:p>
            <a:r>
              <a:rPr lang="en-SG" b="1">
                <a:solidFill>
                  <a:srgbClr val="F7FAFD"/>
                </a:solidFill>
                <a:latin typeface="Segoe UI" panose="020B0502040204020203" pitchFamily="34" charset="0"/>
              </a:rPr>
              <a:t>Then the update</a:t>
            </a:r>
          </a:p>
        </p:txBody>
      </p:sp>
      <p:sp>
        <p:nvSpPr>
          <p:cNvPr id="9" name="TextBox 8">
            <a:extLst>
              <a:ext uri="{FF2B5EF4-FFF2-40B4-BE49-F238E27FC236}">
                <a16:creationId xmlns:a16="http://schemas.microsoft.com/office/drawing/2014/main" id="{9DB4326A-C943-7C40-129D-2F8B1FCA2017}"/>
              </a:ext>
            </a:extLst>
          </p:cNvPr>
          <p:cNvSpPr txBox="1"/>
          <p:nvPr/>
        </p:nvSpPr>
        <p:spPr>
          <a:xfrm>
            <a:off x="609600" y="5283200"/>
            <a:ext cx="3175000" cy="8128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The profile and history change, and the next target is predicted.</a:t>
            </a:r>
          </a:p>
        </p:txBody>
      </p:sp>
      <p:pic>
        <p:nvPicPr>
          <p:cNvPr id="11" name="Picture 10" descr="The end-of-training report: a table of trainees, a debrief with focus area, and a chart of CGF pressure">
            <a:extLst>
              <a:ext uri="{FF2B5EF4-FFF2-40B4-BE49-F238E27FC236}">
                <a16:creationId xmlns:a16="http://schemas.microsoft.com/office/drawing/2014/main" id="{477BE414-3F3B-67A3-315F-F52C252736B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89400" y="2235200"/>
            <a:ext cx="7493000" cy="3841589"/>
          </a:xfrm>
          <a:prstGeom prst="rect">
            <a:avLst/>
          </a:prstGeom>
          <a:ln w="9525">
            <a:solidFill>
              <a:srgbClr val="4A78A8"/>
            </a:solidFill>
          </a:ln>
        </p:spPr>
      </p:pic>
      <p:sp>
        <p:nvSpPr>
          <p:cNvPr id="12" name="TextBox 11">
            <a:extLst>
              <a:ext uri="{FF2B5EF4-FFF2-40B4-BE49-F238E27FC236}">
                <a16:creationId xmlns:a16="http://schemas.microsoft.com/office/drawing/2014/main" id="{A3761C2D-C378-FC57-78BB-2281A8494FCB}"/>
              </a:ext>
            </a:extLst>
          </p:cNvPr>
          <p:cNvSpPr txBox="1"/>
          <p:nvPr/>
        </p:nvSpPr>
        <p:spPr>
          <a:xfrm>
            <a:off x="609600" y="6400800"/>
            <a:ext cx="8890000" cy="228600"/>
          </a:xfrm>
          <a:prstGeom prst="rect">
            <a:avLst/>
          </a:prstGeom>
          <a:noFill/>
        </p:spPr>
        <p:txBody>
          <a:bodyPr vert="horz" wrap="square" lIns="0" tIns="0" rIns="0" bIns="0" rtlCol="0">
            <a:noAutofit/>
          </a:bodyPr>
          <a:lstStyle/>
          <a:p>
            <a:r>
              <a:rPr lang="en-SG" sz="1200">
                <a:solidFill>
                  <a:srgbClr val="93ABC6"/>
                </a:solidFill>
                <a:latin typeface="Consolas" panose="020B0609020204030204" pitchFamily="49" charset="0"/>
              </a:rPr>
              <a:t>ADAPTIVE CGF TRAINER  ·  SEEDED SESSION</a:t>
            </a:r>
          </a:p>
        </p:txBody>
      </p:sp>
      <p:sp>
        <p:nvSpPr>
          <p:cNvPr id="13" name="TextBox 12">
            <a:extLst>
              <a:ext uri="{FF2B5EF4-FFF2-40B4-BE49-F238E27FC236}">
                <a16:creationId xmlns:a16="http://schemas.microsoft.com/office/drawing/2014/main" id="{7474DE21-EB36-4839-7E14-94D2DC843D95}"/>
              </a:ext>
            </a:extLst>
          </p:cNvPr>
          <p:cNvSpPr txBox="1"/>
          <p:nvPr/>
        </p:nvSpPr>
        <p:spPr>
          <a:xfrm>
            <a:off x="10312400" y="6400800"/>
            <a:ext cx="1270000" cy="228600"/>
          </a:xfrm>
          <a:prstGeom prst="rect">
            <a:avLst/>
          </a:prstGeom>
          <a:noFill/>
        </p:spPr>
        <p:txBody>
          <a:bodyPr vert="horz" wrap="square" lIns="0" tIns="0" rIns="0" bIns="0" rtlCol="0">
            <a:noAutofit/>
          </a:bodyPr>
          <a:lstStyle/>
          <a:p>
            <a:pPr algn="r"/>
            <a:r>
              <a:rPr lang="en-SG" sz="1200">
                <a:solidFill>
                  <a:srgbClr val="93ABC6"/>
                </a:solidFill>
                <a:latin typeface="Consolas" panose="020B0609020204030204" pitchFamily="49" charset="0"/>
              </a:rPr>
              <a:t>10</a:t>
            </a:r>
          </a:p>
        </p:txBody>
      </p:sp>
    </p:spTree>
    <p:extLst>
      <p:ext uri="{BB962C8B-B14F-4D97-AF65-F5344CB8AC3E}">
        <p14:creationId xmlns:p14="http://schemas.microsoft.com/office/powerpoint/2010/main" val="2674717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142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03379-9F8E-A94A-7170-1716D5DCCDA5}"/>
              </a:ext>
            </a:extLst>
          </p:cNvPr>
          <p:cNvSpPr>
            <a:spLocks noGrp="1"/>
          </p:cNvSpPr>
          <p:nvPr>
            <p:ph type="title"/>
          </p:nvPr>
        </p:nvSpPr>
        <p:spPr>
          <a:xfrm>
            <a:off x="609600" y="787400"/>
            <a:ext cx="10972800" cy="1270000"/>
          </a:xfrm>
        </p:spPr>
        <p:txBody>
          <a:bodyPr wrap="square" lIns="0" tIns="0" rIns="0" bIns="0" anchor="t">
            <a:noAutofit/>
          </a:bodyPr>
          <a:lstStyle/>
          <a:p>
            <a:r>
              <a:rPr lang="en-SG" sz="3600" b="1">
                <a:solidFill>
                  <a:srgbClr val="F7FAFD"/>
                </a:solidFill>
                <a:latin typeface="Segoe UI" panose="020B0502040204020203" pitchFamily="34" charset="0"/>
              </a:rPr>
              <a:t>Where the whole intake is developing</a:t>
            </a:r>
          </a:p>
        </p:txBody>
      </p:sp>
      <p:sp>
        <p:nvSpPr>
          <p:cNvPr id="3" name="TextBox 2">
            <a:extLst>
              <a:ext uri="{FF2B5EF4-FFF2-40B4-BE49-F238E27FC236}">
                <a16:creationId xmlns:a16="http://schemas.microsoft.com/office/drawing/2014/main" id="{E5A8E976-778D-0098-6433-53B18CCA462F}"/>
              </a:ext>
            </a:extLst>
          </p:cNvPr>
          <p:cNvSpPr txBox="1"/>
          <p:nvPr/>
        </p:nvSpPr>
        <p:spPr>
          <a:xfrm>
            <a:off x="609600" y="457200"/>
            <a:ext cx="5969000" cy="254000"/>
          </a:xfrm>
          <a:prstGeom prst="rect">
            <a:avLst/>
          </a:prstGeom>
          <a:noFill/>
        </p:spPr>
        <p:txBody>
          <a:bodyPr vert="horz" wrap="square" lIns="0" tIns="0" rIns="0" bIns="0" rtlCol="0">
            <a:noAutofit/>
          </a:bodyPr>
          <a:lstStyle/>
          <a:p>
            <a:r>
              <a:rPr lang="en-SG" sz="1400">
                <a:solidFill>
                  <a:srgbClr val="2F9DFF"/>
                </a:solidFill>
                <a:latin typeface="Consolas" panose="020B0609020204030204" pitchFamily="49" charset="0"/>
              </a:rPr>
              <a:t>COHORT</a:t>
            </a:r>
          </a:p>
        </p:txBody>
      </p:sp>
      <p:pic>
        <p:nvPicPr>
          <p:cNvPr id="5" name="Picture 4" descr="The cohort overview: competency means across 22 trainees and a heatmap by trainee">
            <a:extLst>
              <a:ext uri="{FF2B5EF4-FFF2-40B4-BE49-F238E27FC236}">
                <a16:creationId xmlns:a16="http://schemas.microsoft.com/office/drawing/2014/main" id="{FEB04D9E-B658-37BF-886C-58F66825BBF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2235200"/>
            <a:ext cx="7493000" cy="3841589"/>
          </a:xfrm>
          <a:prstGeom prst="rect">
            <a:avLst/>
          </a:prstGeom>
          <a:ln w="9525">
            <a:solidFill>
              <a:srgbClr val="4A78A8"/>
            </a:solidFill>
          </a:ln>
        </p:spPr>
      </p:pic>
      <p:sp>
        <p:nvSpPr>
          <p:cNvPr id="6" name="TextBox 5">
            <a:extLst>
              <a:ext uri="{FF2B5EF4-FFF2-40B4-BE49-F238E27FC236}">
                <a16:creationId xmlns:a16="http://schemas.microsoft.com/office/drawing/2014/main" id="{276A35DC-A385-8D12-6EE5-031FF6CFCB94}"/>
              </a:ext>
            </a:extLst>
          </p:cNvPr>
          <p:cNvSpPr txBox="1"/>
          <p:nvPr/>
        </p:nvSpPr>
        <p:spPr>
          <a:xfrm>
            <a:off x="8407400" y="2235200"/>
            <a:ext cx="3175000" cy="330200"/>
          </a:xfrm>
          <a:prstGeom prst="rect">
            <a:avLst/>
          </a:prstGeom>
          <a:noFill/>
        </p:spPr>
        <p:txBody>
          <a:bodyPr vert="horz" wrap="square" lIns="0" tIns="0" rIns="0" bIns="0" rtlCol="0">
            <a:noAutofit/>
          </a:bodyPr>
          <a:lstStyle/>
          <a:p>
            <a:r>
              <a:rPr lang="en-SG" b="1">
                <a:solidFill>
                  <a:srgbClr val="F7FAFD"/>
                </a:solidFill>
                <a:latin typeface="Segoe UI" panose="020B0502040204020203" pitchFamily="34" charset="0"/>
              </a:rPr>
              <a:t>22 synthetic trainees</a:t>
            </a:r>
          </a:p>
        </p:txBody>
      </p:sp>
      <p:sp>
        <p:nvSpPr>
          <p:cNvPr id="7" name="TextBox 6">
            <a:extLst>
              <a:ext uri="{FF2B5EF4-FFF2-40B4-BE49-F238E27FC236}">
                <a16:creationId xmlns:a16="http://schemas.microsoft.com/office/drawing/2014/main" id="{5D3DF68D-C9C0-5FF9-5A67-33CFBBE99C4D}"/>
              </a:ext>
            </a:extLst>
          </p:cNvPr>
          <p:cNvSpPr txBox="1"/>
          <p:nvPr/>
        </p:nvSpPr>
        <p:spPr>
          <a:xfrm>
            <a:off x="8407400" y="2590800"/>
            <a:ext cx="3175000" cy="8128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A heatmap of competencies, with the evidence behind each cell.</a:t>
            </a:r>
          </a:p>
        </p:txBody>
      </p:sp>
      <p:sp>
        <p:nvSpPr>
          <p:cNvPr id="8" name="TextBox 7">
            <a:extLst>
              <a:ext uri="{FF2B5EF4-FFF2-40B4-BE49-F238E27FC236}">
                <a16:creationId xmlns:a16="http://schemas.microsoft.com/office/drawing/2014/main" id="{4E7432A0-B4D7-ED14-AFCC-5D11F5634A95}"/>
              </a:ext>
            </a:extLst>
          </p:cNvPr>
          <p:cNvSpPr txBox="1"/>
          <p:nvPr/>
        </p:nvSpPr>
        <p:spPr>
          <a:xfrm>
            <a:off x="8407400" y="3581400"/>
            <a:ext cx="3175000" cy="330200"/>
          </a:xfrm>
          <a:prstGeom prst="rect">
            <a:avLst/>
          </a:prstGeom>
          <a:noFill/>
        </p:spPr>
        <p:txBody>
          <a:bodyPr vert="horz" wrap="square" lIns="0" tIns="0" rIns="0" bIns="0" rtlCol="0">
            <a:noAutofit/>
          </a:bodyPr>
          <a:lstStyle/>
          <a:p>
            <a:r>
              <a:rPr lang="en-SG" b="1">
                <a:solidFill>
                  <a:srgbClr val="F7FAFD"/>
                </a:solidFill>
                <a:latin typeface="Segoe UI" panose="020B0502040204020203" pitchFamily="34" charset="0"/>
              </a:rPr>
              <a:t>5 of 9 measured</a:t>
            </a:r>
          </a:p>
        </p:txBody>
      </p:sp>
      <p:sp>
        <p:nvSpPr>
          <p:cNvPr id="9" name="TextBox 8">
            <a:extLst>
              <a:ext uri="{FF2B5EF4-FFF2-40B4-BE49-F238E27FC236}">
                <a16:creationId xmlns:a16="http://schemas.microsoft.com/office/drawing/2014/main" id="{D8954B56-F5B0-DA13-EF40-D66F1D1B9AED}"/>
              </a:ext>
            </a:extLst>
          </p:cNvPr>
          <p:cNvSpPr txBox="1"/>
          <p:nvPr/>
        </p:nvSpPr>
        <p:spPr>
          <a:xfrm>
            <a:off x="8407400" y="3937000"/>
            <a:ext cx="3175000" cy="8128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The other four read “no evidence” until the simulator emits events for them.</a:t>
            </a:r>
          </a:p>
        </p:txBody>
      </p:sp>
      <p:sp>
        <p:nvSpPr>
          <p:cNvPr id="10" name="TextBox 9">
            <a:extLst>
              <a:ext uri="{FF2B5EF4-FFF2-40B4-BE49-F238E27FC236}">
                <a16:creationId xmlns:a16="http://schemas.microsoft.com/office/drawing/2014/main" id="{6DBC6553-AE60-BB88-A1A2-78B2D314B95A}"/>
              </a:ext>
            </a:extLst>
          </p:cNvPr>
          <p:cNvSpPr txBox="1"/>
          <p:nvPr/>
        </p:nvSpPr>
        <p:spPr>
          <a:xfrm>
            <a:off x="8407400" y="4927600"/>
            <a:ext cx="3175000" cy="330200"/>
          </a:xfrm>
          <a:prstGeom prst="rect">
            <a:avLst/>
          </a:prstGeom>
          <a:noFill/>
        </p:spPr>
        <p:txBody>
          <a:bodyPr vert="horz" wrap="square" lIns="0" tIns="0" rIns="0" bIns="0" rtlCol="0">
            <a:noAutofit/>
          </a:bodyPr>
          <a:lstStyle/>
          <a:p>
            <a:r>
              <a:rPr lang="en-SG" b="1">
                <a:solidFill>
                  <a:srgbClr val="F7FAFD"/>
                </a:solidFill>
                <a:latin typeface="Segoe UI" panose="020B0502040204020203" pitchFamily="34" charset="0"/>
              </a:rPr>
              <a:t>For the curriculum</a:t>
            </a:r>
          </a:p>
        </p:txBody>
      </p:sp>
      <p:sp>
        <p:nvSpPr>
          <p:cNvPr id="11" name="TextBox 10">
            <a:extLst>
              <a:ext uri="{FF2B5EF4-FFF2-40B4-BE49-F238E27FC236}">
                <a16:creationId xmlns:a16="http://schemas.microsoft.com/office/drawing/2014/main" id="{6D436949-5ED7-E8FD-3FD6-70F05FA108DD}"/>
              </a:ext>
            </a:extLst>
          </p:cNvPr>
          <p:cNvSpPr txBox="1"/>
          <p:nvPr/>
        </p:nvSpPr>
        <p:spPr>
          <a:xfrm>
            <a:off x="8407400" y="5283200"/>
            <a:ext cx="3175000" cy="8128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Not for ranking people.</a:t>
            </a:r>
          </a:p>
        </p:txBody>
      </p:sp>
      <p:sp>
        <p:nvSpPr>
          <p:cNvPr id="12" name="TextBox 11">
            <a:extLst>
              <a:ext uri="{FF2B5EF4-FFF2-40B4-BE49-F238E27FC236}">
                <a16:creationId xmlns:a16="http://schemas.microsoft.com/office/drawing/2014/main" id="{F01CAEC4-6199-2F94-9516-19E386377C38}"/>
              </a:ext>
            </a:extLst>
          </p:cNvPr>
          <p:cNvSpPr txBox="1"/>
          <p:nvPr/>
        </p:nvSpPr>
        <p:spPr>
          <a:xfrm>
            <a:off x="609600" y="6400800"/>
            <a:ext cx="8890000" cy="228600"/>
          </a:xfrm>
          <a:prstGeom prst="rect">
            <a:avLst/>
          </a:prstGeom>
          <a:noFill/>
        </p:spPr>
        <p:txBody>
          <a:bodyPr vert="horz" wrap="square" lIns="0" tIns="0" rIns="0" bIns="0" rtlCol="0">
            <a:noAutofit/>
          </a:bodyPr>
          <a:lstStyle/>
          <a:p>
            <a:r>
              <a:rPr lang="en-SG" sz="1200">
                <a:solidFill>
                  <a:srgbClr val="93ABC6"/>
                </a:solidFill>
                <a:latin typeface="Consolas" panose="020B0609020204030204" pitchFamily="49" charset="0"/>
              </a:rPr>
              <a:t>ADAPTIVE CGF TRAINER  ·  SYNTHETIC COHORT</a:t>
            </a:r>
          </a:p>
        </p:txBody>
      </p:sp>
      <p:sp>
        <p:nvSpPr>
          <p:cNvPr id="13" name="TextBox 12">
            <a:extLst>
              <a:ext uri="{FF2B5EF4-FFF2-40B4-BE49-F238E27FC236}">
                <a16:creationId xmlns:a16="http://schemas.microsoft.com/office/drawing/2014/main" id="{171EF8AF-EBC7-0BFD-75CE-59E807E674A3}"/>
              </a:ext>
            </a:extLst>
          </p:cNvPr>
          <p:cNvSpPr txBox="1"/>
          <p:nvPr/>
        </p:nvSpPr>
        <p:spPr>
          <a:xfrm>
            <a:off x="10312400" y="6400800"/>
            <a:ext cx="1270000" cy="228600"/>
          </a:xfrm>
          <a:prstGeom prst="rect">
            <a:avLst/>
          </a:prstGeom>
          <a:noFill/>
        </p:spPr>
        <p:txBody>
          <a:bodyPr vert="horz" wrap="square" lIns="0" tIns="0" rIns="0" bIns="0" rtlCol="0">
            <a:noAutofit/>
          </a:bodyPr>
          <a:lstStyle/>
          <a:p>
            <a:pPr algn="r"/>
            <a:r>
              <a:rPr lang="en-SG" sz="1200">
                <a:solidFill>
                  <a:srgbClr val="93ABC6"/>
                </a:solidFill>
                <a:latin typeface="Consolas" panose="020B0609020204030204" pitchFamily="49" charset="0"/>
              </a:rPr>
              <a:t>11</a:t>
            </a:r>
          </a:p>
        </p:txBody>
      </p:sp>
    </p:spTree>
    <p:extLst>
      <p:ext uri="{BB962C8B-B14F-4D97-AF65-F5344CB8AC3E}">
        <p14:creationId xmlns:p14="http://schemas.microsoft.com/office/powerpoint/2010/main" val="2959091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142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A56B5-4FE1-83F0-96B8-B205279E023C}"/>
              </a:ext>
            </a:extLst>
          </p:cNvPr>
          <p:cNvSpPr>
            <a:spLocks noGrp="1"/>
          </p:cNvSpPr>
          <p:nvPr>
            <p:ph type="title"/>
          </p:nvPr>
        </p:nvSpPr>
        <p:spPr>
          <a:xfrm>
            <a:off x="609600" y="787400"/>
            <a:ext cx="10972800" cy="762000"/>
          </a:xfrm>
        </p:spPr>
        <p:txBody>
          <a:bodyPr wrap="square" lIns="0" tIns="0" rIns="0" bIns="0" anchor="t">
            <a:noAutofit/>
          </a:bodyPr>
          <a:lstStyle/>
          <a:p>
            <a:r>
              <a:rPr lang="en-SG" sz="4000" b="1">
                <a:solidFill>
                  <a:srgbClr val="F7FAFD"/>
                </a:solidFill>
                <a:latin typeface="Segoe UI" panose="020B0502040204020203" pitchFamily="34" charset="0"/>
              </a:rPr>
              <a:t>Where AI is used, and where it is not</a:t>
            </a:r>
          </a:p>
        </p:txBody>
      </p:sp>
      <p:sp>
        <p:nvSpPr>
          <p:cNvPr id="3" name="TextBox 2">
            <a:extLst>
              <a:ext uri="{FF2B5EF4-FFF2-40B4-BE49-F238E27FC236}">
                <a16:creationId xmlns:a16="http://schemas.microsoft.com/office/drawing/2014/main" id="{99F409C8-930F-F542-4A4D-FA401C5B071A}"/>
              </a:ext>
            </a:extLst>
          </p:cNvPr>
          <p:cNvSpPr txBox="1"/>
          <p:nvPr/>
        </p:nvSpPr>
        <p:spPr>
          <a:xfrm>
            <a:off x="609600" y="457200"/>
            <a:ext cx="5969000" cy="254000"/>
          </a:xfrm>
          <a:prstGeom prst="rect">
            <a:avLst/>
          </a:prstGeom>
          <a:noFill/>
        </p:spPr>
        <p:txBody>
          <a:bodyPr vert="horz" wrap="square" lIns="0" tIns="0" rIns="0" bIns="0" rtlCol="0">
            <a:noAutofit/>
          </a:bodyPr>
          <a:lstStyle/>
          <a:p>
            <a:r>
              <a:rPr lang="en-SG" sz="1400">
                <a:solidFill>
                  <a:srgbClr val="2F9DFF"/>
                </a:solidFill>
                <a:latin typeface="Consolas" panose="020B0609020204030204" pitchFamily="49" charset="0"/>
              </a:rPr>
              <a:t>AI IN THE SOLUTION</a:t>
            </a:r>
          </a:p>
        </p:txBody>
      </p:sp>
      <p:sp>
        <p:nvSpPr>
          <p:cNvPr id="4" name="Rectangle: Rounded Corners 3">
            <a:extLst>
              <a:ext uri="{FF2B5EF4-FFF2-40B4-BE49-F238E27FC236}">
                <a16:creationId xmlns:a16="http://schemas.microsoft.com/office/drawing/2014/main" id="{AE51DC9C-8DA4-A34C-3F98-4887508B2E71}"/>
              </a:ext>
            </a:extLst>
          </p:cNvPr>
          <p:cNvSpPr/>
          <p:nvPr/>
        </p:nvSpPr>
        <p:spPr>
          <a:xfrm>
            <a:off x="609600" y="1828800"/>
            <a:ext cx="5334000" cy="17272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Oval 4">
            <a:extLst>
              <a:ext uri="{FF2B5EF4-FFF2-40B4-BE49-F238E27FC236}">
                <a16:creationId xmlns:a16="http://schemas.microsoft.com/office/drawing/2014/main" id="{8A2E9CFD-F6A6-85F3-8957-3D70B491C21D}"/>
              </a:ext>
            </a:extLst>
          </p:cNvPr>
          <p:cNvSpPr/>
          <p:nvPr/>
        </p:nvSpPr>
        <p:spPr>
          <a:xfrm>
            <a:off x="863600" y="2057400"/>
            <a:ext cx="457200" cy="457200"/>
          </a:xfrm>
          <a:prstGeom prst="ellipse">
            <a:avLst/>
          </a:prstGeom>
          <a:solidFill>
            <a:srgbClr val="24183F"/>
          </a:solidFill>
          <a:ln w="9525">
            <a:solidFill>
              <a:srgbClr val="B98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SG" sz="1600" b="1">
                <a:solidFill>
                  <a:srgbClr val="EBDFFF"/>
                </a:solidFill>
                <a:latin typeface="Consolas" panose="020B0609020204030204" pitchFamily="49" charset="0"/>
              </a:rPr>
              <a:t>1</a:t>
            </a:r>
          </a:p>
        </p:txBody>
      </p:sp>
      <p:sp>
        <p:nvSpPr>
          <p:cNvPr id="6" name="TextBox 5">
            <a:extLst>
              <a:ext uri="{FF2B5EF4-FFF2-40B4-BE49-F238E27FC236}">
                <a16:creationId xmlns:a16="http://schemas.microsoft.com/office/drawing/2014/main" id="{441B6234-9F28-CEC9-52B6-E01C43F4497F}"/>
              </a:ext>
            </a:extLst>
          </p:cNvPr>
          <p:cNvSpPr txBox="1"/>
          <p:nvPr/>
        </p:nvSpPr>
        <p:spPr>
          <a:xfrm>
            <a:off x="1498600" y="2108200"/>
            <a:ext cx="4267200" cy="355600"/>
          </a:xfrm>
          <a:prstGeom prst="rect">
            <a:avLst/>
          </a:prstGeom>
          <a:noFill/>
        </p:spPr>
        <p:txBody>
          <a:bodyPr vert="horz" wrap="square" lIns="0" tIns="0" rIns="0" bIns="0" rtlCol="0">
            <a:noAutofit/>
          </a:bodyPr>
          <a:lstStyle/>
          <a:p>
            <a:r>
              <a:rPr lang="en-SG" sz="1900" b="1">
                <a:solidFill>
                  <a:srgbClr val="F7FAFD"/>
                </a:solidFill>
                <a:latin typeface="Segoe UI" panose="020B0502040204020203" pitchFamily="34" charset="0"/>
              </a:rPr>
              <a:t>Learns who the trainee is</a:t>
            </a:r>
          </a:p>
        </p:txBody>
      </p:sp>
      <p:sp>
        <p:nvSpPr>
          <p:cNvPr id="7" name="TextBox 6">
            <a:extLst>
              <a:ext uri="{FF2B5EF4-FFF2-40B4-BE49-F238E27FC236}">
                <a16:creationId xmlns:a16="http://schemas.microsoft.com/office/drawing/2014/main" id="{30B9DCEA-9E37-FB21-4739-C4FE8953F7E6}"/>
              </a:ext>
            </a:extLst>
          </p:cNvPr>
          <p:cNvSpPr txBox="1"/>
          <p:nvPr/>
        </p:nvSpPr>
        <p:spPr>
          <a:xfrm>
            <a:off x="863600" y="2667000"/>
            <a:ext cx="4876800" cy="8382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A Beta estimate for each competency, updated from every session’s events. It is the trainee model, and it persists.</a:t>
            </a:r>
          </a:p>
        </p:txBody>
      </p:sp>
      <p:sp>
        <p:nvSpPr>
          <p:cNvPr id="8" name="Rectangle: Rounded Corners 7">
            <a:extLst>
              <a:ext uri="{FF2B5EF4-FFF2-40B4-BE49-F238E27FC236}">
                <a16:creationId xmlns:a16="http://schemas.microsoft.com/office/drawing/2014/main" id="{8AAE2E92-42D8-C006-B87E-FA2D0D36808F}"/>
              </a:ext>
            </a:extLst>
          </p:cNvPr>
          <p:cNvSpPr/>
          <p:nvPr/>
        </p:nvSpPr>
        <p:spPr>
          <a:xfrm>
            <a:off x="6248400" y="1828800"/>
            <a:ext cx="5334000" cy="17272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Oval 8">
            <a:extLst>
              <a:ext uri="{FF2B5EF4-FFF2-40B4-BE49-F238E27FC236}">
                <a16:creationId xmlns:a16="http://schemas.microsoft.com/office/drawing/2014/main" id="{2976BC3A-EAF5-F81D-AB5C-343056277A82}"/>
              </a:ext>
            </a:extLst>
          </p:cNvPr>
          <p:cNvSpPr/>
          <p:nvPr/>
        </p:nvSpPr>
        <p:spPr>
          <a:xfrm>
            <a:off x="6502400" y="2057400"/>
            <a:ext cx="457200" cy="457200"/>
          </a:xfrm>
          <a:prstGeom prst="ellipse">
            <a:avLst/>
          </a:prstGeom>
          <a:solidFill>
            <a:srgbClr val="24183F"/>
          </a:solidFill>
          <a:ln w="9525">
            <a:solidFill>
              <a:srgbClr val="B98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SG" sz="1600" b="1">
                <a:solidFill>
                  <a:srgbClr val="EBDFFF"/>
                </a:solidFill>
                <a:latin typeface="Consolas" panose="020B0609020204030204" pitchFamily="49" charset="0"/>
              </a:rPr>
              <a:t>2</a:t>
            </a:r>
          </a:p>
        </p:txBody>
      </p:sp>
      <p:sp>
        <p:nvSpPr>
          <p:cNvPr id="10" name="TextBox 9">
            <a:extLst>
              <a:ext uri="{FF2B5EF4-FFF2-40B4-BE49-F238E27FC236}">
                <a16:creationId xmlns:a16="http://schemas.microsoft.com/office/drawing/2014/main" id="{62DCAF76-810A-1B28-CED6-7B9C46BF2C37}"/>
              </a:ext>
            </a:extLst>
          </p:cNvPr>
          <p:cNvSpPr txBox="1"/>
          <p:nvPr/>
        </p:nvSpPr>
        <p:spPr>
          <a:xfrm>
            <a:off x="7137400" y="2108200"/>
            <a:ext cx="4267200" cy="355600"/>
          </a:xfrm>
          <a:prstGeom prst="rect">
            <a:avLst/>
          </a:prstGeom>
          <a:noFill/>
        </p:spPr>
        <p:txBody>
          <a:bodyPr vert="horz" wrap="square" lIns="0" tIns="0" rIns="0" bIns="0" rtlCol="0">
            <a:noAutofit/>
          </a:bodyPr>
          <a:lstStyle/>
          <a:p>
            <a:r>
              <a:rPr lang="en-SG" sz="1900" b="1">
                <a:solidFill>
                  <a:srgbClr val="F7FAFD"/>
                </a:solidFill>
                <a:latin typeface="Segoe UI" panose="020B0502040204020203" pitchFamily="34" charset="0"/>
              </a:rPr>
              <a:t>Decides how to push</a:t>
            </a:r>
          </a:p>
        </p:txBody>
      </p:sp>
      <p:sp>
        <p:nvSpPr>
          <p:cNvPr id="11" name="TextBox 10">
            <a:extLst>
              <a:ext uri="{FF2B5EF4-FFF2-40B4-BE49-F238E27FC236}">
                <a16:creationId xmlns:a16="http://schemas.microsoft.com/office/drawing/2014/main" id="{557DDA7B-DEA7-4424-5405-FD78B60F8111}"/>
              </a:ext>
            </a:extLst>
          </p:cNvPr>
          <p:cNvSpPr txBox="1"/>
          <p:nvPr/>
        </p:nvSpPr>
        <p:spPr>
          <a:xfrm>
            <a:off x="6502400" y="2667000"/>
            <a:ext cx="4876800" cy="8382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A rule-based policy picks the target and the step size every 30 s. A bandit policy is planned, not built.</a:t>
            </a:r>
          </a:p>
        </p:txBody>
      </p:sp>
      <p:sp>
        <p:nvSpPr>
          <p:cNvPr id="12" name="Rectangle: Rounded Corners 11">
            <a:extLst>
              <a:ext uri="{FF2B5EF4-FFF2-40B4-BE49-F238E27FC236}">
                <a16:creationId xmlns:a16="http://schemas.microsoft.com/office/drawing/2014/main" id="{A877AD4A-F7C6-5EE1-6BEF-3E2FA850A930}"/>
              </a:ext>
            </a:extLst>
          </p:cNvPr>
          <p:cNvSpPr/>
          <p:nvPr/>
        </p:nvSpPr>
        <p:spPr>
          <a:xfrm>
            <a:off x="609600" y="3733800"/>
            <a:ext cx="5334000" cy="17272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Oval 12">
            <a:extLst>
              <a:ext uri="{FF2B5EF4-FFF2-40B4-BE49-F238E27FC236}">
                <a16:creationId xmlns:a16="http://schemas.microsoft.com/office/drawing/2014/main" id="{79168738-051A-8EF5-8A7E-BF81F9B1E06E}"/>
              </a:ext>
            </a:extLst>
          </p:cNvPr>
          <p:cNvSpPr/>
          <p:nvPr/>
        </p:nvSpPr>
        <p:spPr>
          <a:xfrm>
            <a:off x="863600" y="3962400"/>
            <a:ext cx="457200" cy="457200"/>
          </a:xfrm>
          <a:prstGeom prst="ellipse">
            <a:avLst/>
          </a:prstGeom>
          <a:solidFill>
            <a:srgbClr val="24183F"/>
          </a:solidFill>
          <a:ln w="9525">
            <a:solidFill>
              <a:srgbClr val="B98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SG" sz="1600" b="1">
                <a:solidFill>
                  <a:srgbClr val="EBDFFF"/>
                </a:solidFill>
                <a:latin typeface="Consolas" panose="020B0609020204030204" pitchFamily="49" charset="0"/>
              </a:rPr>
              <a:t>3</a:t>
            </a:r>
          </a:p>
        </p:txBody>
      </p:sp>
      <p:sp>
        <p:nvSpPr>
          <p:cNvPr id="14" name="TextBox 13">
            <a:extLst>
              <a:ext uri="{FF2B5EF4-FFF2-40B4-BE49-F238E27FC236}">
                <a16:creationId xmlns:a16="http://schemas.microsoft.com/office/drawing/2014/main" id="{0EF33695-A038-E819-5892-E7C37326037D}"/>
              </a:ext>
            </a:extLst>
          </p:cNvPr>
          <p:cNvSpPr txBox="1"/>
          <p:nvPr/>
        </p:nvSpPr>
        <p:spPr>
          <a:xfrm>
            <a:off x="1498600" y="4013200"/>
            <a:ext cx="4267200" cy="355600"/>
          </a:xfrm>
          <a:prstGeom prst="rect">
            <a:avLst/>
          </a:prstGeom>
          <a:noFill/>
        </p:spPr>
        <p:txBody>
          <a:bodyPr vert="horz" wrap="square" lIns="0" tIns="0" rIns="0" bIns="0" rtlCol="0">
            <a:noAutofit/>
          </a:bodyPr>
          <a:lstStyle/>
          <a:p>
            <a:r>
              <a:rPr lang="en-SG" sz="1900" b="1">
                <a:solidFill>
                  <a:srgbClr val="F7FAFD"/>
                </a:solidFill>
                <a:latin typeface="Segoe UI" panose="020B0502040204020203" pitchFamily="34" charset="0"/>
              </a:rPr>
              <a:t>Understands plain language</a:t>
            </a:r>
          </a:p>
        </p:txBody>
      </p:sp>
      <p:sp>
        <p:nvSpPr>
          <p:cNvPr id="15" name="TextBox 14">
            <a:extLst>
              <a:ext uri="{FF2B5EF4-FFF2-40B4-BE49-F238E27FC236}">
                <a16:creationId xmlns:a16="http://schemas.microsoft.com/office/drawing/2014/main" id="{6B8A0487-8D41-77B0-8FED-0E5B124B17C9}"/>
              </a:ext>
            </a:extLst>
          </p:cNvPr>
          <p:cNvSpPr txBox="1"/>
          <p:nvPr/>
        </p:nvSpPr>
        <p:spPr>
          <a:xfrm>
            <a:off x="863600" y="4572000"/>
            <a:ext cx="4876800" cy="8382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An optional local model turns a typed request into a validated directive and rephrases explanations. Both fall back to templates.</a:t>
            </a:r>
          </a:p>
        </p:txBody>
      </p:sp>
      <p:sp>
        <p:nvSpPr>
          <p:cNvPr id="16" name="Rectangle: Rounded Corners 15">
            <a:extLst>
              <a:ext uri="{FF2B5EF4-FFF2-40B4-BE49-F238E27FC236}">
                <a16:creationId xmlns:a16="http://schemas.microsoft.com/office/drawing/2014/main" id="{A7DC8B76-3455-0C19-3537-2CEE6D512494}"/>
              </a:ext>
            </a:extLst>
          </p:cNvPr>
          <p:cNvSpPr/>
          <p:nvPr/>
        </p:nvSpPr>
        <p:spPr>
          <a:xfrm>
            <a:off x="6248400" y="3733800"/>
            <a:ext cx="5334000" cy="17272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 name="Oval 16">
            <a:extLst>
              <a:ext uri="{FF2B5EF4-FFF2-40B4-BE49-F238E27FC236}">
                <a16:creationId xmlns:a16="http://schemas.microsoft.com/office/drawing/2014/main" id="{DBC1F06E-C6B8-AAFD-F329-91C172D7DE41}"/>
              </a:ext>
            </a:extLst>
          </p:cNvPr>
          <p:cNvSpPr/>
          <p:nvPr/>
        </p:nvSpPr>
        <p:spPr>
          <a:xfrm>
            <a:off x="6502400" y="3962400"/>
            <a:ext cx="457200" cy="457200"/>
          </a:xfrm>
          <a:prstGeom prst="ellipse">
            <a:avLst/>
          </a:prstGeom>
          <a:solidFill>
            <a:srgbClr val="24183F"/>
          </a:solidFill>
          <a:ln w="9525">
            <a:solidFill>
              <a:srgbClr val="B98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SG" sz="1600" b="1">
                <a:solidFill>
                  <a:srgbClr val="EBDFFF"/>
                </a:solidFill>
                <a:latin typeface="Consolas" panose="020B0609020204030204" pitchFamily="49" charset="0"/>
              </a:rPr>
              <a:t>4</a:t>
            </a:r>
          </a:p>
        </p:txBody>
      </p:sp>
      <p:sp>
        <p:nvSpPr>
          <p:cNvPr id="18" name="TextBox 17">
            <a:extLst>
              <a:ext uri="{FF2B5EF4-FFF2-40B4-BE49-F238E27FC236}">
                <a16:creationId xmlns:a16="http://schemas.microsoft.com/office/drawing/2014/main" id="{5EC4C17B-FC0D-4D2F-C755-4EA144B360F0}"/>
              </a:ext>
            </a:extLst>
          </p:cNvPr>
          <p:cNvSpPr txBox="1"/>
          <p:nvPr/>
        </p:nvSpPr>
        <p:spPr>
          <a:xfrm>
            <a:off x="7137400" y="4013200"/>
            <a:ext cx="4267200" cy="355600"/>
          </a:xfrm>
          <a:prstGeom prst="rect">
            <a:avLst/>
          </a:prstGeom>
          <a:noFill/>
        </p:spPr>
        <p:txBody>
          <a:bodyPr vert="horz" wrap="square" lIns="0" tIns="0" rIns="0" bIns="0" rtlCol="0">
            <a:noAutofit/>
          </a:bodyPr>
          <a:lstStyle/>
          <a:p>
            <a:r>
              <a:rPr lang="en-SG" sz="1900" b="1">
                <a:solidFill>
                  <a:srgbClr val="F7FAFD"/>
                </a:solidFill>
                <a:latin typeface="Segoe UI" panose="020B0502040204020203" pitchFamily="34" charset="0"/>
              </a:rPr>
              <a:t>Plays AI partners</a:t>
            </a:r>
          </a:p>
        </p:txBody>
      </p:sp>
      <p:sp>
        <p:nvSpPr>
          <p:cNvPr id="19" name="TextBox 18">
            <a:extLst>
              <a:ext uri="{FF2B5EF4-FFF2-40B4-BE49-F238E27FC236}">
                <a16:creationId xmlns:a16="http://schemas.microsoft.com/office/drawing/2014/main" id="{C2C64679-C79B-DA82-3AD7-F82198487380}"/>
              </a:ext>
            </a:extLst>
          </p:cNvPr>
          <p:cNvSpPr txBox="1"/>
          <p:nvPr/>
        </p:nvSpPr>
        <p:spPr>
          <a:xfrm>
            <a:off x="6502400" y="4572000"/>
            <a:ext cx="4876800" cy="838200"/>
          </a:xfrm>
          <a:prstGeom prst="rect">
            <a:avLst/>
          </a:prstGeom>
          <a:noFill/>
        </p:spPr>
        <p:txBody>
          <a:bodyPr vert="horz" wrap="square" lIns="0" tIns="0" rIns="0" bIns="0" rtlCol="0">
            <a:noAutofit/>
          </a:bodyPr>
          <a:lstStyle/>
          <a:p>
            <a:r>
              <a:rPr lang="en-SG" sz="1400">
                <a:solidFill>
                  <a:srgbClr val="E1EAF4"/>
                </a:solidFill>
                <a:latin typeface="Segoe UI" panose="020B0502040204020203" pitchFamily="34" charset="0"/>
              </a:rPr>
              <a:t>Empty seats can be played from parameters derived from past runs, so a crew can train with a realistic teammate.</a:t>
            </a:r>
          </a:p>
        </p:txBody>
      </p:sp>
      <p:sp>
        <p:nvSpPr>
          <p:cNvPr id="20" name="TextBox 19">
            <a:extLst>
              <a:ext uri="{FF2B5EF4-FFF2-40B4-BE49-F238E27FC236}">
                <a16:creationId xmlns:a16="http://schemas.microsoft.com/office/drawing/2014/main" id="{7CC66EBF-E28D-737A-C238-9F92263F833D}"/>
              </a:ext>
            </a:extLst>
          </p:cNvPr>
          <p:cNvSpPr txBox="1"/>
          <p:nvPr/>
        </p:nvSpPr>
        <p:spPr>
          <a:xfrm>
            <a:off x="609600" y="5740400"/>
            <a:ext cx="10972800" cy="508000"/>
          </a:xfrm>
          <a:prstGeom prst="rect">
            <a:avLst/>
          </a:prstGeom>
          <a:noFill/>
        </p:spPr>
        <p:txBody>
          <a:bodyPr vert="horz" wrap="square" lIns="0" tIns="0" rIns="0" bIns="0" rtlCol="0">
            <a:noAutofit/>
          </a:bodyPr>
          <a:lstStyle/>
          <a:p>
            <a:r>
              <a:rPr lang="en-SG" sz="1600">
                <a:solidFill>
                  <a:srgbClr val="EBDFFF"/>
                </a:solidFill>
                <a:latin typeface="Segoe UI" panose="020B0502040204020203" pitchFamily="34" charset="0"/>
              </a:rPr>
              <a:t>Human in command: every AI action is bounded, explained and reversible. The model never produces a figure; code does.</a:t>
            </a:r>
          </a:p>
        </p:txBody>
      </p:sp>
      <p:sp>
        <p:nvSpPr>
          <p:cNvPr id="21" name="TextBox 20">
            <a:extLst>
              <a:ext uri="{FF2B5EF4-FFF2-40B4-BE49-F238E27FC236}">
                <a16:creationId xmlns:a16="http://schemas.microsoft.com/office/drawing/2014/main" id="{5C321F67-4BF3-1699-769D-E78A751E7049}"/>
              </a:ext>
            </a:extLst>
          </p:cNvPr>
          <p:cNvSpPr txBox="1"/>
          <p:nvPr/>
        </p:nvSpPr>
        <p:spPr>
          <a:xfrm>
            <a:off x="609600" y="6400800"/>
            <a:ext cx="8890000" cy="228600"/>
          </a:xfrm>
          <a:prstGeom prst="rect">
            <a:avLst/>
          </a:prstGeom>
          <a:noFill/>
        </p:spPr>
        <p:txBody>
          <a:bodyPr vert="horz" wrap="square" lIns="0" tIns="0" rIns="0" bIns="0" rtlCol="0">
            <a:noAutofit/>
          </a:bodyPr>
          <a:lstStyle/>
          <a:p>
            <a:r>
              <a:rPr lang="en-SG" sz="1200">
                <a:solidFill>
                  <a:srgbClr val="93ABC6"/>
                </a:solidFill>
                <a:latin typeface="Consolas" panose="020B0609020204030204" pitchFamily="49" charset="0"/>
              </a:rPr>
              <a:t>ADAPTIVE CGF TRAINER</a:t>
            </a:r>
          </a:p>
        </p:txBody>
      </p:sp>
      <p:sp>
        <p:nvSpPr>
          <p:cNvPr id="22" name="TextBox 21">
            <a:extLst>
              <a:ext uri="{FF2B5EF4-FFF2-40B4-BE49-F238E27FC236}">
                <a16:creationId xmlns:a16="http://schemas.microsoft.com/office/drawing/2014/main" id="{4258C9AA-DA82-FD85-870F-D954D97DFB3C}"/>
              </a:ext>
            </a:extLst>
          </p:cNvPr>
          <p:cNvSpPr txBox="1"/>
          <p:nvPr/>
        </p:nvSpPr>
        <p:spPr>
          <a:xfrm>
            <a:off x="10312400" y="6400800"/>
            <a:ext cx="1270000" cy="228600"/>
          </a:xfrm>
          <a:prstGeom prst="rect">
            <a:avLst/>
          </a:prstGeom>
          <a:noFill/>
        </p:spPr>
        <p:txBody>
          <a:bodyPr vert="horz" wrap="square" lIns="0" tIns="0" rIns="0" bIns="0" rtlCol="0">
            <a:noAutofit/>
          </a:bodyPr>
          <a:lstStyle/>
          <a:p>
            <a:pPr algn="r"/>
            <a:r>
              <a:rPr lang="en-SG" sz="1200">
                <a:solidFill>
                  <a:srgbClr val="93ABC6"/>
                </a:solidFill>
                <a:latin typeface="Consolas" panose="020B0609020204030204" pitchFamily="49" charset="0"/>
              </a:rPr>
              <a:t>12</a:t>
            </a:r>
          </a:p>
        </p:txBody>
      </p:sp>
    </p:spTree>
    <p:extLst>
      <p:ext uri="{BB962C8B-B14F-4D97-AF65-F5344CB8AC3E}">
        <p14:creationId xmlns:p14="http://schemas.microsoft.com/office/powerpoint/2010/main" val="1136261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C3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CEFAF-2AA9-1D50-FA77-E24B0D11F322}"/>
              </a:ext>
            </a:extLst>
          </p:cNvPr>
          <p:cNvSpPr>
            <a:spLocks noGrp="1"/>
          </p:cNvSpPr>
          <p:nvPr>
            <p:ph type="title"/>
          </p:nvPr>
        </p:nvSpPr>
        <p:spPr>
          <a:xfrm>
            <a:off x="609600" y="787400"/>
            <a:ext cx="10972800" cy="762000"/>
          </a:xfrm>
        </p:spPr>
        <p:txBody>
          <a:bodyPr wrap="square" lIns="0" tIns="0" rIns="0" bIns="0" anchor="t">
            <a:noAutofit/>
          </a:bodyPr>
          <a:lstStyle/>
          <a:p>
            <a:r>
              <a:rPr lang="en-SG" sz="4000" b="1">
                <a:solidFill>
                  <a:srgbClr val="F7FAFD"/>
                </a:solidFill>
                <a:latin typeface="Segoe UI" panose="020B0502040204020203" pitchFamily="34" charset="0"/>
              </a:rPr>
              <a:t>Why this is different</a:t>
            </a:r>
          </a:p>
        </p:txBody>
      </p:sp>
      <p:sp>
        <p:nvSpPr>
          <p:cNvPr id="3" name="TextBox 2">
            <a:extLst>
              <a:ext uri="{FF2B5EF4-FFF2-40B4-BE49-F238E27FC236}">
                <a16:creationId xmlns:a16="http://schemas.microsoft.com/office/drawing/2014/main" id="{ABE578AE-6A6D-50B1-6806-C97A72C14F58}"/>
              </a:ext>
            </a:extLst>
          </p:cNvPr>
          <p:cNvSpPr txBox="1"/>
          <p:nvPr/>
        </p:nvSpPr>
        <p:spPr>
          <a:xfrm>
            <a:off x="609600" y="457200"/>
            <a:ext cx="5969000" cy="254000"/>
          </a:xfrm>
          <a:prstGeom prst="rect">
            <a:avLst/>
          </a:prstGeom>
          <a:noFill/>
        </p:spPr>
        <p:txBody>
          <a:bodyPr vert="horz" wrap="square" lIns="0" tIns="0" rIns="0" bIns="0" rtlCol="0">
            <a:noAutofit/>
          </a:bodyPr>
          <a:lstStyle/>
          <a:p>
            <a:r>
              <a:rPr lang="en-SG" sz="1400">
                <a:solidFill>
                  <a:srgbClr val="2F9DFF"/>
                </a:solidFill>
                <a:latin typeface="Consolas" panose="020B0609020204030204" pitchFamily="49" charset="0"/>
              </a:rPr>
              <a:t>NOVELTY</a:t>
            </a:r>
          </a:p>
        </p:txBody>
      </p:sp>
      <p:graphicFrame>
        <p:nvGraphicFramePr>
          <p:cNvPr id="4" name="Comparison table" descr="Comparison of a typical training simulator with this trainer">
            <a:extLst>
              <a:ext uri="{FF2B5EF4-FFF2-40B4-BE49-F238E27FC236}">
                <a16:creationId xmlns:a16="http://schemas.microsoft.com/office/drawing/2014/main" id="{746B3158-EB6F-2EDE-5837-70AD065A2B49}"/>
              </a:ext>
            </a:extLst>
          </p:cNvPr>
          <p:cNvGraphicFramePr>
            <a:graphicFrameLocks noGrp="1"/>
          </p:cNvGraphicFramePr>
          <p:nvPr>
            <p:extLst>
              <p:ext uri="{D42A27DB-BD31-4B8C-83A1-F6EECF244321}">
                <p14:modId xmlns:p14="http://schemas.microsoft.com/office/powerpoint/2010/main" val="673684939"/>
              </p:ext>
            </p:extLst>
          </p:nvPr>
        </p:nvGraphicFramePr>
        <p:xfrm>
          <a:off x="609600" y="1905000"/>
          <a:ext cx="10972800" cy="3810000"/>
        </p:xfrm>
        <a:graphic>
          <a:graphicData uri="http://schemas.openxmlformats.org/drawingml/2006/table">
            <a:tbl>
              <a:tblPr firstRow="1" bandRow="1">
                <a:tableStyleId>{2D5ABB26-0587-4C30-8999-92F81FD0307C}</a:tableStyleId>
              </a:tblPr>
              <a:tblGrid>
                <a:gridCol w="2286000">
                  <a:extLst>
                    <a:ext uri="{9D8B030D-6E8A-4147-A177-3AD203B41FA5}">
                      <a16:colId xmlns:a16="http://schemas.microsoft.com/office/drawing/2014/main" val="3266433847"/>
                    </a:ext>
                  </a:extLst>
                </a:gridCol>
                <a:gridCol w="3810000">
                  <a:extLst>
                    <a:ext uri="{9D8B030D-6E8A-4147-A177-3AD203B41FA5}">
                      <a16:colId xmlns:a16="http://schemas.microsoft.com/office/drawing/2014/main" val="2218515481"/>
                    </a:ext>
                  </a:extLst>
                </a:gridCol>
                <a:gridCol w="4876800">
                  <a:extLst>
                    <a:ext uri="{9D8B030D-6E8A-4147-A177-3AD203B41FA5}">
                      <a16:colId xmlns:a16="http://schemas.microsoft.com/office/drawing/2014/main" val="602240390"/>
                    </a:ext>
                  </a:extLst>
                </a:gridCol>
              </a:tblGrid>
              <a:tr h="457200">
                <a:tc>
                  <a:txBody>
                    <a:bodyPr/>
                    <a:lstStyle/>
                    <a:p>
                      <a:endParaRPr lang="en-SG" sz="1700" b="1">
                        <a:solidFill>
                          <a:srgbClr val="F7FAFD"/>
                        </a:solidFill>
                        <a:latin typeface="Segoe UI" panose="020B0502040204020203" pitchFamily="34" charset="0"/>
                      </a:endParaRPr>
                    </a:p>
                  </a:txBody>
                  <a:tcPr marL="177800" marR="127000" anchor="ctr">
                    <a:solidFill>
                      <a:srgbClr val="1A2D47"/>
                    </a:solidFill>
                  </a:tcPr>
                </a:tc>
                <a:tc>
                  <a:txBody>
                    <a:bodyPr/>
                    <a:lstStyle/>
                    <a:p>
                      <a:r>
                        <a:rPr lang="en-SG" sz="1700" b="1">
                          <a:solidFill>
                            <a:srgbClr val="F7FAFD"/>
                          </a:solidFill>
                          <a:latin typeface="Segoe UI" panose="020B0502040204020203" pitchFamily="34" charset="0"/>
                        </a:rPr>
                        <a:t>Typical training simulator</a:t>
                      </a:r>
                    </a:p>
                  </a:txBody>
                  <a:tcPr marL="177800" marR="127000" anchor="ctr">
                    <a:solidFill>
                      <a:srgbClr val="1A2D47"/>
                    </a:solidFill>
                  </a:tcPr>
                </a:tc>
                <a:tc>
                  <a:txBody>
                    <a:bodyPr/>
                    <a:lstStyle/>
                    <a:p>
                      <a:r>
                        <a:rPr lang="en-SG" sz="1700" b="1">
                          <a:solidFill>
                            <a:srgbClr val="F7FAFD"/>
                          </a:solidFill>
                          <a:latin typeface="Segoe UI" panose="020B0502040204020203" pitchFamily="34" charset="0"/>
                        </a:rPr>
                        <a:t>This trainer</a:t>
                      </a:r>
                    </a:p>
                  </a:txBody>
                  <a:tcPr marL="177800" marR="127000" anchor="ctr">
                    <a:solidFill>
                      <a:srgbClr val="1A2D47"/>
                    </a:solidFill>
                  </a:tcPr>
                </a:tc>
                <a:extLst>
                  <a:ext uri="{0D108BD9-81ED-4DB2-BD59-A6C34878D82A}">
                    <a16:rowId xmlns:a16="http://schemas.microsoft.com/office/drawing/2014/main" val="1691778856"/>
                  </a:ext>
                </a:extLst>
              </a:tr>
              <a:tr h="838200">
                <a:tc>
                  <a:txBody>
                    <a:bodyPr/>
                    <a:lstStyle/>
                    <a:p>
                      <a:r>
                        <a:rPr lang="en-SG" sz="1700" b="1">
                          <a:solidFill>
                            <a:srgbClr val="F7FAFD"/>
                          </a:solidFill>
                          <a:latin typeface="Segoe UI" panose="020B0502040204020203" pitchFamily="34" charset="0"/>
                        </a:rPr>
                        <a:t>What adapts</a:t>
                      </a:r>
                    </a:p>
                  </a:txBody>
                  <a:tcPr marL="177800" marR="127000" anchor="ctr">
                    <a:solidFill>
                      <a:srgbClr val="12243C"/>
                    </a:solidFill>
                  </a:tcPr>
                </a:tc>
                <a:tc>
                  <a:txBody>
                    <a:bodyPr/>
                    <a:lstStyle/>
                    <a:p>
                      <a:r>
                        <a:rPr lang="en-SG" sz="1700" b="0">
                          <a:solidFill>
                            <a:srgbClr val="E1EAF4"/>
                          </a:solidFill>
                          <a:latin typeface="Segoe UI" panose="020B0502040204020203" pitchFamily="34" charset="0"/>
                        </a:rPr>
                        <a:t>A fixed script, or overall difficulty</a:t>
                      </a:r>
                    </a:p>
                  </a:txBody>
                  <a:tcPr marL="177800" marR="127000" anchor="ctr">
                    <a:solidFill>
                      <a:srgbClr val="12243C"/>
                    </a:solidFill>
                  </a:tcPr>
                </a:tc>
                <a:tc>
                  <a:txBody>
                    <a:bodyPr/>
                    <a:lstStyle/>
                    <a:p>
                      <a:r>
                        <a:rPr lang="en-SG" sz="1700" b="1">
                          <a:solidFill>
                            <a:srgbClr val="EBDFFF"/>
                          </a:solidFill>
                          <a:latin typeface="Segoe UI" panose="020B0502040204020203" pitchFamily="34" charset="0"/>
                        </a:rPr>
                        <a:t>The specific weak competency of each trainee</a:t>
                      </a:r>
                    </a:p>
                  </a:txBody>
                  <a:tcPr marL="177800" marR="127000" anchor="ctr">
                    <a:solidFill>
                      <a:srgbClr val="12243C"/>
                    </a:solidFill>
                  </a:tcPr>
                </a:tc>
                <a:extLst>
                  <a:ext uri="{0D108BD9-81ED-4DB2-BD59-A6C34878D82A}">
                    <a16:rowId xmlns:a16="http://schemas.microsoft.com/office/drawing/2014/main" val="4225246133"/>
                  </a:ext>
                </a:extLst>
              </a:tr>
              <a:tr h="838200">
                <a:tc>
                  <a:txBody>
                    <a:bodyPr/>
                    <a:lstStyle/>
                    <a:p>
                      <a:r>
                        <a:rPr lang="en-SG" sz="1700" b="1">
                          <a:solidFill>
                            <a:srgbClr val="F7FAFD"/>
                          </a:solidFill>
                          <a:latin typeface="Segoe UI" panose="020B0502040204020203" pitchFamily="34" charset="0"/>
                        </a:rPr>
                        <a:t>What it reads</a:t>
                      </a:r>
                    </a:p>
                  </a:txBody>
                  <a:tcPr marL="177800" marR="127000" anchor="ctr">
                    <a:solidFill>
                      <a:srgbClr val="0D1C30"/>
                    </a:solidFill>
                  </a:tcPr>
                </a:tc>
                <a:tc>
                  <a:txBody>
                    <a:bodyPr/>
                    <a:lstStyle/>
                    <a:p>
                      <a:r>
                        <a:rPr lang="en-SG" sz="1700" b="0">
                          <a:solidFill>
                            <a:srgbClr val="E1EAF4"/>
                          </a:solidFill>
                          <a:latin typeface="Segoe UI" panose="020B0502040204020203" pitchFamily="34" charset="0"/>
                        </a:rPr>
                        <a:t>The score of this run</a:t>
                      </a:r>
                    </a:p>
                  </a:txBody>
                  <a:tcPr marL="177800" marR="127000" anchor="ctr">
                    <a:solidFill>
                      <a:srgbClr val="0D1C30"/>
                    </a:solidFill>
                  </a:tcPr>
                </a:tc>
                <a:tc>
                  <a:txBody>
                    <a:bodyPr/>
                    <a:lstStyle/>
                    <a:p>
                      <a:r>
                        <a:rPr lang="en-SG" sz="1700" b="1">
                          <a:solidFill>
                            <a:srgbClr val="EBDFFF"/>
                          </a:solidFill>
                          <a:latin typeface="Segoe UI" panose="020B0502040204020203" pitchFamily="34" charset="0"/>
                        </a:rPr>
                        <a:t>History across sessions plus the last 10 events</a:t>
                      </a:r>
                    </a:p>
                  </a:txBody>
                  <a:tcPr marL="177800" marR="127000" anchor="ctr">
                    <a:solidFill>
                      <a:srgbClr val="0D1C30"/>
                    </a:solidFill>
                  </a:tcPr>
                </a:tc>
                <a:extLst>
                  <a:ext uri="{0D108BD9-81ED-4DB2-BD59-A6C34878D82A}">
                    <a16:rowId xmlns:a16="http://schemas.microsoft.com/office/drawing/2014/main" val="274894486"/>
                  </a:ext>
                </a:extLst>
              </a:tr>
              <a:tr h="838200">
                <a:tc>
                  <a:txBody>
                    <a:bodyPr/>
                    <a:lstStyle/>
                    <a:p>
                      <a:r>
                        <a:rPr lang="en-SG" sz="1700" b="1">
                          <a:solidFill>
                            <a:srgbClr val="F7FAFD"/>
                          </a:solidFill>
                          <a:latin typeface="Segoe UI" panose="020B0502040204020203" pitchFamily="34" charset="0"/>
                        </a:rPr>
                        <a:t>The instructor</a:t>
                      </a:r>
                    </a:p>
                  </a:txBody>
                  <a:tcPr marL="177800" marR="127000" anchor="ctr">
                    <a:solidFill>
                      <a:srgbClr val="12243C"/>
                    </a:solidFill>
                  </a:tcPr>
                </a:tc>
                <a:tc>
                  <a:txBody>
                    <a:bodyPr/>
                    <a:lstStyle/>
                    <a:p>
                      <a:r>
                        <a:rPr lang="en-SG" sz="1700" b="0">
                          <a:solidFill>
                            <a:srgbClr val="E1EAF4"/>
                          </a:solidFill>
                          <a:latin typeface="Segoe UI" panose="020B0502040204020203" pitchFamily="34" charset="0"/>
                        </a:rPr>
                        <a:t>Sets a scenario in advance</a:t>
                      </a:r>
                    </a:p>
                  </a:txBody>
                  <a:tcPr marL="177800" marR="127000" anchor="ctr">
                    <a:solidFill>
                      <a:srgbClr val="12243C"/>
                    </a:solidFill>
                  </a:tcPr>
                </a:tc>
                <a:tc>
                  <a:txBody>
                    <a:bodyPr/>
                    <a:lstStyle/>
                    <a:p>
                      <a:r>
                        <a:rPr lang="en-SG" sz="1700" b="1">
                          <a:solidFill>
                            <a:srgbClr val="EBDFFF"/>
                          </a:solidFill>
                          <a:latin typeface="Segoe UI" panose="020B0502040204020203" pitchFamily="34" charset="0"/>
                        </a:rPr>
                        <a:t>Sets limits, steers in plain language, sees every reason</a:t>
                      </a:r>
                    </a:p>
                  </a:txBody>
                  <a:tcPr marL="177800" marR="127000" anchor="ctr">
                    <a:solidFill>
                      <a:srgbClr val="12243C"/>
                    </a:solidFill>
                  </a:tcPr>
                </a:tc>
                <a:extLst>
                  <a:ext uri="{0D108BD9-81ED-4DB2-BD59-A6C34878D82A}">
                    <a16:rowId xmlns:a16="http://schemas.microsoft.com/office/drawing/2014/main" val="3996569043"/>
                  </a:ext>
                </a:extLst>
              </a:tr>
              <a:tr h="838200">
                <a:tc>
                  <a:txBody>
                    <a:bodyPr/>
                    <a:lstStyle/>
                    <a:p>
                      <a:r>
                        <a:rPr lang="en-SG" sz="1700" b="1">
                          <a:solidFill>
                            <a:srgbClr val="F7FAFD"/>
                          </a:solidFill>
                          <a:latin typeface="Segoe UI" panose="020B0502040204020203" pitchFamily="34" charset="0"/>
                        </a:rPr>
                        <a:t>The enemy</a:t>
                      </a:r>
                    </a:p>
                  </a:txBody>
                  <a:tcPr marL="177800" marR="127000" anchor="ctr">
                    <a:solidFill>
                      <a:srgbClr val="0D1C30"/>
                    </a:solidFill>
                  </a:tcPr>
                </a:tc>
                <a:tc>
                  <a:txBody>
                    <a:bodyPr/>
                    <a:lstStyle/>
                    <a:p>
                      <a:r>
                        <a:rPr lang="en-SG" sz="1700" b="0">
                          <a:solidFill>
                            <a:srgbClr val="E1EAF4"/>
                          </a:solidFill>
                          <a:latin typeface="Segoe UI" panose="020B0502040204020203" pitchFamily="34" charset="0"/>
                        </a:rPr>
                        <a:t>Independent units</a:t>
                      </a:r>
                    </a:p>
                  </a:txBody>
                  <a:tcPr marL="177800" marR="127000" anchor="ctr">
                    <a:solidFill>
                      <a:srgbClr val="0D1C30"/>
                    </a:solidFill>
                  </a:tcPr>
                </a:tc>
                <a:tc>
                  <a:txBody>
                    <a:bodyPr/>
                    <a:lstStyle/>
                    <a:p>
                      <a:r>
                        <a:rPr lang="en-SG" sz="1700" b="1">
                          <a:solidFill>
                            <a:srgbClr val="EBDFFF"/>
                          </a:solidFill>
                          <a:latin typeface="Segoe UI" panose="020B0502040204020203" pitchFamily="34" charset="0"/>
                        </a:rPr>
                        <a:t>Units share what they know and respond together</a:t>
                      </a:r>
                    </a:p>
                  </a:txBody>
                  <a:tcPr marL="177800" marR="127000" anchor="ctr">
                    <a:solidFill>
                      <a:srgbClr val="0D1C30"/>
                    </a:solidFill>
                  </a:tcPr>
                </a:tc>
                <a:extLst>
                  <a:ext uri="{0D108BD9-81ED-4DB2-BD59-A6C34878D82A}">
                    <a16:rowId xmlns:a16="http://schemas.microsoft.com/office/drawing/2014/main" val="3823743546"/>
                  </a:ext>
                </a:extLst>
              </a:tr>
            </a:tbl>
          </a:graphicData>
        </a:graphic>
      </p:graphicFrame>
      <p:sp>
        <p:nvSpPr>
          <p:cNvPr id="5" name="TextBox 4">
            <a:extLst>
              <a:ext uri="{FF2B5EF4-FFF2-40B4-BE49-F238E27FC236}">
                <a16:creationId xmlns:a16="http://schemas.microsoft.com/office/drawing/2014/main" id="{104A116C-3355-7623-47C9-65EE5BFA5779}"/>
              </a:ext>
            </a:extLst>
          </p:cNvPr>
          <p:cNvSpPr txBox="1"/>
          <p:nvPr/>
        </p:nvSpPr>
        <p:spPr>
          <a:xfrm>
            <a:off x="609600" y="6400800"/>
            <a:ext cx="8890000" cy="228600"/>
          </a:xfrm>
          <a:prstGeom prst="rect">
            <a:avLst/>
          </a:prstGeom>
          <a:noFill/>
        </p:spPr>
        <p:txBody>
          <a:bodyPr vert="horz" wrap="square" lIns="0" tIns="0" rIns="0" bIns="0" rtlCol="0">
            <a:noAutofit/>
          </a:bodyPr>
          <a:lstStyle/>
          <a:p>
            <a:r>
              <a:rPr lang="en-SG" sz="1200">
                <a:solidFill>
                  <a:srgbClr val="93ABC6"/>
                </a:solidFill>
                <a:latin typeface="Consolas" panose="020B0609020204030204" pitchFamily="49" charset="0"/>
              </a:rPr>
              <a:t>OUR READING OF COMMON PRACTICE  ·  NOT A SURVEY OF PRODUCTS</a:t>
            </a:r>
          </a:p>
        </p:txBody>
      </p:sp>
      <p:sp>
        <p:nvSpPr>
          <p:cNvPr id="6" name="TextBox 5">
            <a:extLst>
              <a:ext uri="{FF2B5EF4-FFF2-40B4-BE49-F238E27FC236}">
                <a16:creationId xmlns:a16="http://schemas.microsoft.com/office/drawing/2014/main" id="{2F4D0677-7134-8AF9-06C2-32EFB3958805}"/>
              </a:ext>
            </a:extLst>
          </p:cNvPr>
          <p:cNvSpPr txBox="1"/>
          <p:nvPr/>
        </p:nvSpPr>
        <p:spPr>
          <a:xfrm>
            <a:off x="10312400" y="6400800"/>
            <a:ext cx="1270000" cy="228600"/>
          </a:xfrm>
          <a:prstGeom prst="rect">
            <a:avLst/>
          </a:prstGeom>
          <a:noFill/>
        </p:spPr>
        <p:txBody>
          <a:bodyPr vert="horz" wrap="square" lIns="0" tIns="0" rIns="0" bIns="0" rtlCol="0">
            <a:noAutofit/>
          </a:bodyPr>
          <a:lstStyle/>
          <a:p>
            <a:pPr algn="r"/>
            <a:r>
              <a:rPr lang="en-SG" sz="1200">
                <a:solidFill>
                  <a:srgbClr val="93ABC6"/>
                </a:solidFill>
                <a:latin typeface="Consolas" panose="020B0609020204030204" pitchFamily="49" charset="0"/>
              </a:rPr>
              <a:t>13</a:t>
            </a:r>
          </a:p>
        </p:txBody>
      </p:sp>
    </p:spTree>
    <p:extLst>
      <p:ext uri="{BB962C8B-B14F-4D97-AF65-F5344CB8AC3E}">
        <p14:creationId xmlns:p14="http://schemas.microsoft.com/office/powerpoint/2010/main" val="1261280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142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21AC8-D9B4-28BE-F0AF-504858698101}"/>
              </a:ext>
            </a:extLst>
          </p:cNvPr>
          <p:cNvSpPr>
            <a:spLocks noGrp="1"/>
          </p:cNvSpPr>
          <p:nvPr>
            <p:ph type="title"/>
          </p:nvPr>
        </p:nvSpPr>
        <p:spPr>
          <a:xfrm>
            <a:off x="609600" y="787400"/>
            <a:ext cx="10972800" cy="1270000"/>
          </a:xfrm>
        </p:spPr>
        <p:txBody>
          <a:bodyPr wrap="square" lIns="0" tIns="0" rIns="0" bIns="0" anchor="t">
            <a:noAutofit/>
          </a:bodyPr>
          <a:lstStyle/>
          <a:p>
            <a:r>
              <a:rPr lang="en-SG" sz="3600" b="1">
                <a:solidFill>
                  <a:srgbClr val="F7FAFD"/>
                </a:solidFill>
                <a:latin typeface="Segoe UI" panose="020B0502040204020203" pitchFamily="34" charset="0"/>
              </a:rPr>
              <a:t>What works today, and what is left</a:t>
            </a:r>
          </a:p>
        </p:txBody>
      </p:sp>
      <p:sp>
        <p:nvSpPr>
          <p:cNvPr id="3" name="TextBox 2">
            <a:extLst>
              <a:ext uri="{FF2B5EF4-FFF2-40B4-BE49-F238E27FC236}">
                <a16:creationId xmlns:a16="http://schemas.microsoft.com/office/drawing/2014/main" id="{7022895B-EA08-5D6E-9900-6F7A3ED38614}"/>
              </a:ext>
            </a:extLst>
          </p:cNvPr>
          <p:cNvSpPr txBox="1"/>
          <p:nvPr/>
        </p:nvSpPr>
        <p:spPr>
          <a:xfrm>
            <a:off x="609600" y="457200"/>
            <a:ext cx="5969000" cy="254000"/>
          </a:xfrm>
          <a:prstGeom prst="rect">
            <a:avLst/>
          </a:prstGeom>
          <a:noFill/>
        </p:spPr>
        <p:txBody>
          <a:bodyPr vert="horz" wrap="square" lIns="0" tIns="0" rIns="0" bIns="0" rtlCol="0">
            <a:noAutofit/>
          </a:bodyPr>
          <a:lstStyle/>
          <a:p>
            <a:r>
              <a:rPr lang="en-SG" sz="1400">
                <a:solidFill>
                  <a:srgbClr val="2F9DFF"/>
                </a:solidFill>
                <a:latin typeface="Consolas" panose="020B0609020204030204" pitchFamily="49" charset="0"/>
              </a:rPr>
              <a:t>WHAT IS LEFT</a:t>
            </a:r>
          </a:p>
        </p:txBody>
      </p:sp>
      <p:sp>
        <p:nvSpPr>
          <p:cNvPr id="4" name="Rectangle: Rounded Corners 3">
            <a:extLst>
              <a:ext uri="{FF2B5EF4-FFF2-40B4-BE49-F238E27FC236}">
                <a16:creationId xmlns:a16="http://schemas.microsoft.com/office/drawing/2014/main" id="{369EBCE6-90EF-EBBC-A7A5-0342405ABBB3}"/>
              </a:ext>
            </a:extLst>
          </p:cNvPr>
          <p:cNvSpPr/>
          <p:nvPr/>
        </p:nvSpPr>
        <p:spPr>
          <a:xfrm>
            <a:off x="609600" y="2235200"/>
            <a:ext cx="5334000" cy="36830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10900738-2FAC-7F26-9FCD-956D956C8756}"/>
              </a:ext>
            </a:extLst>
          </p:cNvPr>
          <p:cNvSpPr txBox="1"/>
          <p:nvPr/>
        </p:nvSpPr>
        <p:spPr>
          <a:xfrm>
            <a:off x="863600" y="2438400"/>
            <a:ext cx="4826000" cy="279400"/>
          </a:xfrm>
          <a:prstGeom prst="rect">
            <a:avLst/>
          </a:prstGeom>
          <a:noFill/>
        </p:spPr>
        <p:txBody>
          <a:bodyPr vert="horz" wrap="square" lIns="0" tIns="0" rIns="0" bIns="0" rtlCol="0">
            <a:noAutofit/>
          </a:bodyPr>
          <a:lstStyle/>
          <a:p>
            <a:r>
              <a:rPr lang="en-SG" sz="1400" b="1">
                <a:solidFill>
                  <a:srgbClr val="F7FAFD"/>
                </a:solidFill>
                <a:latin typeface="Consolas" panose="020B0609020204030204" pitchFamily="49" charset="0"/>
              </a:rPr>
              <a:t>✓  WORKING TODAY</a:t>
            </a:r>
          </a:p>
        </p:txBody>
      </p:sp>
      <p:sp>
        <p:nvSpPr>
          <p:cNvPr id="6" name="TextBox 5">
            <a:extLst>
              <a:ext uri="{FF2B5EF4-FFF2-40B4-BE49-F238E27FC236}">
                <a16:creationId xmlns:a16="http://schemas.microsoft.com/office/drawing/2014/main" id="{FB383026-C8F8-B5CE-EA9A-62EF2F69ABD6}"/>
              </a:ext>
            </a:extLst>
          </p:cNvPr>
          <p:cNvSpPr txBox="1"/>
          <p:nvPr/>
        </p:nvSpPr>
        <p:spPr>
          <a:xfrm>
            <a:off x="863600" y="2870200"/>
            <a:ext cx="4826000" cy="2946400"/>
          </a:xfrm>
          <a:prstGeom prst="rect">
            <a:avLst/>
          </a:prstGeom>
          <a:noFill/>
        </p:spPr>
        <p:txBody>
          <a:bodyPr vert="horz" wrap="square" lIns="0" tIns="0" rIns="0" bIns="0" rtlCol="0">
            <a:noAutofit/>
          </a:bodyPr>
          <a:lstStyle/>
          <a:p>
            <a:pPr marL="203200" indent="-203200">
              <a:spcAft>
                <a:spcPts val="900"/>
              </a:spcAft>
              <a:buFont typeface="+mj-lt"/>
              <a:buChar char="•"/>
            </a:pPr>
            <a:r>
              <a:rPr lang="en-SG" sz="1700">
                <a:solidFill>
                  <a:srgbClr val="E1EAF4"/>
                </a:solidFill>
                <a:latin typeface="Segoe UI" panose="020B0502040204020203" pitchFamily="34" charset="0"/>
              </a:rPr>
              <a:t>The loop runs end to end: allocate, run, report, update</a:t>
            </a:r>
          </a:p>
          <a:p>
            <a:pPr marL="203200" indent="-203200">
              <a:spcAft>
                <a:spcPts val="900"/>
              </a:spcAft>
              <a:buFont typeface="+mj-lt"/>
              <a:buChar char="•"/>
            </a:pPr>
            <a:r>
              <a:rPr lang="en-SG" sz="1700">
                <a:solidFill>
                  <a:srgbClr val="E1EAF4"/>
                </a:solidFill>
                <a:latin typeface="Segoe UI" panose="020B0502040204020203" pitchFamily="34" charset="0"/>
              </a:rPr>
              <a:t>Offline from a file: no server, no install</a:t>
            </a:r>
          </a:p>
          <a:p>
            <a:pPr marL="203200" indent="-203200">
              <a:spcAft>
                <a:spcPts val="900"/>
              </a:spcAft>
              <a:buFont typeface="+mj-lt"/>
              <a:buChar char="•"/>
            </a:pPr>
            <a:r>
              <a:rPr lang="en-SG" sz="1700">
                <a:solidFill>
                  <a:srgbClr val="E1EAF4"/>
                </a:solidFill>
                <a:latin typeface="Segoe UI" panose="020B0502040204020203" pitchFamily="34" charset="0"/>
              </a:rPr>
              <a:t>Six platforms (air, sea, land) in allocation</a:t>
            </a:r>
          </a:p>
          <a:p>
            <a:pPr marL="203200" indent="-203200">
              <a:spcAft>
                <a:spcPts val="900"/>
              </a:spcAft>
              <a:buFont typeface="+mj-lt"/>
              <a:buChar char="•"/>
            </a:pPr>
            <a:r>
              <a:rPr lang="en-SG" sz="1700">
                <a:solidFill>
                  <a:srgbClr val="E1EAF4"/>
                </a:solidFill>
                <a:latin typeface="Segoe UI" panose="020B0502040204020203" pitchFamily="34" charset="0"/>
              </a:rPr>
              <a:t>Adaptation on the sea scenario, five competencies</a:t>
            </a:r>
          </a:p>
          <a:p>
            <a:pPr marL="203200" indent="-203200">
              <a:spcAft>
                <a:spcPts val="900"/>
              </a:spcAft>
              <a:buFont typeface="+mj-lt"/>
              <a:buChar char="•"/>
            </a:pPr>
            <a:r>
              <a:rPr lang="en-SG" sz="1700">
                <a:solidFill>
                  <a:srgbClr val="E1EAF4"/>
                </a:solidFill>
                <a:latin typeface="Segoe UI" panose="020B0502040204020203" pitchFamily="34" charset="0"/>
              </a:rPr>
              <a:t>Fixed assessment mode and instructor limits</a:t>
            </a:r>
          </a:p>
          <a:p>
            <a:pPr marL="203200" indent="-203200">
              <a:spcAft>
                <a:spcPts val="900"/>
              </a:spcAft>
              <a:buFont typeface="+mj-lt"/>
              <a:buChar char="•"/>
            </a:pPr>
            <a:r>
              <a:rPr lang="en-SG" sz="1700">
                <a:solidFill>
                  <a:srgbClr val="E1EAF4"/>
                </a:solidFill>
                <a:latin typeface="Segoe UI" panose="020B0502040204020203" pitchFamily="34" charset="0"/>
              </a:rPr>
              <a:t>Report, cohort view and baseline comparison pages</a:t>
            </a:r>
          </a:p>
        </p:txBody>
      </p:sp>
      <p:sp>
        <p:nvSpPr>
          <p:cNvPr id="7" name="Rectangle: Rounded Corners 6">
            <a:extLst>
              <a:ext uri="{FF2B5EF4-FFF2-40B4-BE49-F238E27FC236}">
                <a16:creationId xmlns:a16="http://schemas.microsoft.com/office/drawing/2014/main" id="{868F9B8D-7A64-8866-64F0-59658037EE0B}"/>
              </a:ext>
            </a:extLst>
          </p:cNvPr>
          <p:cNvSpPr/>
          <p:nvPr/>
        </p:nvSpPr>
        <p:spPr>
          <a:xfrm>
            <a:off x="6248400" y="2235200"/>
            <a:ext cx="5334000" cy="3683000"/>
          </a:xfrm>
          <a:prstGeom prst="roundRect">
            <a:avLst>
              <a:gd name="adj" fmla="val 6000"/>
            </a:avLst>
          </a:prstGeom>
          <a:solidFill>
            <a:srgbClr val="160F2B"/>
          </a:solidFill>
          <a:ln w="9525">
            <a:solidFill>
              <a:srgbClr val="6B4F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ED1C949F-5CAA-74CB-7909-03E3901E69A0}"/>
              </a:ext>
            </a:extLst>
          </p:cNvPr>
          <p:cNvSpPr txBox="1"/>
          <p:nvPr/>
        </p:nvSpPr>
        <p:spPr>
          <a:xfrm>
            <a:off x="6502400" y="2438400"/>
            <a:ext cx="4826000" cy="279400"/>
          </a:xfrm>
          <a:prstGeom prst="rect">
            <a:avLst/>
          </a:prstGeom>
          <a:noFill/>
        </p:spPr>
        <p:txBody>
          <a:bodyPr vert="horz" wrap="square" lIns="0" tIns="0" rIns="0" bIns="0" rtlCol="0">
            <a:noAutofit/>
          </a:bodyPr>
          <a:lstStyle/>
          <a:p>
            <a:r>
              <a:rPr lang="en-SG" sz="1400" b="1">
                <a:solidFill>
                  <a:srgbClr val="FFE4C7"/>
                </a:solidFill>
                <a:latin typeface="Consolas" panose="020B0609020204030204" pitchFamily="49" charset="0"/>
              </a:rPr>
              <a:t>STILL TO DO  ·  NOT BUILT</a:t>
            </a:r>
          </a:p>
        </p:txBody>
      </p:sp>
      <p:sp>
        <p:nvSpPr>
          <p:cNvPr id="9" name="TextBox 8">
            <a:extLst>
              <a:ext uri="{FF2B5EF4-FFF2-40B4-BE49-F238E27FC236}">
                <a16:creationId xmlns:a16="http://schemas.microsoft.com/office/drawing/2014/main" id="{C3EE5F9A-99C1-F8F3-A252-9BE15AC9A098}"/>
              </a:ext>
            </a:extLst>
          </p:cNvPr>
          <p:cNvSpPr txBox="1"/>
          <p:nvPr/>
        </p:nvSpPr>
        <p:spPr>
          <a:xfrm>
            <a:off x="6502400" y="2870200"/>
            <a:ext cx="4826000" cy="2946400"/>
          </a:xfrm>
          <a:prstGeom prst="rect">
            <a:avLst/>
          </a:prstGeom>
          <a:noFill/>
        </p:spPr>
        <p:txBody>
          <a:bodyPr vert="horz" wrap="square" lIns="0" tIns="0" rIns="0" bIns="0" rtlCol="0">
            <a:noAutofit/>
          </a:bodyPr>
          <a:lstStyle/>
          <a:p>
            <a:pPr marL="203200" indent="-203200">
              <a:spcAft>
                <a:spcPts val="900"/>
              </a:spcAft>
              <a:buFont typeface="+mj-lt"/>
              <a:buChar char="•"/>
            </a:pPr>
            <a:r>
              <a:rPr lang="en-SG" sz="1700">
                <a:solidFill>
                  <a:srgbClr val="EBDFFF"/>
                </a:solidFill>
                <a:latin typeface="Segoe UI" panose="020B0502040204020203" pitchFamily="34" charset="0"/>
              </a:rPr>
              <a:t>Competency events for air and land scenarios</a:t>
            </a:r>
          </a:p>
          <a:p>
            <a:pPr marL="203200" indent="-203200">
              <a:spcAft>
                <a:spcPts val="900"/>
              </a:spcAft>
              <a:buFont typeface="+mj-lt"/>
              <a:buChar char="•"/>
            </a:pPr>
            <a:r>
              <a:rPr lang="en-SG" sz="1700">
                <a:solidFill>
                  <a:srgbClr val="EBDFFF"/>
                </a:solidFill>
                <a:latin typeface="Segoe UI" panose="020B0502040204020203" pitchFamily="34" charset="0"/>
              </a:rPr>
              <a:t>Crew and team competencies, crew report</a:t>
            </a:r>
          </a:p>
          <a:p>
            <a:pPr marL="203200" indent="-203200">
              <a:spcAft>
                <a:spcPts val="900"/>
              </a:spcAft>
              <a:buFont typeface="+mj-lt"/>
              <a:buChar char="•"/>
            </a:pPr>
            <a:r>
              <a:rPr lang="en-SG" sz="1700">
                <a:solidFill>
                  <a:srgbClr val="EBDFFF"/>
                </a:solidFill>
                <a:latin typeface="Segoe UI" panose="020B0502040204020203" pitchFamily="34" charset="0"/>
              </a:rPr>
              <a:t>Adapter to a real simulator over HLA or DIS</a:t>
            </a:r>
          </a:p>
          <a:p>
            <a:pPr marL="203200" indent="-203200">
              <a:spcAft>
                <a:spcPts val="900"/>
              </a:spcAft>
              <a:buFont typeface="+mj-lt"/>
              <a:buChar char="•"/>
            </a:pPr>
            <a:r>
              <a:rPr lang="en-SG" sz="1700">
                <a:solidFill>
                  <a:srgbClr val="EBDFFF"/>
                </a:solidFill>
                <a:latin typeface="Segoe UI" panose="020B0502040204020203" pitchFamily="34" charset="0"/>
              </a:rPr>
              <a:t>Trial with real cohorts</a:t>
            </a:r>
          </a:p>
          <a:p>
            <a:pPr marL="203200" indent="-203200">
              <a:spcAft>
                <a:spcPts val="900"/>
              </a:spcAft>
              <a:buFont typeface="+mj-lt"/>
              <a:buChar char="•"/>
            </a:pPr>
            <a:r>
              <a:rPr lang="en-SG" sz="1700">
                <a:solidFill>
                  <a:srgbClr val="EBDFFF"/>
                </a:solidFill>
                <a:latin typeface="Segoe UI" panose="020B0502040204020203" pitchFamily="34" charset="0"/>
              </a:rPr>
              <a:t>Local model approved on the event laptops</a:t>
            </a:r>
          </a:p>
          <a:p>
            <a:pPr marL="203200" indent="-203200">
              <a:spcAft>
                <a:spcPts val="900"/>
              </a:spcAft>
              <a:buFont typeface="+mj-lt"/>
              <a:buChar char="•"/>
            </a:pPr>
            <a:r>
              <a:rPr lang="en-SG" sz="1700">
                <a:solidFill>
                  <a:srgbClr val="EBDFFF"/>
                </a:solidFill>
                <a:latin typeface="Segoe UI" panose="020B0502040204020203" pitchFamily="34" charset="0"/>
              </a:rPr>
              <a:t>Division figures for the business case</a:t>
            </a:r>
          </a:p>
        </p:txBody>
      </p:sp>
      <p:sp>
        <p:nvSpPr>
          <p:cNvPr id="10" name="TextBox 9">
            <a:extLst>
              <a:ext uri="{FF2B5EF4-FFF2-40B4-BE49-F238E27FC236}">
                <a16:creationId xmlns:a16="http://schemas.microsoft.com/office/drawing/2014/main" id="{AB5530BB-8F91-B24B-49BD-0D7FED0FE294}"/>
              </a:ext>
            </a:extLst>
          </p:cNvPr>
          <p:cNvSpPr txBox="1"/>
          <p:nvPr/>
        </p:nvSpPr>
        <p:spPr>
          <a:xfrm>
            <a:off x="609600" y="6400800"/>
            <a:ext cx="8890000" cy="228600"/>
          </a:xfrm>
          <a:prstGeom prst="rect">
            <a:avLst/>
          </a:prstGeom>
          <a:noFill/>
        </p:spPr>
        <p:txBody>
          <a:bodyPr vert="horz" wrap="square" lIns="0" tIns="0" rIns="0" bIns="0" rtlCol="0">
            <a:noAutofit/>
          </a:bodyPr>
          <a:lstStyle/>
          <a:p>
            <a:r>
              <a:rPr lang="en-SG" sz="1200">
                <a:solidFill>
                  <a:srgbClr val="93ABC6"/>
                </a:solidFill>
                <a:latin typeface="Consolas" panose="020B0609020204030204" pitchFamily="49" charset="0"/>
              </a:rPr>
              <a:t>NO COMPATIBILITY CLAIMED WITH ANY NAMED SIMULATOR OR STANDARD</a:t>
            </a:r>
          </a:p>
        </p:txBody>
      </p:sp>
      <p:sp>
        <p:nvSpPr>
          <p:cNvPr id="11" name="TextBox 10">
            <a:extLst>
              <a:ext uri="{FF2B5EF4-FFF2-40B4-BE49-F238E27FC236}">
                <a16:creationId xmlns:a16="http://schemas.microsoft.com/office/drawing/2014/main" id="{99274AD5-66A8-F2D4-5A7A-0DBA51265B97}"/>
              </a:ext>
            </a:extLst>
          </p:cNvPr>
          <p:cNvSpPr txBox="1"/>
          <p:nvPr/>
        </p:nvSpPr>
        <p:spPr>
          <a:xfrm>
            <a:off x="10312400" y="6400800"/>
            <a:ext cx="1270000" cy="228600"/>
          </a:xfrm>
          <a:prstGeom prst="rect">
            <a:avLst/>
          </a:prstGeom>
          <a:noFill/>
        </p:spPr>
        <p:txBody>
          <a:bodyPr vert="horz" wrap="square" lIns="0" tIns="0" rIns="0" bIns="0" rtlCol="0">
            <a:noAutofit/>
          </a:bodyPr>
          <a:lstStyle/>
          <a:p>
            <a:pPr algn="r"/>
            <a:r>
              <a:rPr lang="en-SG" sz="1200">
                <a:solidFill>
                  <a:srgbClr val="93ABC6"/>
                </a:solidFill>
                <a:latin typeface="Consolas" panose="020B0609020204030204" pitchFamily="49" charset="0"/>
              </a:rPr>
              <a:t>14</a:t>
            </a:r>
          </a:p>
        </p:txBody>
      </p:sp>
    </p:spTree>
    <p:extLst>
      <p:ext uri="{BB962C8B-B14F-4D97-AF65-F5344CB8AC3E}">
        <p14:creationId xmlns:p14="http://schemas.microsoft.com/office/powerpoint/2010/main" val="3958838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C3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0771-2B3A-5257-D779-803E2FC0B780}"/>
              </a:ext>
            </a:extLst>
          </p:cNvPr>
          <p:cNvSpPr>
            <a:spLocks noGrp="1"/>
          </p:cNvSpPr>
          <p:nvPr>
            <p:ph type="title"/>
          </p:nvPr>
        </p:nvSpPr>
        <p:spPr>
          <a:xfrm>
            <a:off x="609600" y="787400"/>
            <a:ext cx="10972800" cy="762000"/>
          </a:xfrm>
        </p:spPr>
        <p:txBody>
          <a:bodyPr wrap="square" lIns="0" tIns="0" rIns="0" bIns="0" anchor="t">
            <a:noAutofit/>
          </a:bodyPr>
          <a:lstStyle/>
          <a:p>
            <a:r>
              <a:rPr lang="en-SG" sz="3600" b="1">
                <a:solidFill>
                  <a:srgbClr val="F7FAFD"/>
                </a:solidFill>
                <a:latin typeface="Segoe UI" panose="020B0502040204020203" pitchFamily="34" charset="0"/>
              </a:rPr>
              <a:t>What fewer sessions to proficiency are worth in S$</a:t>
            </a:r>
          </a:p>
        </p:txBody>
      </p:sp>
      <p:sp>
        <p:nvSpPr>
          <p:cNvPr id="3" name="TextBox 2">
            <a:extLst>
              <a:ext uri="{FF2B5EF4-FFF2-40B4-BE49-F238E27FC236}">
                <a16:creationId xmlns:a16="http://schemas.microsoft.com/office/drawing/2014/main" id="{677B48FF-585D-7055-4EA8-13390C56F06B}"/>
              </a:ext>
            </a:extLst>
          </p:cNvPr>
          <p:cNvSpPr txBox="1"/>
          <p:nvPr/>
        </p:nvSpPr>
        <p:spPr>
          <a:xfrm>
            <a:off x="609600" y="457200"/>
            <a:ext cx="5969000" cy="254000"/>
          </a:xfrm>
          <a:prstGeom prst="rect">
            <a:avLst/>
          </a:prstGeom>
          <a:noFill/>
        </p:spPr>
        <p:txBody>
          <a:bodyPr vert="horz" wrap="square" lIns="0" tIns="0" rIns="0" bIns="0" rtlCol="0">
            <a:noAutofit/>
          </a:bodyPr>
          <a:lstStyle/>
          <a:p>
            <a:r>
              <a:rPr lang="en-SG" sz="1400">
                <a:solidFill>
                  <a:srgbClr val="2F9DFF"/>
                </a:solidFill>
                <a:latin typeface="Consolas" panose="020B0609020204030204" pitchFamily="49" charset="0"/>
              </a:rPr>
              <a:t>BUSINESS CASE</a:t>
            </a:r>
          </a:p>
        </p:txBody>
      </p:sp>
      <p:sp>
        <p:nvSpPr>
          <p:cNvPr id="4" name="Rectangle: Rounded Corners 3">
            <a:extLst>
              <a:ext uri="{FF2B5EF4-FFF2-40B4-BE49-F238E27FC236}">
                <a16:creationId xmlns:a16="http://schemas.microsoft.com/office/drawing/2014/main" id="{A143EE49-D89A-5C8C-3836-68E355F3CCC8}"/>
              </a:ext>
            </a:extLst>
          </p:cNvPr>
          <p:cNvSpPr/>
          <p:nvPr/>
        </p:nvSpPr>
        <p:spPr>
          <a:xfrm>
            <a:off x="609600" y="1778000"/>
            <a:ext cx="4191000" cy="4191000"/>
          </a:xfrm>
          <a:prstGeom prst="roundRect">
            <a:avLst>
              <a:gd name="adj" fmla="val 6000"/>
            </a:avLst>
          </a:prstGeom>
          <a:solidFill>
            <a:srgbClr val="12243C"/>
          </a:solidFill>
          <a:ln w="9525">
            <a:solidFill>
              <a:srgbClr val="1E36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A8954628-A6FE-EFF7-C943-A63B8ECB25C2}"/>
              </a:ext>
            </a:extLst>
          </p:cNvPr>
          <p:cNvSpPr txBox="1"/>
          <p:nvPr/>
        </p:nvSpPr>
        <p:spPr>
          <a:xfrm>
            <a:off x="838200" y="1981200"/>
            <a:ext cx="3759200" cy="254000"/>
          </a:xfrm>
          <a:prstGeom prst="rect">
            <a:avLst/>
          </a:prstGeom>
          <a:noFill/>
        </p:spPr>
        <p:txBody>
          <a:bodyPr vert="horz" wrap="square" lIns="0" tIns="0" rIns="0" bIns="0" rtlCol="0">
            <a:noAutofit/>
          </a:bodyPr>
          <a:lstStyle/>
          <a:p>
            <a:r>
              <a:rPr lang="en-SG" sz="1200" b="1">
                <a:solidFill>
                  <a:srgbClr val="FFE4C7"/>
                </a:solidFill>
                <a:latin typeface="Consolas" panose="020B0609020204030204" pitchFamily="49" charset="0"/>
              </a:rPr>
              <a:t>ASSUMED · REPLACE WITH DIVISION FIGURES</a:t>
            </a:r>
          </a:p>
        </p:txBody>
      </p:sp>
      <p:sp>
        <p:nvSpPr>
          <p:cNvPr id="6" name="TextBox 5">
            <a:extLst>
              <a:ext uri="{FF2B5EF4-FFF2-40B4-BE49-F238E27FC236}">
                <a16:creationId xmlns:a16="http://schemas.microsoft.com/office/drawing/2014/main" id="{17FF1BE1-6CB4-E7D6-5376-1F882A028AE0}"/>
              </a:ext>
            </a:extLst>
          </p:cNvPr>
          <p:cNvSpPr txBox="1"/>
          <p:nvPr/>
        </p:nvSpPr>
        <p:spPr>
          <a:xfrm>
            <a:off x="838200" y="2336800"/>
            <a:ext cx="3759200" cy="3429000"/>
          </a:xfrm>
          <a:prstGeom prst="rect">
            <a:avLst/>
          </a:prstGeom>
          <a:noFill/>
        </p:spPr>
        <p:txBody>
          <a:bodyPr vert="horz" wrap="square" lIns="0" tIns="0" rIns="0" bIns="0" rtlCol="0">
            <a:noAutofit/>
          </a:bodyPr>
          <a:lstStyle/>
          <a:p>
            <a:pPr>
              <a:spcAft>
                <a:spcPts val="400"/>
              </a:spcAft>
            </a:pPr>
            <a:r>
              <a:rPr lang="en-SG" sz="1500">
                <a:solidFill>
                  <a:srgbClr val="E1EAF4"/>
                </a:solidFill>
                <a:latin typeface="Segoe UI" panose="020B0502040204020203" pitchFamily="34" charset="0"/>
              </a:rPr>
              <a:t>200 trainees a year</a:t>
            </a:r>
          </a:p>
          <a:p>
            <a:pPr>
              <a:spcAft>
                <a:spcPts val="400"/>
              </a:spcAft>
            </a:pPr>
            <a:r>
              <a:rPr lang="en-SG" sz="1500">
                <a:solidFill>
                  <a:srgbClr val="E1EAF4"/>
                </a:solidFill>
                <a:latin typeface="Segoe UI" panose="020B0502040204020203" pitchFamily="34" charset="0"/>
              </a:rPr>
              <a:t>30 sessions to proficiency</a:t>
            </a:r>
          </a:p>
          <a:p>
            <a:pPr>
              <a:spcAft>
                <a:spcPts val="400"/>
              </a:spcAft>
            </a:pPr>
            <a:r>
              <a:rPr lang="en-SG" sz="1500">
                <a:solidFill>
                  <a:srgbClr val="E1EAF4"/>
                </a:solidFill>
                <a:latin typeface="Segoe UI" panose="020B0502040204020203" pitchFamily="34" charset="0"/>
              </a:rPr>
              <a:t>= 6,000 sessions a year</a:t>
            </a:r>
          </a:p>
          <a:p>
            <a:pPr>
              <a:spcAft>
                <a:spcPts val="400"/>
              </a:spcAft>
            </a:pPr>
            <a:endParaRPr lang="en-SG" sz="1500">
              <a:solidFill>
                <a:srgbClr val="E1EAF4"/>
              </a:solidFill>
              <a:latin typeface="Segoe UI" panose="020B0502040204020203" pitchFamily="34" charset="0"/>
            </a:endParaRPr>
          </a:p>
          <a:p>
            <a:pPr>
              <a:spcAft>
                <a:spcPts val="400"/>
              </a:spcAft>
            </a:pPr>
            <a:r>
              <a:rPr lang="en-SG" sz="1500">
                <a:solidFill>
                  <a:srgbClr val="E1EAF4"/>
                </a:solidFill>
                <a:latin typeface="Segoe UI" panose="020B0502040204020203" pitchFamily="34" charset="0"/>
              </a:rPr>
              <a:t>Value of an avoided session = simulator running cost + instructor time</a:t>
            </a:r>
          </a:p>
          <a:p>
            <a:pPr>
              <a:spcAft>
                <a:spcPts val="400"/>
              </a:spcAft>
            </a:pPr>
            <a:endParaRPr lang="en-SG" sz="1500">
              <a:solidFill>
                <a:srgbClr val="E1EAF4"/>
              </a:solidFill>
              <a:latin typeface="Segoe UI" panose="020B0502040204020203" pitchFamily="34" charset="0"/>
            </a:endParaRPr>
          </a:p>
          <a:p>
            <a:pPr>
              <a:spcAft>
                <a:spcPts val="400"/>
              </a:spcAft>
            </a:pPr>
            <a:r>
              <a:rPr lang="en-SG" sz="1500">
                <a:solidFill>
                  <a:srgbClr val="E1EAF4"/>
                </a:solidFill>
                <a:latin typeface="Segoe UI" panose="020B0502040204020203" pitchFamily="34" charset="0"/>
              </a:rPr>
              <a:t>r = share of sessions avoided by targeted practice, never yet measured</a:t>
            </a:r>
          </a:p>
        </p:txBody>
      </p:sp>
      <p:graphicFrame>
        <p:nvGraphicFramePr>
          <p:cNvPr id="7" name="Savings sensitivity table" descr="Annual saving in Singapore dollars for three avoided-session shares and three session values">
            <a:extLst>
              <a:ext uri="{FF2B5EF4-FFF2-40B4-BE49-F238E27FC236}">
                <a16:creationId xmlns:a16="http://schemas.microsoft.com/office/drawing/2014/main" id="{E5EACF56-796F-890C-4C83-C569C9352A62}"/>
              </a:ext>
            </a:extLst>
          </p:cNvPr>
          <p:cNvGraphicFramePr>
            <a:graphicFrameLocks noGrp="1"/>
          </p:cNvGraphicFramePr>
          <p:nvPr>
            <p:extLst>
              <p:ext uri="{D42A27DB-BD31-4B8C-83A1-F6EECF244321}">
                <p14:modId xmlns:p14="http://schemas.microsoft.com/office/powerpoint/2010/main" val="3899074551"/>
              </p:ext>
            </p:extLst>
          </p:nvPr>
        </p:nvGraphicFramePr>
        <p:xfrm>
          <a:off x="5105400" y="1778000"/>
          <a:ext cx="6477000" cy="3048000"/>
        </p:xfrm>
        <a:graphic>
          <a:graphicData uri="http://schemas.openxmlformats.org/drawingml/2006/table">
            <a:tbl>
              <a:tblPr firstRow="1" bandRow="1">
                <a:tableStyleId>{2D5ABB26-0587-4C30-8999-92F81FD0307C}</a:tableStyleId>
              </a:tblPr>
              <a:tblGrid>
                <a:gridCol w="2133600">
                  <a:extLst>
                    <a:ext uri="{9D8B030D-6E8A-4147-A177-3AD203B41FA5}">
                      <a16:colId xmlns:a16="http://schemas.microsoft.com/office/drawing/2014/main" val="2055635292"/>
                    </a:ext>
                  </a:extLst>
                </a:gridCol>
                <a:gridCol w="1447800">
                  <a:extLst>
                    <a:ext uri="{9D8B030D-6E8A-4147-A177-3AD203B41FA5}">
                      <a16:colId xmlns:a16="http://schemas.microsoft.com/office/drawing/2014/main" val="1582816003"/>
                    </a:ext>
                  </a:extLst>
                </a:gridCol>
                <a:gridCol w="1447800">
                  <a:extLst>
                    <a:ext uri="{9D8B030D-6E8A-4147-A177-3AD203B41FA5}">
                      <a16:colId xmlns:a16="http://schemas.microsoft.com/office/drawing/2014/main" val="831962907"/>
                    </a:ext>
                  </a:extLst>
                </a:gridCol>
                <a:gridCol w="1447800">
                  <a:extLst>
                    <a:ext uri="{9D8B030D-6E8A-4147-A177-3AD203B41FA5}">
                      <a16:colId xmlns:a16="http://schemas.microsoft.com/office/drawing/2014/main" val="2520871679"/>
                    </a:ext>
                  </a:extLst>
                </a:gridCol>
              </a:tblGrid>
              <a:tr h="558800">
                <a:tc>
                  <a:txBody>
                    <a:bodyPr/>
                    <a:lstStyle/>
                    <a:p>
                      <a:r>
                        <a:rPr lang="en-SG" sz="1300" b="1">
                          <a:solidFill>
                            <a:srgbClr val="F7FAFD"/>
                          </a:solidFill>
                          <a:latin typeface="Segoe UI" panose="020B0502040204020203" pitchFamily="34" charset="0"/>
                        </a:rPr>
                        <a:t>Avoided sessions</a:t>
                      </a:r>
                    </a:p>
                  </a:txBody>
                  <a:tcPr marL="177800" marR="127000" anchor="ctr">
                    <a:solidFill>
                      <a:srgbClr val="1A2D47"/>
                    </a:solidFill>
                  </a:tcPr>
                </a:tc>
                <a:tc>
                  <a:txBody>
                    <a:bodyPr/>
                    <a:lstStyle/>
                    <a:p>
                      <a:r>
                        <a:rPr lang="en-SG" sz="1300" b="1">
                          <a:solidFill>
                            <a:srgbClr val="F7FAFD"/>
                          </a:solidFill>
                          <a:latin typeface="Segoe UI" panose="020B0502040204020203" pitchFamily="34" charset="0"/>
                        </a:rPr>
                        <a:t>S$1,000 each</a:t>
                      </a:r>
                    </a:p>
                  </a:txBody>
                  <a:tcPr marL="177800" marR="127000" anchor="ctr">
                    <a:solidFill>
                      <a:srgbClr val="1A2D47"/>
                    </a:solidFill>
                  </a:tcPr>
                </a:tc>
                <a:tc>
                  <a:txBody>
                    <a:bodyPr/>
                    <a:lstStyle/>
                    <a:p>
                      <a:r>
                        <a:rPr lang="en-SG" sz="1300" b="1">
                          <a:solidFill>
                            <a:srgbClr val="F7FAFD"/>
                          </a:solidFill>
                          <a:latin typeface="Segoe UI" panose="020B0502040204020203" pitchFamily="34" charset="0"/>
                        </a:rPr>
                        <a:t>S$2,000 each</a:t>
                      </a:r>
                    </a:p>
                  </a:txBody>
                  <a:tcPr marL="177800" marR="127000" anchor="ctr">
                    <a:solidFill>
                      <a:srgbClr val="1A2D47"/>
                    </a:solidFill>
                  </a:tcPr>
                </a:tc>
                <a:tc>
                  <a:txBody>
                    <a:bodyPr/>
                    <a:lstStyle/>
                    <a:p>
                      <a:r>
                        <a:rPr lang="en-SG" sz="1300" b="1">
                          <a:solidFill>
                            <a:srgbClr val="F7FAFD"/>
                          </a:solidFill>
                          <a:latin typeface="Segoe UI" panose="020B0502040204020203" pitchFamily="34" charset="0"/>
                        </a:rPr>
                        <a:t>S$3,000 each</a:t>
                      </a:r>
                    </a:p>
                  </a:txBody>
                  <a:tcPr marL="177800" marR="127000" anchor="ctr">
                    <a:solidFill>
                      <a:srgbClr val="1A2D47"/>
                    </a:solidFill>
                  </a:tcPr>
                </a:tc>
                <a:extLst>
                  <a:ext uri="{0D108BD9-81ED-4DB2-BD59-A6C34878D82A}">
                    <a16:rowId xmlns:a16="http://schemas.microsoft.com/office/drawing/2014/main" val="3892766137"/>
                  </a:ext>
                </a:extLst>
              </a:tr>
              <a:tr h="787400">
                <a:tc>
                  <a:txBody>
                    <a:bodyPr/>
                    <a:lstStyle/>
                    <a:p>
                      <a:r>
                        <a:rPr lang="en-SG" sz="1500" b="1">
                          <a:solidFill>
                            <a:srgbClr val="F7FAFD"/>
                          </a:solidFill>
                          <a:latin typeface="Segoe UI" panose="020B0502040204020203" pitchFamily="34" charset="0"/>
                        </a:rPr>
                        <a:t>r = 5%  (300)</a:t>
                      </a:r>
                    </a:p>
                  </a:txBody>
                  <a:tcPr marL="177800" marR="127000" anchor="ctr">
                    <a:solidFill>
                      <a:srgbClr val="12243C"/>
                    </a:solidFill>
                  </a:tcPr>
                </a:tc>
                <a:tc>
                  <a:txBody>
                    <a:bodyPr/>
                    <a:lstStyle/>
                    <a:p>
                      <a:r>
                        <a:rPr lang="en-SG" sz="2000" b="1">
                          <a:solidFill>
                            <a:srgbClr val="EBDFFF"/>
                          </a:solidFill>
                          <a:latin typeface="Segoe UI" panose="020B0502040204020203" pitchFamily="34" charset="0"/>
                        </a:rPr>
                        <a:t>S$0.3M</a:t>
                      </a:r>
                    </a:p>
                  </a:txBody>
                  <a:tcPr marL="177800" marR="127000" anchor="ctr">
                    <a:solidFill>
                      <a:srgbClr val="12243C"/>
                    </a:solidFill>
                  </a:tcPr>
                </a:tc>
                <a:tc>
                  <a:txBody>
                    <a:bodyPr/>
                    <a:lstStyle/>
                    <a:p>
                      <a:r>
                        <a:rPr lang="en-SG" sz="2000" b="1">
                          <a:solidFill>
                            <a:srgbClr val="EBDFFF"/>
                          </a:solidFill>
                          <a:latin typeface="Segoe UI" panose="020B0502040204020203" pitchFamily="34" charset="0"/>
                        </a:rPr>
                        <a:t>S$0.6M</a:t>
                      </a:r>
                    </a:p>
                  </a:txBody>
                  <a:tcPr marL="177800" marR="127000" anchor="ctr">
                    <a:solidFill>
                      <a:srgbClr val="12243C"/>
                    </a:solidFill>
                  </a:tcPr>
                </a:tc>
                <a:tc>
                  <a:txBody>
                    <a:bodyPr/>
                    <a:lstStyle/>
                    <a:p>
                      <a:r>
                        <a:rPr lang="en-SG" sz="2000" b="1">
                          <a:solidFill>
                            <a:srgbClr val="EBDFFF"/>
                          </a:solidFill>
                          <a:latin typeface="Segoe UI" panose="020B0502040204020203" pitchFamily="34" charset="0"/>
                        </a:rPr>
                        <a:t>S$0.9M</a:t>
                      </a:r>
                    </a:p>
                  </a:txBody>
                  <a:tcPr marL="177800" marR="127000" anchor="ctr">
                    <a:solidFill>
                      <a:srgbClr val="12243C"/>
                    </a:solidFill>
                  </a:tcPr>
                </a:tc>
                <a:extLst>
                  <a:ext uri="{0D108BD9-81ED-4DB2-BD59-A6C34878D82A}">
                    <a16:rowId xmlns:a16="http://schemas.microsoft.com/office/drawing/2014/main" val="283943177"/>
                  </a:ext>
                </a:extLst>
              </a:tr>
              <a:tr h="787400">
                <a:tc>
                  <a:txBody>
                    <a:bodyPr/>
                    <a:lstStyle/>
                    <a:p>
                      <a:r>
                        <a:rPr lang="en-SG" sz="1500" b="1">
                          <a:solidFill>
                            <a:srgbClr val="F7FAFD"/>
                          </a:solidFill>
                          <a:latin typeface="Segoe UI" panose="020B0502040204020203" pitchFamily="34" charset="0"/>
                        </a:rPr>
                        <a:t>r = 10%  (600)</a:t>
                      </a:r>
                    </a:p>
                  </a:txBody>
                  <a:tcPr marL="177800" marR="127000" anchor="ctr">
                    <a:solidFill>
                      <a:srgbClr val="0D1C30"/>
                    </a:solidFill>
                  </a:tcPr>
                </a:tc>
                <a:tc>
                  <a:txBody>
                    <a:bodyPr/>
                    <a:lstStyle/>
                    <a:p>
                      <a:r>
                        <a:rPr lang="en-SG" sz="2000" b="1">
                          <a:solidFill>
                            <a:srgbClr val="EBDFFF"/>
                          </a:solidFill>
                          <a:latin typeface="Segoe UI" panose="020B0502040204020203" pitchFamily="34" charset="0"/>
                        </a:rPr>
                        <a:t>S$0.6M</a:t>
                      </a:r>
                    </a:p>
                  </a:txBody>
                  <a:tcPr marL="177800" marR="127000" anchor="ctr">
                    <a:solidFill>
                      <a:srgbClr val="0D1C30"/>
                    </a:solidFill>
                  </a:tcPr>
                </a:tc>
                <a:tc>
                  <a:txBody>
                    <a:bodyPr/>
                    <a:lstStyle/>
                    <a:p>
                      <a:r>
                        <a:rPr lang="en-SG" sz="2000" b="1">
                          <a:solidFill>
                            <a:srgbClr val="EBDFFF"/>
                          </a:solidFill>
                          <a:latin typeface="Segoe UI" panose="020B0502040204020203" pitchFamily="34" charset="0"/>
                        </a:rPr>
                        <a:t>S$1.2M</a:t>
                      </a:r>
                    </a:p>
                  </a:txBody>
                  <a:tcPr marL="177800" marR="127000" anchor="ctr">
                    <a:solidFill>
                      <a:srgbClr val="0D1C30"/>
                    </a:solidFill>
                  </a:tcPr>
                </a:tc>
                <a:tc>
                  <a:txBody>
                    <a:bodyPr/>
                    <a:lstStyle/>
                    <a:p>
                      <a:r>
                        <a:rPr lang="en-SG" sz="2000" b="1">
                          <a:solidFill>
                            <a:srgbClr val="EBDFFF"/>
                          </a:solidFill>
                          <a:latin typeface="Segoe UI" panose="020B0502040204020203" pitchFamily="34" charset="0"/>
                        </a:rPr>
                        <a:t>S$1.8M</a:t>
                      </a:r>
                    </a:p>
                  </a:txBody>
                  <a:tcPr marL="177800" marR="127000" anchor="ctr">
                    <a:solidFill>
                      <a:srgbClr val="0D1C30"/>
                    </a:solidFill>
                  </a:tcPr>
                </a:tc>
                <a:extLst>
                  <a:ext uri="{0D108BD9-81ED-4DB2-BD59-A6C34878D82A}">
                    <a16:rowId xmlns:a16="http://schemas.microsoft.com/office/drawing/2014/main" val="4006498945"/>
                  </a:ext>
                </a:extLst>
              </a:tr>
              <a:tr h="787400">
                <a:tc>
                  <a:txBody>
                    <a:bodyPr/>
                    <a:lstStyle/>
                    <a:p>
                      <a:r>
                        <a:rPr lang="en-SG" sz="1500" b="1">
                          <a:solidFill>
                            <a:srgbClr val="F7FAFD"/>
                          </a:solidFill>
                          <a:latin typeface="Segoe UI" panose="020B0502040204020203" pitchFamily="34" charset="0"/>
                        </a:rPr>
                        <a:t>r = 15%  (900)</a:t>
                      </a:r>
                    </a:p>
                  </a:txBody>
                  <a:tcPr marL="177800" marR="127000" anchor="ctr">
                    <a:solidFill>
                      <a:srgbClr val="12243C"/>
                    </a:solidFill>
                  </a:tcPr>
                </a:tc>
                <a:tc>
                  <a:txBody>
                    <a:bodyPr/>
                    <a:lstStyle/>
                    <a:p>
                      <a:r>
                        <a:rPr lang="en-SG" sz="2000" b="1">
                          <a:solidFill>
                            <a:srgbClr val="EBDFFF"/>
                          </a:solidFill>
                          <a:latin typeface="Segoe UI" panose="020B0502040204020203" pitchFamily="34" charset="0"/>
                        </a:rPr>
                        <a:t>S$0.9M</a:t>
                      </a:r>
                    </a:p>
                  </a:txBody>
                  <a:tcPr marL="177800" marR="127000" anchor="ctr">
                    <a:solidFill>
                      <a:srgbClr val="12243C"/>
                    </a:solidFill>
                  </a:tcPr>
                </a:tc>
                <a:tc>
                  <a:txBody>
                    <a:bodyPr/>
                    <a:lstStyle/>
                    <a:p>
                      <a:r>
                        <a:rPr lang="en-SG" sz="2000" b="1">
                          <a:solidFill>
                            <a:srgbClr val="EBDFFF"/>
                          </a:solidFill>
                          <a:latin typeface="Segoe UI" panose="020B0502040204020203" pitchFamily="34" charset="0"/>
                        </a:rPr>
                        <a:t>S$1.8M</a:t>
                      </a:r>
                    </a:p>
                  </a:txBody>
                  <a:tcPr marL="177800" marR="127000" anchor="ctr">
                    <a:solidFill>
                      <a:srgbClr val="12243C"/>
                    </a:solidFill>
                  </a:tcPr>
                </a:tc>
                <a:tc>
                  <a:txBody>
                    <a:bodyPr/>
                    <a:lstStyle/>
                    <a:p>
                      <a:r>
                        <a:rPr lang="en-SG" sz="2000" b="1">
                          <a:solidFill>
                            <a:srgbClr val="EBDFFF"/>
                          </a:solidFill>
                          <a:latin typeface="Segoe UI" panose="020B0502040204020203" pitchFamily="34" charset="0"/>
                        </a:rPr>
                        <a:t>S$2.7M</a:t>
                      </a:r>
                    </a:p>
                  </a:txBody>
                  <a:tcPr marL="177800" marR="127000" anchor="ctr">
                    <a:solidFill>
                      <a:srgbClr val="12243C"/>
                    </a:solidFill>
                  </a:tcPr>
                </a:tc>
                <a:extLst>
                  <a:ext uri="{0D108BD9-81ED-4DB2-BD59-A6C34878D82A}">
                    <a16:rowId xmlns:a16="http://schemas.microsoft.com/office/drawing/2014/main" val="3432317708"/>
                  </a:ext>
                </a:extLst>
              </a:tr>
            </a:tbl>
          </a:graphicData>
        </a:graphic>
      </p:graphicFrame>
      <p:sp>
        <p:nvSpPr>
          <p:cNvPr id="8" name="TextBox 7">
            <a:extLst>
              <a:ext uri="{FF2B5EF4-FFF2-40B4-BE49-F238E27FC236}">
                <a16:creationId xmlns:a16="http://schemas.microsoft.com/office/drawing/2014/main" id="{79B40AF0-F96E-62A2-F86F-3CF09E54231D}"/>
              </a:ext>
            </a:extLst>
          </p:cNvPr>
          <p:cNvSpPr txBox="1"/>
          <p:nvPr/>
        </p:nvSpPr>
        <p:spPr>
          <a:xfrm>
            <a:off x="5105400" y="5080000"/>
            <a:ext cx="6477000" cy="889000"/>
          </a:xfrm>
          <a:prstGeom prst="rect">
            <a:avLst/>
          </a:prstGeom>
          <a:noFill/>
        </p:spPr>
        <p:txBody>
          <a:bodyPr vert="horz" wrap="square" lIns="0" tIns="0" rIns="0" bIns="0" rtlCol="0">
            <a:noAutofit/>
          </a:bodyPr>
          <a:lstStyle/>
          <a:p>
            <a:r>
              <a:rPr lang="en-SG" sz="1500">
                <a:solidFill>
                  <a:srgbClr val="93ABC6"/>
                </a:solidFill>
                <a:latin typeface="Segoe UI" panose="020B0502040204020203" pitchFamily="34" charset="0"/>
              </a:rPr>
              <a:t>Read as: if targeted practice avoids 10% of sessions and each avoided session is worth S$2,000, the saving is S$1.2M a year. Saving = sessions a year × r × value per session.</a:t>
            </a:r>
          </a:p>
        </p:txBody>
      </p:sp>
      <p:sp>
        <p:nvSpPr>
          <p:cNvPr id="9" name="TextBox 8">
            <a:extLst>
              <a:ext uri="{FF2B5EF4-FFF2-40B4-BE49-F238E27FC236}">
                <a16:creationId xmlns:a16="http://schemas.microsoft.com/office/drawing/2014/main" id="{47FBB51A-DE72-4854-1B78-CA305CAC7359}"/>
              </a:ext>
            </a:extLst>
          </p:cNvPr>
          <p:cNvSpPr txBox="1"/>
          <p:nvPr/>
        </p:nvSpPr>
        <p:spPr>
          <a:xfrm>
            <a:off x="609600" y="6400800"/>
            <a:ext cx="8890000" cy="228600"/>
          </a:xfrm>
          <a:prstGeom prst="rect">
            <a:avLst/>
          </a:prstGeom>
          <a:noFill/>
        </p:spPr>
        <p:txBody>
          <a:bodyPr vert="horz" wrap="square" lIns="0" tIns="0" rIns="0" bIns="0" rtlCol="0">
            <a:noAutofit/>
          </a:bodyPr>
          <a:lstStyle/>
          <a:p>
            <a:r>
              <a:rPr lang="en-SG" sz="1200">
                <a:solidFill>
                  <a:srgbClr val="93ABC6"/>
                </a:solidFill>
                <a:latin typeface="Consolas" panose="020B0609020204030204" pitchFamily="49" charset="0"/>
              </a:rPr>
              <a:t>ILLUSTRATIVE ESTIMATE  ·  r IS A HYPOTHESIS, NOT A RESULT</a:t>
            </a:r>
          </a:p>
        </p:txBody>
      </p:sp>
      <p:sp>
        <p:nvSpPr>
          <p:cNvPr id="10" name="TextBox 9">
            <a:extLst>
              <a:ext uri="{FF2B5EF4-FFF2-40B4-BE49-F238E27FC236}">
                <a16:creationId xmlns:a16="http://schemas.microsoft.com/office/drawing/2014/main" id="{2D57AEE2-5913-8EC9-600C-E1C027015B2D}"/>
              </a:ext>
            </a:extLst>
          </p:cNvPr>
          <p:cNvSpPr txBox="1"/>
          <p:nvPr/>
        </p:nvSpPr>
        <p:spPr>
          <a:xfrm>
            <a:off x="10312400" y="6400800"/>
            <a:ext cx="1270000" cy="228600"/>
          </a:xfrm>
          <a:prstGeom prst="rect">
            <a:avLst/>
          </a:prstGeom>
          <a:noFill/>
        </p:spPr>
        <p:txBody>
          <a:bodyPr vert="horz" wrap="square" lIns="0" tIns="0" rIns="0" bIns="0" rtlCol="0">
            <a:noAutofit/>
          </a:bodyPr>
          <a:lstStyle/>
          <a:p>
            <a:pPr algn="r"/>
            <a:r>
              <a:rPr lang="en-SG" sz="1200">
                <a:solidFill>
                  <a:srgbClr val="93ABC6"/>
                </a:solidFill>
                <a:latin typeface="Consolas" panose="020B0609020204030204" pitchFamily="49" charset="0"/>
              </a:rPr>
              <a:t>15</a:t>
            </a:r>
          </a:p>
        </p:txBody>
      </p:sp>
    </p:spTree>
    <p:extLst>
      <p:ext uri="{BB962C8B-B14F-4D97-AF65-F5344CB8AC3E}">
        <p14:creationId xmlns:p14="http://schemas.microsoft.com/office/powerpoint/2010/main" val="1916684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4183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45333-6923-9E43-9C5A-034DEFA5B103}"/>
              </a:ext>
            </a:extLst>
          </p:cNvPr>
          <p:cNvSpPr>
            <a:spLocks noGrp="1"/>
          </p:cNvSpPr>
          <p:nvPr>
            <p:ph type="title"/>
          </p:nvPr>
        </p:nvSpPr>
        <p:spPr>
          <a:xfrm>
            <a:off x="609600" y="1904999"/>
            <a:ext cx="10160000" cy="2413000"/>
          </a:xfrm>
        </p:spPr>
        <p:txBody>
          <a:bodyPr wrap="square" lIns="0" tIns="0" rIns="0" bIns="0" anchor="t">
            <a:noAutofit/>
          </a:bodyPr>
          <a:lstStyle/>
          <a:p>
            <a:r>
              <a:rPr lang="en-SG" sz="4000" b="1">
                <a:solidFill>
                  <a:srgbClr val="F3ECFF"/>
                </a:solidFill>
                <a:latin typeface="Segoe UI" panose="020B0502040204020203" pitchFamily="34" charset="0"/>
              </a:rPr>
              <a:t>Exercises each trainee’s weak spot, inside limits the instructor sets, and explains every step.</a:t>
            </a:r>
          </a:p>
        </p:txBody>
      </p:sp>
      <p:sp>
        <p:nvSpPr>
          <p:cNvPr id="3" name="TextBox 2">
            <a:extLst>
              <a:ext uri="{FF2B5EF4-FFF2-40B4-BE49-F238E27FC236}">
                <a16:creationId xmlns:a16="http://schemas.microsoft.com/office/drawing/2014/main" id="{93AB0436-C389-313A-4FCC-9225539B717A}"/>
              </a:ext>
            </a:extLst>
          </p:cNvPr>
          <p:cNvSpPr txBox="1"/>
          <p:nvPr/>
        </p:nvSpPr>
        <p:spPr>
          <a:xfrm>
            <a:off x="609600" y="1397000"/>
            <a:ext cx="7620000" cy="304800"/>
          </a:xfrm>
          <a:prstGeom prst="rect">
            <a:avLst/>
          </a:prstGeom>
          <a:noFill/>
        </p:spPr>
        <p:txBody>
          <a:bodyPr vert="horz" wrap="square" lIns="0" tIns="0" rIns="0" bIns="0" rtlCol="0">
            <a:noAutofit/>
          </a:bodyPr>
          <a:lstStyle/>
          <a:p>
            <a:r>
              <a:rPr lang="en-SG" sz="1600">
                <a:solidFill>
                  <a:srgbClr val="B98FFF"/>
                </a:solidFill>
                <a:latin typeface="Consolas" panose="020B0609020204030204" pitchFamily="49" charset="0"/>
              </a:rPr>
              <a:t>ADAPTIVE CGF TRAINER</a:t>
            </a:r>
          </a:p>
        </p:txBody>
      </p:sp>
      <p:sp>
        <p:nvSpPr>
          <p:cNvPr id="4" name="TextBox 3">
            <a:extLst>
              <a:ext uri="{FF2B5EF4-FFF2-40B4-BE49-F238E27FC236}">
                <a16:creationId xmlns:a16="http://schemas.microsoft.com/office/drawing/2014/main" id="{B902C48C-3F67-0C85-2FDE-6353C5DDFDBE}"/>
              </a:ext>
            </a:extLst>
          </p:cNvPr>
          <p:cNvSpPr txBox="1"/>
          <p:nvPr/>
        </p:nvSpPr>
        <p:spPr>
          <a:xfrm>
            <a:off x="609600" y="4826000"/>
            <a:ext cx="8890000" cy="330200"/>
          </a:xfrm>
          <a:prstGeom prst="rect">
            <a:avLst/>
          </a:prstGeom>
          <a:noFill/>
        </p:spPr>
        <p:txBody>
          <a:bodyPr vert="horz" wrap="square" lIns="0" tIns="0" rIns="0" bIns="0" rtlCol="0">
            <a:noAutofit/>
          </a:bodyPr>
          <a:lstStyle/>
          <a:p>
            <a:r>
              <a:rPr lang="en-SG">
                <a:solidFill>
                  <a:srgbClr val="EBDFFF"/>
                </a:solidFill>
                <a:latin typeface="Consolas" panose="020B0609020204030204" pitchFamily="49" charset="0"/>
              </a:rPr>
              <a:t>github.com/buttception/T-S_Hackathon26</a:t>
            </a:r>
          </a:p>
        </p:txBody>
      </p:sp>
    </p:spTree>
    <p:extLst>
      <p:ext uri="{BB962C8B-B14F-4D97-AF65-F5344CB8AC3E}">
        <p14:creationId xmlns:p14="http://schemas.microsoft.com/office/powerpoint/2010/main" val="2798810266"/>
      </p:ext>
    </p:extLst>
  </p:cSld>
  <p:clrMapOvr>
    <a:masterClrMapping/>
  </p:clrMapOvr>
</p:sld>
</file>

<file path=ppt/theme/theme1.xml><?xml version="1.0" encoding="utf-8"?>
<a:theme xmlns:a="http://schemas.openxmlformats.org/drawingml/2006/main" name="Office Theme">
  <a:themeElements>
    <a:clrScheme name="Office">
      <a:dk1>
        <a:srgbClr val="081421"/>
      </a:dk1>
      <a:lt1>
        <a:srgbClr val="F7FAFD"/>
      </a:lt1>
      <a:dk2>
        <a:srgbClr val="0D1C30"/>
      </a:dk2>
      <a:lt2>
        <a:srgbClr val="E1EAF4"/>
      </a:lt2>
      <a:accent1>
        <a:srgbClr val="2F9DFF"/>
      </a:accent1>
      <a:accent2>
        <a:srgbClr val="B98FFF"/>
      </a:accent2>
      <a:accent3>
        <a:srgbClr val="FFA94D"/>
      </a:accent3>
      <a:accent4>
        <a:srgbClr val="00A8DC"/>
      </a:accent4>
      <a:accent5>
        <a:srgbClr val="93ABC6"/>
      </a:accent5>
      <a:accent6>
        <a:srgbClr val="12243C"/>
      </a:accent6>
      <a:hlink>
        <a:srgbClr val="2F9DFF"/>
      </a:hlink>
      <a:folHlink>
        <a:srgbClr val="B98FFF"/>
      </a:folHlink>
    </a:clrScheme>
    <a:fontScheme name="Office">
      <a:majorFont>
        <a:latin typeface="Segoe UI"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2337</Words>
  <Application>Microsoft Office PowerPoint</Application>
  <PresentationFormat>Custom</PresentationFormat>
  <Paragraphs>246</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Consolas</vt:lpstr>
      <vt:lpstr>Segoe UI</vt:lpstr>
      <vt:lpstr>Office Theme</vt:lpstr>
      <vt:lpstr>Adaptive CGF Trainer</vt:lpstr>
      <vt:lpstr>One instructor, many trainees, one scripted enemy</vt:lpstr>
      <vt:lpstr>The key challenge: train each person’s weak spot, without losing control</vt:lpstr>
      <vt:lpstr>History picks what to exercise. Live behaviour sets how hard.</vt:lpstr>
      <vt:lpstr>Allocate, run, report, update</vt:lpstr>
      <vt:lpstr>Choose the platform, seat the crew, set the limits</vt:lpstr>
      <vt:lpstr>The enemy reacts to this crew, not a script</vt:lpstr>
      <vt:lpstr>Every adjustment shows what, why and on what evidence</vt:lpstr>
      <vt:lpstr>The instructor stays in command</vt:lpstr>
      <vt:lpstr>The report feeds the profile for next time</vt:lpstr>
      <vt:lpstr>Where the whole intake is developing</vt:lpstr>
      <vt:lpstr>Where AI is used, and where it is not</vt:lpstr>
      <vt:lpstr>Why this is different</vt:lpstr>
      <vt:lpstr>What works today, and what is left</vt:lpstr>
      <vt:lpstr>What fewer sessions to proficiency are worth in S$</vt:lpstr>
      <vt:lpstr>Exercises each trainee’s weak spot, inside limits the instructor sets, and explains every step.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JuinLong Lim</dc:creator>
  <cp:lastModifiedBy>JuinLong Lim</cp:lastModifiedBy>
  <cp:revision>1</cp:revision>
  <dcterms:created xsi:type="dcterms:W3CDTF">2026-10-29T08:16:55Z</dcterms:created>
  <dcterms:modified xsi:type="dcterms:W3CDTF">2026-10-29T08:16:55Z</dcterms:modified>
</cp:coreProperties>
</file>