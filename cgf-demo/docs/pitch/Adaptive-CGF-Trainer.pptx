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335" autoAdjust="0"/>
  </p:normalViewPr>
  <p:slideViewPr>
    <p:cSldViewPr snapToGrid="0">
      <p:cViewPr varScale="1">
        <p:scale>
          <a:sx n="97" d="100"/>
          <a:sy n="97" d="100"/>
        </p:scale>
        <p:origin x="107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3E1C1E-B5DB-43BB-9F4D-82AAD0404FB9}"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483346-7758-4A39-B83D-17A0C475FBD4}" type="slidenum">
              <a:rPr lang="en-SG" smtClean="0"/>
              <a:t>‹#›</a:t>
            </a:fld>
            <a:endParaRPr lang="en-SG"/>
          </a:p>
        </p:txBody>
      </p:sp>
    </p:spTree>
    <p:extLst>
      <p:ext uri="{BB962C8B-B14F-4D97-AF65-F5344CB8AC3E}">
        <p14:creationId xmlns:p14="http://schemas.microsoft.com/office/powerpoint/2010/main" val="3617810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C3483346-7758-4A39-B83D-17A0C475FBD4}" type="slidenum">
              <a:rPr lang="en-SG" smtClean="0"/>
              <a:t>1</a:t>
            </a:fld>
            <a:endParaRPr lang="en-SG"/>
          </a:p>
        </p:txBody>
      </p:sp>
    </p:spTree>
    <p:extLst>
      <p:ext uri="{BB962C8B-B14F-4D97-AF65-F5344CB8AC3E}">
        <p14:creationId xmlns:p14="http://schemas.microsoft.com/office/powerpoint/2010/main" val="19842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C3483346-7758-4A39-B83D-17A0C475FBD4}" type="slidenum">
              <a:rPr lang="en-SG" smtClean="0"/>
              <a:t>2</a:t>
            </a:fld>
            <a:endParaRPr lang="en-SG"/>
          </a:p>
        </p:txBody>
      </p:sp>
    </p:spTree>
    <p:extLst>
      <p:ext uri="{BB962C8B-B14F-4D97-AF65-F5344CB8AC3E}">
        <p14:creationId xmlns:p14="http://schemas.microsoft.com/office/powerpoint/2010/main" val="3714125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3</a:t>
            </a:fld>
            <a:endParaRPr lang="en-SG"/>
          </a:p>
        </p:txBody>
      </p:sp>
    </p:spTree>
    <p:extLst>
      <p:ext uri="{BB962C8B-B14F-4D97-AF65-F5344CB8AC3E}">
        <p14:creationId xmlns:p14="http://schemas.microsoft.com/office/powerpoint/2010/main" val="38768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C3483346-7758-4A39-B83D-17A0C475FBD4}" type="slidenum">
              <a:rPr lang="en-SG" smtClean="0"/>
              <a:t>4</a:t>
            </a:fld>
            <a:endParaRPr lang="en-SG"/>
          </a:p>
        </p:txBody>
      </p:sp>
    </p:spTree>
    <p:extLst>
      <p:ext uri="{BB962C8B-B14F-4D97-AF65-F5344CB8AC3E}">
        <p14:creationId xmlns:p14="http://schemas.microsoft.com/office/powerpoint/2010/main" val="266262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This is the loop that makes the trainer improve with use. Allocate shows the likely first target from the profile. The run presses that competency, then follows what the trainee does. The report is computed from the run's events, and the same events update the profile, so the next session starts from what this one learned. Each pass adds evidence, so the picture of each trainee gets sharper and the practice is better aimed. Next slide shows it on real seeded history.</a:t>
            </a:r>
          </a:p>
        </p:txBody>
      </p:sp>
      <p:sp>
        <p:nvSpPr>
          <p:cNvPr id="4" name="Slide Number Placeholder 3"/>
          <p:cNvSpPr>
            <a:spLocks noGrp="1"/>
          </p:cNvSpPr>
          <p:nvPr>
            <p:ph type="sldNum" sz="quarter" idx="5"/>
          </p:nvPr>
        </p:nvSpPr>
        <p:spPr/>
        <p:txBody>
          <a:bodyPr/>
          <a:lstStyle/>
          <a:p>
            <a:fld id="{C3483346-7758-4A39-B83D-17A0C475FBD4}" type="slidenum">
              <a:rPr lang="en-SG" smtClean="0"/>
              <a:t>5</a:t>
            </a:fld>
            <a:endParaRPr lang="en-SG"/>
          </a:p>
        </p:txBody>
      </p:sp>
    </p:spTree>
    <p:extLst>
      <p:ext uri="{BB962C8B-B14F-4D97-AF65-F5344CB8AC3E}">
        <p14:creationId xmlns:p14="http://schemas.microsoft.com/office/powerpoint/2010/main" val="6891686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exact about what learns. The trainee model learns: every session's events update its estimate, so the picture sharpens as evidence grows. Here is Ben's hail discipline across his seeded history: the estimate stays low, so he stays a focus area, but the range around it narrows from about 0.11 to 0.08 as the events behind it grow from 13 to 30. Targeting improves because a competency only counts with 8 events. AI partners are played from a trainee's own past runs. What does not learn yet is the policy that picks the adjustments: it is rule-based today, and a bandit that learns which adjustments work is planned. Do not claim the trainer learns tactics.</a:t>
            </a:r>
          </a:p>
        </p:txBody>
      </p:sp>
      <p:sp>
        <p:nvSpPr>
          <p:cNvPr id="4" name="Slide Number Placeholder 3"/>
          <p:cNvSpPr>
            <a:spLocks noGrp="1"/>
          </p:cNvSpPr>
          <p:nvPr>
            <p:ph type="sldNum" sz="quarter" idx="5"/>
          </p:nvPr>
        </p:nvSpPr>
        <p:spPr/>
        <p:txBody>
          <a:bodyPr/>
          <a:lstStyle/>
          <a:p>
            <a:fld id="{C3483346-7758-4A39-B83D-17A0C475FBD4}" type="slidenum">
              <a:rPr lang="en-SG" smtClean="0"/>
              <a:t>6</a:t>
            </a:fld>
            <a:endParaRPr lang="en-SG"/>
          </a:p>
        </p:txBody>
      </p:sp>
    </p:spTree>
    <p:extLst>
      <p:ext uri="{BB962C8B-B14F-4D97-AF65-F5344CB8AC3E}">
        <p14:creationId xmlns:p14="http://schemas.microsoft.com/office/powerpoint/2010/main" val="1303466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C3483346-7758-4A39-B83D-17A0C475FBD4}" type="slidenum">
              <a:rPr lang="en-SG" smtClean="0"/>
              <a:t>7</a:t>
            </a:fld>
            <a:endParaRPr lang="en-SG"/>
          </a:p>
        </p:txBody>
      </p:sp>
    </p:spTree>
    <p:extLst>
      <p:ext uri="{BB962C8B-B14F-4D97-AF65-F5344CB8AC3E}">
        <p14:creationId xmlns:p14="http://schemas.microsoft.com/office/powerpoint/2010/main" val="1589739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C3483346-7758-4A39-B83D-17A0C475FBD4}" type="slidenum">
              <a:rPr lang="en-SG" smtClean="0"/>
              <a:t>8</a:t>
            </a:fld>
            <a:endParaRPr lang="en-SG"/>
          </a:p>
        </p:txBody>
      </p:sp>
    </p:spTree>
    <p:extLst>
      <p:ext uri="{BB962C8B-B14F-4D97-AF65-F5344CB8AC3E}">
        <p14:creationId xmlns:p14="http://schemas.microsoft.com/office/powerpoint/2010/main" val="3854422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C3483346-7758-4A39-B83D-17A0C475FBD4}" type="slidenum">
              <a:rPr lang="en-SG" smtClean="0"/>
              <a:t>9</a:t>
            </a:fld>
            <a:endParaRPr lang="en-SG"/>
          </a:p>
        </p:txBody>
      </p:sp>
    </p:spTree>
    <p:extLst>
      <p:ext uri="{BB962C8B-B14F-4D97-AF65-F5344CB8AC3E}">
        <p14:creationId xmlns:p14="http://schemas.microsoft.com/office/powerpoint/2010/main" val="1591035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C3483346-7758-4A39-B83D-17A0C475FBD4}" type="slidenum">
              <a:rPr lang="en-SG" smtClean="0"/>
              <a:t>10</a:t>
            </a:fld>
            <a:endParaRPr lang="en-SG"/>
          </a:p>
        </p:txBody>
      </p:sp>
    </p:spTree>
    <p:extLst>
      <p:ext uri="{BB962C8B-B14F-4D97-AF65-F5344CB8AC3E}">
        <p14:creationId xmlns:p14="http://schemas.microsoft.com/office/powerpoint/2010/main" val="2592284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C3483346-7758-4A39-B83D-17A0C475FBD4}" type="slidenum">
              <a:rPr lang="en-SG" smtClean="0"/>
              <a:t>11</a:t>
            </a:fld>
            <a:endParaRPr lang="en-SG"/>
          </a:p>
        </p:txBody>
      </p:sp>
    </p:spTree>
    <p:extLst>
      <p:ext uri="{BB962C8B-B14F-4D97-AF65-F5344CB8AC3E}">
        <p14:creationId xmlns:p14="http://schemas.microsoft.com/office/powerpoint/2010/main" val="37846388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C3483346-7758-4A39-B83D-17A0C475FBD4}" type="slidenum">
              <a:rPr lang="en-SG" smtClean="0"/>
              <a:t>12</a:t>
            </a:fld>
            <a:endParaRPr lang="en-SG"/>
          </a:p>
        </p:txBody>
      </p:sp>
    </p:spTree>
    <p:extLst>
      <p:ext uri="{BB962C8B-B14F-4D97-AF65-F5344CB8AC3E}">
        <p14:creationId xmlns:p14="http://schemas.microsoft.com/office/powerpoint/2010/main" val="24723371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C3483346-7758-4A39-B83D-17A0C475FBD4}" type="slidenum">
              <a:rPr lang="en-SG" smtClean="0"/>
              <a:t>13</a:t>
            </a:fld>
            <a:endParaRPr lang="en-SG"/>
          </a:p>
        </p:txBody>
      </p:sp>
    </p:spTree>
    <p:extLst>
      <p:ext uri="{BB962C8B-B14F-4D97-AF65-F5344CB8AC3E}">
        <p14:creationId xmlns:p14="http://schemas.microsoft.com/office/powerpoint/2010/main" val="3456136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C3483346-7758-4A39-B83D-17A0C475FBD4}" type="slidenum">
              <a:rPr lang="en-SG" smtClean="0"/>
              <a:t>14</a:t>
            </a:fld>
            <a:endParaRPr lang="en-SG"/>
          </a:p>
        </p:txBody>
      </p:sp>
    </p:spTree>
    <p:extLst>
      <p:ext uri="{BB962C8B-B14F-4D97-AF65-F5344CB8AC3E}">
        <p14:creationId xmlns:p14="http://schemas.microsoft.com/office/powerpoint/2010/main" val="1815464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Beyond the core loop,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C3483346-7758-4A39-B83D-17A0C475FBD4}" type="slidenum">
              <a:rPr lang="en-SG" smtClean="0"/>
              <a:t>15</a:t>
            </a:fld>
            <a:endParaRPr lang="en-SG"/>
          </a:p>
        </p:txBody>
      </p:sp>
    </p:spTree>
    <p:extLst>
      <p:ext uri="{BB962C8B-B14F-4D97-AF65-F5344CB8AC3E}">
        <p14:creationId xmlns:p14="http://schemas.microsoft.com/office/powerpoint/2010/main" val="3956265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Value in Singapore dollars, as a sensitivity grid on stated assumptions, not a claim. Every input on the left is a placeholder until the division supplies its own: 200 trainees a year, 30 sessions to proficiency, S1,500 per simulator session, 2 instructor hours per session at S250 an hour. That makes an avoided session worth S2,000; the grid also shows S1,000 and S3,000. r, the share of sessions avoided by targeted practice, has never been measured; it is the hypothesis a trial would test. Say that out loud. Formula: annual saving equals trainees times sessions to proficiency times r times value per session. Detail is in pitch/savings-model.md.</a:t>
            </a:r>
          </a:p>
        </p:txBody>
      </p:sp>
      <p:sp>
        <p:nvSpPr>
          <p:cNvPr id="4" name="Slide Number Placeholder 3"/>
          <p:cNvSpPr>
            <a:spLocks noGrp="1"/>
          </p:cNvSpPr>
          <p:nvPr>
            <p:ph type="sldNum" sz="quarter" idx="5"/>
          </p:nvPr>
        </p:nvSpPr>
        <p:spPr/>
        <p:txBody>
          <a:bodyPr/>
          <a:lstStyle/>
          <a:p>
            <a:fld id="{C3483346-7758-4A39-B83D-17A0C475FBD4}" type="slidenum">
              <a:rPr lang="en-SG" smtClean="0"/>
              <a:t>16</a:t>
            </a:fld>
            <a:endParaRPr lang="en-SG"/>
          </a:p>
        </p:txBody>
      </p:sp>
    </p:spTree>
    <p:extLst>
      <p:ext uri="{BB962C8B-B14F-4D97-AF65-F5344CB8AC3E}">
        <p14:creationId xmlns:p14="http://schemas.microsoft.com/office/powerpoint/2010/main" val="27647468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How much effort did this take, and how fast could it pay back? Measured from the repository: 123 commits by four contributors, JL, Devin, Eevee and Glenda, inside one working day, about six hours from first to last commit. Person-days: at most 4, which is one day times four people, and about 2.1 if each person is counted only from their first to their last commit. It was AI-assisted and built on a hackathon timeline, so do not read it as a normal productivity rate. The right-hand card is an assumption: what the same code might cost if built conventionally at 20 to 50 lines per person-day and S800 a day. Both are placeholders. The table divides that cost by the illustrative saving from the previous slide. Be clear that the prototype is not a deployable system: the simulator adapter, a trial with real cohorts and approvals are not counted, and savings start only after a trial shows that r is real.</a:t>
            </a:r>
          </a:p>
        </p:txBody>
      </p:sp>
      <p:sp>
        <p:nvSpPr>
          <p:cNvPr id="4" name="Slide Number Placeholder 3"/>
          <p:cNvSpPr>
            <a:spLocks noGrp="1"/>
          </p:cNvSpPr>
          <p:nvPr>
            <p:ph type="sldNum" sz="quarter" idx="5"/>
          </p:nvPr>
        </p:nvSpPr>
        <p:spPr/>
        <p:txBody>
          <a:bodyPr/>
          <a:lstStyle/>
          <a:p>
            <a:fld id="{C3483346-7758-4A39-B83D-17A0C475FBD4}" type="slidenum">
              <a:rPr lang="en-SG" smtClean="0"/>
              <a:t>17</a:t>
            </a:fld>
            <a:endParaRPr lang="en-SG"/>
          </a:p>
        </p:txBody>
      </p:sp>
    </p:spTree>
    <p:extLst>
      <p:ext uri="{BB962C8B-B14F-4D97-AF65-F5344CB8AC3E}">
        <p14:creationId xmlns:p14="http://schemas.microsoft.com/office/powerpoint/2010/main" val="25714646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18</a:t>
            </a:fld>
            <a:endParaRPr lang="en-SG"/>
          </a:p>
        </p:txBody>
      </p:sp>
    </p:spTree>
    <p:extLst>
      <p:ext uri="{BB962C8B-B14F-4D97-AF65-F5344CB8AC3E}">
        <p14:creationId xmlns:p14="http://schemas.microsoft.com/office/powerpoint/2010/main" val="74368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7BBBE-BE44-0537-EBEC-16401A300A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FFE0C9F1-4E04-B7E3-9589-2A97146B16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430E30AF-B166-E279-BC78-EB04A73B6BA5}"/>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1813D49-D802-9B7D-D391-6D84A00AF0D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ABCDC984-6F86-D9DA-86DA-A6EBBE26446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88100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2D0AB-A719-60FC-150F-D3B79954B434}"/>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3140190D-A6E3-60E1-78E0-80A3C1B55F9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4A77BC9A-E0D5-5544-1859-8374DF07DEC9}"/>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DD229F8-592E-DC41-319A-1E44A906B58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DE230A5-E211-963B-DA51-CCD951EF15A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13325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40CF-CBDE-3404-5431-26413EEB2D3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1D6C0A44-F7F3-6F5D-51B9-AB17A15452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6858591-AF3B-FF31-A7EA-37B18EA588B4}"/>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60EEC292-6182-1E86-17F8-F06691948E7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5204ED6-2849-B795-EADE-2A54A4DE011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03893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2703F-6197-A063-737B-0D4F42B320A7}"/>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57CF9A02-BF5D-B425-60A2-4D685D6984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AB729E4E-5189-C4B5-CBC2-FEEDAEF27CE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EAE6B3A6-C643-1448-F784-AC065D84236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97F3CDB0-505B-6E59-ABFF-5C9FFEB822E0}"/>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A940265-7246-E0D1-9728-811483D47A3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75714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1C59-3DD6-C14C-B3CF-4BD1B135C227}"/>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E0142D67-E792-F58E-0804-7C7C8B5D2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B006FC9-D9BE-8E3D-8E75-1FF3F9BE012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714E6104-ADC8-8804-4FC9-2FB3BE76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AD8AFD8-A46F-DF2C-AE51-A275D876900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CC19E7C7-180A-7EFA-C20F-1D668678922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8" name="Footer Placeholder 7">
            <a:extLst>
              <a:ext uri="{FF2B5EF4-FFF2-40B4-BE49-F238E27FC236}">
                <a16:creationId xmlns:a16="http://schemas.microsoft.com/office/drawing/2014/main" id="{86F34E06-446B-629B-D07B-7FBC4429FC0C}"/>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E19AF70C-3B80-DCDA-B6F7-D789DF7FD3CB}"/>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250534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A44F4-FA51-7AE8-EF9A-CF66BB44F652}"/>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9E22F3C9-FBFD-524A-55A7-FD5C3A764D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4" name="Footer Placeholder 3">
            <a:extLst>
              <a:ext uri="{FF2B5EF4-FFF2-40B4-BE49-F238E27FC236}">
                <a16:creationId xmlns:a16="http://schemas.microsoft.com/office/drawing/2014/main" id="{436472F7-CC6C-AC2E-4AAA-F2008FB66E9C}"/>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D55A51B5-F3E1-F379-2B58-DBBDDD15403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891371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2FD2E2-2688-29BC-5863-8226AD8EAE3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3" name="Footer Placeholder 2">
            <a:extLst>
              <a:ext uri="{FF2B5EF4-FFF2-40B4-BE49-F238E27FC236}">
                <a16:creationId xmlns:a16="http://schemas.microsoft.com/office/drawing/2014/main" id="{9D8EDB71-768B-9400-D534-1D0BDF213018}"/>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B75E0828-97C0-34EB-66DE-2A8B2A2BED0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75101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C51A9-4F2C-35CA-4648-43F42483669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4DF0DFB-097C-0E72-66AD-38712540FB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459DE231-5925-B31A-6BC4-77E76EC71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CF84B37-1A75-F5F8-9237-84690D34DE6F}"/>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024CF43F-1C0A-03DE-7F59-7130D15C236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E5F1340-758A-0297-5883-47B01337F6F2}"/>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44987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FC591-DBBE-8DB7-3261-689C34340E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F54A1C2-72E3-3358-0F37-EFB922CCB5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4B841228-6A3A-0F35-F23C-204F42664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95F388-404B-3618-C3A9-70F499C5DC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C06049FB-126D-91CC-9511-333F669A951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E041E66-AC02-750C-8F3C-88B2069DE32A}"/>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645461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6AB06-60F0-8B02-0F0F-D90691B298C7}"/>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D6CD0700-A020-9764-96D0-89DEB641568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108E41FE-0D6C-1B85-DBCB-253F4A2F3408}"/>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3B50C4A-3EBA-9933-AE5A-E8EA741AB67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10B826A-4C20-C24F-4667-F0A74B51B60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864696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BB5B47-FE7F-D4EC-DAF1-18B40224AB9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925331C8-9EB9-BE34-2F3C-C9DBC609673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D2DA5D34-3220-E6E5-8F74-B7A837D3001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E3EB845-C434-8A1D-71F8-52B2130DE5F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A798469-4E6F-C7B1-BB01-F6466E89BE65}"/>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450341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3EE76F-8705-0468-03D8-178D995807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4F62707B-FBA2-636C-2551-7A5BC924F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9817F010-C14C-16C9-D5B0-E2CA15E1DA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F45F8D22-F99A-3070-922C-E071219F7D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F4397E5-C251-9849-8B55-4102E37296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F52024-4D36-4133-8FA6-58380FCEE047}" type="slidenum">
              <a:rPr lang="en-SG" smtClean="0"/>
              <a:t>‹#›</a:t>
            </a:fld>
            <a:endParaRPr lang="en-SG"/>
          </a:p>
        </p:txBody>
      </p:sp>
    </p:spTree>
    <p:extLst>
      <p:ext uri="{BB962C8B-B14F-4D97-AF65-F5344CB8AC3E}">
        <p14:creationId xmlns:p14="http://schemas.microsoft.com/office/powerpoint/2010/main" val="4075332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328D84D-0553-85A9-3F0C-D18122FC660C}"/>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D4E586-50C2-D5FE-6148-9FE642D358CC}"/>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8237F5B3-C49A-3898-9726-FF805A3A8D4A}"/>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19D6F797-598A-37C2-EF28-DF544DDC1C00}"/>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E6D02847-09EF-B832-469C-6589F73362D8}"/>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20DAB4AA-06A9-B7CA-7162-9B0C99F988B5}"/>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A7F9B775-D742-BAA9-26AF-5F89CF3CA4EA}"/>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D2557C39-0654-FE90-8442-6C17FCFFBC0E}"/>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401A20D1-5C01-86C9-C173-BC47F7A60C27}"/>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D6656ED1-FD72-DAD0-571D-BCF1AB2A8AC8}"/>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73272FFE-9D81-CE73-F676-1BCE83779CA8}"/>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3D34AB18-BAD4-609B-8017-A905CB8FECBD}"/>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587462D3-93E0-933B-AFEE-67819F00F465}"/>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FE5D97D5-3B60-E4F3-2532-9A98AD5DEB24}"/>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66B648DA-648D-2FF4-E060-5FBC905AB1B5}"/>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14F43526-B6BC-EC2D-89C8-DFE4A734594C}"/>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dirty="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F21C79F0-43B3-9CBF-CE83-A509D79FF088}"/>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dirty="0">
                <a:solidFill>
                  <a:srgbClr val="93ABC6"/>
                </a:solidFill>
                <a:latin typeface="Segoe UI" panose="020B0502040204020203" pitchFamily="34" charset="0"/>
              </a:rPr>
              <a:t>Air, sea and land platforms. </a:t>
            </a:r>
          </a:p>
        </p:txBody>
      </p:sp>
    </p:spTree>
    <p:extLst>
      <p:ext uri="{BB962C8B-B14F-4D97-AF65-F5344CB8AC3E}">
        <p14:creationId xmlns:p14="http://schemas.microsoft.com/office/powerpoint/2010/main" val="2292420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6552-608B-91C3-16E2-B0954A99F77C}"/>
              </a:ext>
            </a:extLst>
          </p:cNvPr>
          <p:cNvSpPr>
            <a:spLocks noGrp="1"/>
          </p:cNvSpPr>
          <p:nvPr>
            <p:ph type="title"/>
          </p:nvPr>
        </p:nvSpPr>
        <p:spPr>
          <a:xfrm>
            <a:off x="609600" y="787400"/>
            <a:ext cx="10972800" cy="1270000"/>
          </a:xfrm>
        </p:spPr>
        <p:txBody>
          <a:bodyPr wrap="square" lIns="0" tIns="0" rIns="0" bIns="0" anchor="t">
            <a:noAutofit/>
          </a:bodyPr>
          <a:lstStyle/>
          <a:p>
            <a:r>
              <a:rPr lang="en-SG" sz="4000" b="1" dirty="0">
                <a:solidFill>
                  <a:srgbClr val="F7FAFD"/>
                </a:solidFill>
                <a:latin typeface="Segoe UI" panose="020B0502040204020203" pitchFamily="34" charset="0"/>
              </a:rPr>
              <a:t>One instructor</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Many trainees</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One scripted enemy</a:t>
            </a:r>
          </a:p>
        </p:txBody>
      </p:sp>
      <p:sp>
        <p:nvSpPr>
          <p:cNvPr id="3" name="TextBox 2">
            <a:extLst>
              <a:ext uri="{FF2B5EF4-FFF2-40B4-BE49-F238E27FC236}">
                <a16:creationId xmlns:a16="http://schemas.microsoft.com/office/drawing/2014/main" id="{D9FF9F5E-D54B-7BC0-EB8E-CE310376631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180FF8D4-5858-DBF0-554E-83B39FD1A2A3}"/>
              </a:ext>
            </a:extLst>
          </p:cNvPr>
          <p:cNvSpPr/>
          <p:nvPr/>
        </p:nvSpPr>
        <p:spPr>
          <a:xfrm>
            <a:off x="6096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089515DC-A1D8-71C3-94CE-9DE83D3EAE53}"/>
              </a:ext>
            </a:extLst>
          </p:cNvPr>
          <p:cNvSpPr txBox="1"/>
          <p:nvPr/>
        </p:nvSpPr>
        <p:spPr>
          <a:xfrm>
            <a:off x="8636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73C9A459-4899-F47F-3B54-D58B79031B9E}"/>
              </a:ext>
            </a:extLst>
          </p:cNvPr>
          <p:cNvSpPr txBox="1"/>
          <p:nvPr/>
        </p:nvSpPr>
        <p:spPr>
          <a:xfrm>
            <a:off x="8636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CC3BFE13-DC81-909E-EB80-B361CC7F6892}"/>
              </a:ext>
            </a:extLst>
          </p:cNvPr>
          <p:cNvSpPr txBox="1"/>
          <p:nvPr/>
        </p:nvSpPr>
        <p:spPr>
          <a:xfrm>
            <a:off x="8636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0477D732-0DF8-B1D1-A9FE-51FA9CE7FE1D}"/>
              </a:ext>
            </a:extLst>
          </p:cNvPr>
          <p:cNvSpPr/>
          <p:nvPr/>
        </p:nvSpPr>
        <p:spPr>
          <a:xfrm>
            <a:off x="43688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72D5A5B6-C0C4-2D7A-D004-52ACB6F73ED4}"/>
              </a:ext>
            </a:extLst>
          </p:cNvPr>
          <p:cNvSpPr txBox="1"/>
          <p:nvPr/>
        </p:nvSpPr>
        <p:spPr>
          <a:xfrm>
            <a:off x="46228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210744D3-ECF1-904F-BF24-950EF18654D1}"/>
              </a:ext>
            </a:extLst>
          </p:cNvPr>
          <p:cNvSpPr txBox="1"/>
          <p:nvPr/>
        </p:nvSpPr>
        <p:spPr>
          <a:xfrm>
            <a:off x="46228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54B6A810-631E-580F-7A45-6E506819EA40}"/>
              </a:ext>
            </a:extLst>
          </p:cNvPr>
          <p:cNvSpPr txBox="1"/>
          <p:nvPr/>
        </p:nvSpPr>
        <p:spPr>
          <a:xfrm>
            <a:off x="46228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5FDB3706-D695-406B-E7FA-2370EDE8F07B}"/>
              </a:ext>
            </a:extLst>
          </p:cNvPr>
          <p:cNvSpPr/>
          <p:nvPr/>
        </p:nvSpPr>
        <p:spPr>
          <a:xfrm>
            <a:off x="81280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7B50460D-828A-763B-CC1E-0A37AC459BE1}"/>
              </a:ext>
            </a:extLst>
          </p:cNvPr>
          <p:cNvSpPr txBox="1"/>
          <p:nvPr/>
        </p:nvSpPr>
        <p:spPr>
          <a:xfrm>
            <a:off x="83820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110E84A9-F26D-BC01-8110-B137CC57A882}"/>
              </a:ext>
            </a:extLst>
          </p:cNvPr>
          <p:cNvSpPr txBox="1"/>
          <p:nvPr/>
        </p:nvSpPr>
        <p:spPr>
          <a:xfrm>
            <a:off x="83820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4ED1187C-DADC-A70B-C1C4-51AF619A03D5}"/>
              </a:ext>
            </a:extLst>
          </p:cNvPr>
          <p:cNvSpPr txBox="1"/>
          <p:nvPr/>
        </p:nvSpPr>
        <p:spPr>
          <a:xfrm>
            <a:off x="83820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173FD208-B49F-031B-DFCC-B4D238C536F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083E4A1D-9861-EA82-7CFF-B15ECB0947F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751286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A224-9D84-A085-8DFE-D0F9715B719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Train </a:t>
            </a:r>
            <a:r>
              <a:rPr lang="en-SG" sz="3600" b="1" dirty="0">
                <a:solidFill>
                  <a:srgbClr val="F7FAFD"/>
                </a:solidFill>
                <a:latin typeface="Segoe UI" panose="020B0502040204020203" pitchFamily="34" charset="0"/>
              </a:rPr>
              <a:t>each person’s weak spot, without losing control</a:t>
            </a:r>
          </a:p>
        </p:txBody>
      </p:sp>
      <p:sp>
        <p:nvSpPr>
          <p:cNvPr id="3" name="TextBox 2">
            <a:extLst>
              <a:ext uri="{FF2B5EF4-FFF2-40B4-BE49-F238E27FC236}">
                <a16:creationId xmlns:a16="http://schemas.microsoft.com/office/drawing/2014/main" id="{794DA53F-31E1-19BA-5CBC-8F7E107F661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Rectangle: Rounded Corners 3">
            <a:extLst>
              <a:ext uri="{FF2B5EF4-FFF2-40B4-BE49-F238E27FC236}">
                <a16:creationId xmlns:a16="http://schemas.microsoft.com/office/drawing/2014/main" id="{36FEF459-5A8A-E135-E113-64B28E6F1D8E}"/>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F63C742F-AB9E-B343-BA44-F23E8A9A7B77}"/>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6" name="TextBox 5">
            <a:extLst>
              <a:ext uri="{FF2B5EF4-FFF2-40B4-BE49-F238E27FC236}">
                <a16:creationId xmlns:a16="http://schemas.microsoft.com/office/drawing/2014/main" id="{FBA26F43-233E-E6AC-CD3C-C5D654FBEE77}"/>
              </a:ext>
            </a:extLst>
          </p:cNvPr>
          <p:cNvSpPr txBox="1"/>
          <p:nvPr/>
        </p:nvSpPr>
        <p:spPr>
          <a:xfrm>
            <a:off x="863600" y="2844800"/>
            <a:ext cx="2946400" cy="2921000"/>
          </a:xfrm>
          <a:prstGeom prst="rect">
            <a:avLst/>
          </a:prstGeom>
          <a:noFill/>
        </p:spPr>
        <p:txBody>
          <a:bodyPr vert="horz" wrap="square" lIns="0" tIns="0" rIns="0" bIns="0" rtlCol="0">
            <a:noAutofit/>
          </a:bodyPr>
          <a:lstStyle/>
          <a:p>
            <a:pPr marL="285750" indent="-285750">
              <a:buFont typeface="Arial" panose="020B0604020202020204" pitchFamily="34" charset="0"/>
              <a:buChar char="•"/>
            </a:pPr>
            <a:r>
              <a:rPr lang="en-SG" sz="1600" dirty="0">
                <a:solidFill>
                  <a:srgbClr val="E1EAF4"/>
                </a:solidFill>
                <a:latin typeface="Segoe UI" panose="020B0502040204020203" pitchFamily="34" charset="0"/>
              </a:rPr>
              <a:t>A scripted enemy cannot target one trainee’s weak spot, ease off when they struggle or push when they excel. </a:t>
            </a:r>
          </a:p>
          <a:p>
            <a:pPr marL="285750" indent="-285750">
              <a:buFont typeface="Arial" panose="020B0604020202020204" pitchFamily="34" charset="0"/>
              <a:buChar char="•"/>
            </a:pPr>
            <a:r>
              <a:rPr lang="en-SG" sz="1600" dirty="0">
                <a:solidFill>
                  <a:srgbClr val="E1EAF4"/>
                </a:solidFill>
                <a:latin typeface="Segoe UI" panose="020B0502040204020203" pitchFamily="34" charset="0"/>
              </a:rPr>
              <a:t>An instructor cannot retune it by hand for every seat.</a:t>
            </a:r>
          </a:p>
        </p:txBody>
      </p:sp>
      <p:sp>
        <p:nvSpPr>
          <p:cNvPr id="7" name="Rectangle: Rounded Corners 6">
            <a:extLst>
              <a:ext uri="{FF2B5EF4-FFF2-40B4-BE49-F238E27FC236}">
                <a16:creationId xmlns:a16="http://schemas.microsoft.com/office/drawing/2014/main" id="{BFA72E9B-B013-317E-10F1-B6D3642EC3A8}"/>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23A46645-4D3C-1408-2D42-9669BD0533D1}"/>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9" name="TextBox 8">
            <a:extLst>
              <a:ext uri="{FF2B5EF4-FFF2-40B4-BE49-F238E27FC236}">
                <a16:creationId xmlns:a16="http://schemas.microsoft.com/office/drawing/2014/main" id="{51192082-3714-CA23-03BE-48EDDF9CABB9}"/>
              </a:ext>
            </a:extLst>
          </p:cNvPr>
          <p:cNvSpPr txBox="1"/>
          <p:nvPr/>
        </p:nvSpPr>
        <p:spPr>
          <a:xfrm>
            <a:off x="4622800" y="2844800"/>
            <a:ext cx="2946400" cy="2921000"/>
          </a:xfrm>
          <a:prstGeom prst="rect">
            <a:avLst/>
          </a:prstGeom>
          <a:noFill/>
        </p:spPr>
        <p:txBody>
          <a:bodyPr vert="horz" wrap="square" lIns="0" tIns="0" rIns="0" bIns="0" rtlCol="0">
            <a:noAutofit/>
          </a:bodyPr>
          <a:lstStyle/>
          <a:p>
            <a:pPr marL="285750" indent="-285750">
              <a:buFont typeface="Arial" panose="020B0604020202020204" pitchFamily="34" charset="0"/>
              <a:buChar char="•"/>
            </a:pPr>
            <a:r>
              <a:rPr lang="en-SG" sz="1600" dirty="0">
                <a:solidFill>
                  <a:srgbClr val="EBDFFF"/>
                </a:solidFill>
                <a:latin typeface="Segoe UI" panose="020B0502040204020203" pitchFamily="34" charset="0"/>
              </a:rPr>
              <a:t>History picks the competency to exercise. </a:t>
            </a:r>
          </a:p>
          <a:p>
            <a:pPr marL="285750" indent="-285750">
              <a:buFont typeface="Arial" panose="020B0604020202020204" pitchFamily="34" charset="0"/>
              <a:buChar char="•"/>
            </a:pPr>
            <a:r>
              <a:rPr lang="en-SG" sz="1600" dirty="0">
                <a:solidFill>
                  <a:srgbClr val="EBDFFF"/>
                </a:solidFill>
                <a:latin typeface="Segoe UI" panose="020B0502040204020203" pitchFamily="34" charset="0"/>
              </a:rPr>
              <a:t>The last 10 events set how hard to push. </a:t>
            </a:r>
          </a:p>
          <a:p>
            <a:pPr marL="285750" indent="-285750">
              <a:buFont typeface="Arial" panose="020B0604020202020204" pitchFamily="34" charset="0"/>
              <a:buChar char="•"/>
            </a:pPr>
            <a:r>
              <a:rPr lang="en-SG" sz="1600" dirty="0">
                <a:solidFill>
                  <a:srgbClr val="EBDFFF"/>
                </a:solidFill>
                <a:latin typeface="Segoe UI" panose="020B0502040204020203" pitchFamily="34" charset="0"/>
              </a:rPr>
              <a:t>Every change stays inside the instructor’s limits and is explained.</a:t>
            </a:r>
          </a:p>
        </p:txBody>
      </p:sp>
      <p:sp>
        <p:nvSpPr>
          <p:cNvPr id="10" name="Rectangle: Rounded Corners 9">
            <a:extLst>
              <a:ext uri="{FF2B5EF4-FFF2-40B4-BE49-F238E27FC236}">
                <a16:creationId xmlns:a16="http://schemas.microsoft.com/office/drawing/2014/main" id="{472CA73E-3CB8-C0D0-EA62-51D5A18CC88B}"/>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3A017B9A-9953-A777-4B68-C51DE44D745D}"/>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2" name="TextBox 11">
            <a:extLst>
              <a:ext uri="{FF2B5EF4-FFF2-40B4-BE49-F238E27FC236}">
                <a16:creationId xmlns:a16="http://schemas.microsoft.com/office/drawing/2014/main" id="{7A9BBA96-3030-1737-EEBF-1E45EC55B607}"/>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3" name="TextBox 12">
            <a:extLst>
              <a:ext uri="{FF2B5EF4-FFF2-40B4-BE49-F238E27FC236}">
                <a16:creationId xmlns:a16="http://schemas.microsoft.com/office/drawing/2014/main" id="{F9BD24CD-6290-00EB-A7DD-065B5B62A99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4" name="TextBox 13">
            <a:extLst>
              <a:ext uri="{FF2B5EF4-FFF2-40B4-BE49-F238E27FC236}">
                <a16:creationId xmlns:a16="http://schemas.microsoft.com/office/drawing/2014/main" id="{4B9F5220-27CB-8D60-4234-A5A1D1F223E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2070628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A786C-38E1-2593-A871-32B3267B97AF}"/>
              </a:ext>
            </a:extLst>
          </p:cNvPr>
          <p:cNvSpPr>
            <a:spLocks noGrp="1"/>
          </p:cNvSpPr>
          <p:nvPr>
            <p:ph type="title"/>
          </p:nvPr>
        </p:nvSpPr>
        <p:spPr>
          <a:xfrm>
            <a:off x="609600" y="787400"/>
            <a:ext cx="10972800" cy="1270000"/>
          </a:xfrm>
        </p:spPr>
        <p:txBody>
          <a:bodyPr wrap="square" lIns="0" tIns="0" rIns="0" bIns="0" anchor="t">
            <a:noAutofit/>
          </a:bodyPr>
          <a:lstStyle/>
          <a:p>
            <a:r>
              <a:rPr lang="en-SG" sz="3600" b="1" dirty="0">
                <a:solidFill>
                  <a:srgbClr val="F3ECFF"/>
                </a:solidFill>
                <a:latin typeface="Segoe UI" panose="020B0502040204020203" pitchFamily="34" charset="0"/>
              </a:rPr>
              <a:t>History picks what to exercise. </a:t>
            </a:r>
            <a:br>
              <a:rPr lang="en-SG" sz="3600" b="1" dirty="0">
                <a:solidFill>
                  <a:srgbClr val="F3ECFF"/>
                </a:solidFill>
                <a:latin typeface="Segoe UI" panose="020B0502040204020203" pitchFamily="34" charset="0"/>
              </a:rPr>
            </a:br>
            <a:r>
              <a:rPr lang="en-SG" sz="3600" b="1" dirty="0">
                <a:solidFill>
                  <a:srgbClr val="F3ECFF"/>
                </a:solidFill>
                <a:latin typeface="Segoe UI" panose="020B0502040204020203" pitchFamily="34" charset="0"/>
              </a:rPr>
              <a:t>Live behaviour sets how hard.</a:t>
            </a:r>
          </a:p>
        </p:txBody>
      </p:sp>
      <p:sp>
        <p:nvSpPr>
          <p:cNvPr id="3" name="TextBox 2">
            <a:extLst>
              <a:ext uri="{FF2B5EF4-FFF2-40B4-BE49-F238E27FC236}">
                <a16:creationId xmlns:a16="http://schemas.microsoft.com/office/drawing/2014/main" id="{932775BA-C13D-FA8E-1968-DD426484FB4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C9048C2E-C814-0906-32A6-D9768A5F3F90}"/>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6C22BC4-7211-0D5D-2551-0926F89FFAB1}"/>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6BA88DF7-1B39-372B-8CD6-7D1E2ABCA3E5}"/>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158BCE40-BE0E-B6FD-5279-5BF03C0A6287}"/>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336E3ED9-82CB-17C4-08CF-C4A89213B653}"/>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B25024D6-064B-2331-ED19-41253CF329E2}"/>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AF7FAD90-EC00-F660-A3BA-4DD082FD983A}"/>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C5FDC2DD-D4C7-70F7-0054-3C3F49C05CF8}"/>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A0AE615C-4669-E1F0-9FCF-B3C8E3C080B8}"/>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40CF831D-48E7-031B-1774-321D686D546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D16CFE36-09C3-E793-0311-7F57B455F83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04</a:t>
            </a:r>
          </a:p>
        </p:txBody>
      </p:sp>
    </p:spTree>
    <p:extLst>
      <p:ext uri="{BB962C8B-B14F-4D97-AF65-F5344CB8AC3E}">
        <p14:creationId xmlns:p14="http://schemas.microsoft.com/office/powerpoint/2010/main" val="305856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5CBB1-CD13-CF6A-0B38-F534F058283E}"/>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Each session makes the next one better aimed</a:t>
            </a:r>
          </a:p>
        </p:txBody>
      </p:sp>
      <p:sp>
        <p:nvSpPr>
          <p:cNvPr id="3" name="TextBox 2">
            <a:extLst>
              <a:ext uri="{FF2B5EF4-FFF2-40B4-BE49-F238E27FC236}">
                <a16:creationId xmlns:a16="http://schemas.microsoft.com/office/drawing/2014/main" id="{18EA4806-CF12-E059-9D74-E01167CCA998}"/>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73FCC3C5-8415-4542-C35E-5417788FD6D4}"/>
              </a:ext>
            </a:extLst>
          </p:cNvPr>
          <p:cNvSpPr/>
          <p:nvPr/>
        </p:nvSpPr>
        <p:spPr>
          <a:xfrm>
            <a:off x="6096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A3DE50D2-5B99-4813-8E17-600AEEA94B2B}"/>
              </a:ext>
            </a:extLst>
          </p:cNvPr>
          <p:cNvSpPr txBox="1"/>
          <p:nvPr/>
        </p:nvSpPr>
        <p:spPr>
          <a:xfrm>
            <a:off x="8128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1246A6A6-ACF7-45FD-901F-27FE8203E6B8}"/>
              </a:ext>
            </a:extLst>
          </p:cNvPr>
          <p:cNvSpPr txBox="1"/>
          <p:nvPr/>
        </p:nvSpPr>
        <p:spPr>
          <a:xfrm>
            <a:off x="8128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AB47E673-7D33-D349-6E52-DE8836892F38}"/>
              </a:ext>
            </a:extLst>
          </p:cNvPr>
          <p:cNvSpPr txBox="1"/>
          <p:nvPr/>
        </p:nvSpPr>
        <p:spPr>
          <a:xfrm>
            <a:off x="8128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Starts from each trainee’s profile and shows the likely first target.</a:t>
            </a:r>
          </a:p>
        </p:txBody>
      </p:sp>
      <p:sp>
        <p:nvSpPr>
          <p:cNvPr id="8" name="Arrow: Right 7">
            <a:extLst>
              <a:ext uri="{FF2B5EF4-FFF2-40B4-BE49-F238E27FC236}">
                <a16:creationId xmlns:a16="http://schemas.microsoft.com/office/drawing/2014/main" id="{43F41BF3-2B23-02A0-8B60-D21D189027AF}"/>
              </a:ext>
            </a:extLst>
          </p:cNvPr>
          <p:cNvSpPr/>
          <p:nvPr/>
        </p:nvSpPr>
        <p:spPr>
          <a:xfrm>
            <a:off x="30734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B66299BE-18E2-1A28-9F18-466CDD7814BB}"/>
              </a:ext>
            </a:extLst>
          </p:cNvPr>
          <p:cNvSpPr/>
          <p:nvPr/>
        </p:nvSpPr>
        <p:spPr>
          <a:xfrm>
            <a:off x="34798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64D59B7F-D400-7E5A-0173-F0B449B82FB6}"/>
              </a:ext>
            </a:extLst>
          </p:cNvPr>
          <p:cNvSpPr txBox="1"/>
          <p:nvPr/>
        </p:nvSpPr>
        <p:spPr>
          <a:xfrm>
            <a:off x="36830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21316001-5402-7337-EF11-701625353220}"/>
              </a:ext>
            </a:extLst>
          </p:cNvPr>
          <p:cNvSpPr txBox="1"/>
          <p:nvPr/>
        </p:nvSpPr>
        <p:spPr>
          <a:xfrm>
            <a:off x="36830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6AAAAD46-9EF1-78C5-47C5-414C413030C6}"/>
              </a:ext>
            </a:extLst>
          </p:cNvPr>
          <p:cNvSpPr txBox="1"/>
          <p:nvPr/>
        </p:nvSpPr>
        <p:spPr>
          <a:xfrm>
            <a:off x="36830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Pressure follows the profile first, then what the trainee does.</a:t>
            </a:r>
          </a:p>
        </p:txBody>
      </p:sp>
      <p:sp>
        <p:nvSpPr>
          <p:cNvPr id="13" name="Arrow: Right 12">
            <a:extLst>
              <a:ext uri="{FF2B5EF4-FFF2-40B4-BE49-F238E27FC236}">
                <a16:creationId xmlns:a16="http://schemas.microsoft.com/office/drawing/2014/main" id="{5DF51928-774D-8CA5-A18F-A0DE34CE859C}"/>
              </a:ext>
            </a:extLst>
          </p:cNvPr>
          <p:cNvSpPr/>
          <p:nvPr/>
        </p:nvSpPr>
        <p:spPr>
          <a:xfrm>
            <a:off x="59436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A61B1F64-8A1B-7561-A7E8-3E981165E22E}"/>
              </a:ext>
            </a:extLst>
          </p:cNvPr>
          <p:cNvSpPr/>
          <p:nvPr/>
        </p:nvSpPr>
        <p:spPr>
          <a:xfrm>
            <a:off x="63500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00F98933-9338-C680-3EEE-A518D52FD5A6}"/>
              </a:ext>
            </a:extLst>
          </p:cNvPr>
          <p:cNvSpPr txBox="1"/>
          <p:nvPr/>
        </p:nvSpPr>
        <p:spPr>
          <a:xfrm>
            <a:off x="65532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2BCAFEF1-5A1E-9414-01AB-0BFA823652B5}"/>
              </a:ext>
            </a:extLst>
          </p:cNvPr>
          <p:cNvSpPr txBox="1"/>
          <p:nvPr/>
        </p:nvSpPr>
        <p:spPr>
          <a:xfrm>
            <a:off x="65532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10132A70-ED35-AC67-2F55-510B2F62B3D7}"/>
              </a:ext>
            </a:extLst>
          </p:cNvPr>
          <p:cNvSpPr txBox="1"/>
          <p:nvPr/>
        </p:nvSpPr>
        <p:spPr>
          <a:xfrm>
            <a:off x="65532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Facts computed from this run’s events, one debrief per trainee.</a:t>
            </a:r>
          </a:p>
        </p:txBody>
      </p:sp>
      <p:sp>
        <p:nvSpPr>
          <p:cNvPr id="18" name="Arrow: Right 17">
            <a:extLst>
              <a:ext uri="{FF2B5EF4-FFF2-40B4-BE49-F238E27FC236}">
                <a16:creationId xmlns:a16="http://schemas.microsoft.com/office/drawing/2014/main" id="{4258E727-4FB4-6F85-C525-D23DA585167F}"/>
              </a:ext>
            </a:extLst>
          </p:cNvPr>
          <p:cNvSpPr/>
          <p:nvPr/>
        </p:nvSpPr>
        <p:spPr>
          <a:xfrm>
            <a:off x="88138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74D55D29-C034-6493-0DD3-66A35DF96163}"/>
              </a:ext>
            </a:extLst>
          </p:cNvPr>
          <p:cNvSpPr/>
          <p:nvPr/>
        </p:nvSpPr>
        <p:spPr>
          <a:xfrm>
            <a:off x="9220200" y="1905000"/>
            <a:ext cx="2362200" cy="2159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E4047065-4F91-E004-9FB7-4EFF9C9E91F7}"/>
              </a:ext>
            </a:extLst>
          </p:cNvPr>
          <p:cNvSpPr txBox="1"/>
          <p:nvPr/>
        </p:nvSpPr>
        <p:spPr>
          <a:xfrm>
            <a:off x="9423400" y="21082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DC100FE8-2662-74F8-FDF8-D47AC1561EEC}"/>
              </a:ext>
            </a:extLst>
          </p:cNvPr>
          <p:cNvSpPr txBox="1"/>
          <p:nvPr/>
        </p:nvSpPr>
        <p:spPr>
          <a:xfrm>
            <a:off x="9423400" y="24384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Learn</a:t>
            </a:r>
          </a:p>
        </p:txBody>
      </p:sp>
      <p:sp>
        <p:nvSpPr>
          <p:cNvPr id="22" name="TextBox 21">
            <a:extLst>
              <a:ext uri="{FF2B5EF4-FFF2-40B4-BE49-F238E27FC236}">
                <a16:creationId xmlns:a16="http://schemas.microsoft.com/office/drawing/2014/main" id="{08824210-A948-B02B-7D72-E4691399E4ED}"/>
              </a:ext>
            </a:extLst>
          </p:cNvPr>
          <p:cNvSpPr txBox="1"/>
          <p:nvPr/>
        </p:nvSpPr>
        <p:spPr>
          <a:xfrm>
            <a:off x="9423400" y="2971800"/>
            <a:ext cx="1955800" cy="1016000"/>
          </a:xfrm>
          <a:prstGeom prst="rect">
            <a:avLst/>
          </a:prstGeom>
          <a:noFill/>
        </p:spPr>
        <p:txBody>
          <a:bodyPr vert="horz" wrap="square" lIns="0" tIns="0" rIns="0" bIns="0" rtlCol="0">
            <a:noAutofit/>
          </a:bodyPr>
          <a:lstStyle/>
          <a:p>
            <a:r>
              <a:rPr lang="en-SG" sz="1400">
                <a:solidFill>
                  <a:srgbClr val="EBDFFF"/>
                </a:solidFill>
                <a:latin typeface="Segoe UI" panose="020B0502040204020203" pitchFamily="34" charset="0"/>
              </a:rPr>
              <a:t>Every event adds to the estimate. The history is saved.</a:t>
            </a:r>
          </a:p>
        </p:txBody>
      </p:sp>
      <p:cxnSp>
        <p:nvCxnSpPr>
          <p:cNvPr id="23" name="Straight Connector 22">
            <a:extLst>
              <a:ext uri="{FF2B5EF4-FFF2-40B4-BE49-F238E27FC236}">
                <a16:creationId xmlns:a16="http://schemas.microsoft.com/office/drawing/2014/main" id="{CBF5EE41-9B2E-6CF5-90B2-026E3FDA3774}"/>
              </a:ext>
            </a:extLst>
          </p:cNvPr>
          <p:cNvCxnSpPr/>
          <p:nvPr/>
        </p:nvCxnSpPr>
        <p:spPr>
          <a:xfrm>
            <a:off x="10401300" y="4064000"/>
            <a:ext cx="0" cy="43180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51BE396-D4D3-3E60-31AF-2C882D340E4A}"/>
              </a:ext>
            </a:extLst>
          </p:cNvPr>
          <p:cNvCxnSpPr/>
          <p:nvPr/>
        </p:nvCxnSpPr>
        <p:spPr>
          <a:xfrm flipH="1">
            <a:off x="1790700" y="4495800"/>
            <a:ext cx="8610600" cy="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680682BC-5EE5-14C8-3D6E-F1C6830FB3BA}"/>
              </a:ext>
            </a:extLst>
          </p:cNvPr>
          <p:cNvCxnSpPr/>
          <p:nvPr/>
        </p:nvCxnSpPr>
        <p:spPr>
          <a:xfrm flipV="1">
            <a:off x="1790700" y="4089400"/>
            <a:ext cx="0" cy="406400"/>
          </a:xfrm>
          <a:prstGeom prst="line">
            <a:avLst/>
          </a:prstGeom>
          <a:ln w="28575">
            <a:solidFill>
              <a:srgbClr val="B98FFF"/>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D87D2E-27B9-5E1B-0078-C4CCDBCC7D97}"/>
              </a:ext>
            </a:extLst>
          </p:cNvPr>
          <p:cNvSpPr txBox="1"/>
          <p:nvPr/>
        </p:nvSpPr>
        <p:spPr>
          <a:xfrm>
            <a:off x="3175000" y="4597400"/>
            <a:ext cx="5842000" cy="304800"/>
          </a:xfrm>
          <a:prstGeom prst="rect">
            <a:avLst/>
          </a:prstGeom>
          <a:noFill/>
        </p:spPr>
        <p:txBody>
          <a:bodyPr vert="horz" wrap="square" lIns="0" tIns="0" rIns="0" bIns="0" rtlCol="0">
            <a:noAutofit/>
          </a:bodyPr>
          <a:lstStyle/>
          <a:p>
            <a:pPr algn="ctr"/>
            <a:r>
              <a:rPr lang="en-SG" sz="1600" b="1">
                <a:solidFill>
                  <a:srgbClr val="EBDFFF"/>
                </a:solidFill>
                <a:latin typeface="Segoe UI" panose="020B0502040204020203" pitchFamily="34" charset="0"/>
              </a:rPr>
              <a:t>What was learned is where the next session starts</a:t>
            </a:r>
          </a:p>
        </p:txBody>
      </p:sp>
      <p:sp>
        <p:nvSpPr>
          <p:cNvPr id="27" name="Rectangle: Rounded Corners 26">
            <a:extLst>
              <a:ext uri="{FF2B5EF4-FFF2-40B4-BE49-F238E27FC236}">
                <a16:creationId xmlns:a16="http://schemas.microsoft.com/office/drawing/2014/main" id="{90E681EC-00AA-9F15-7EF8-1D6EE60534C8}"/>
              </a:ext>
            </a:extLst>
          </p:cNvPr>
          <p:cNvSpPr/>
          <p:nvPr/>
        </p:nvSpPr>
        <p:spPr>
          <a:xfrm>
            <a:off x="609600" y="5181600"/>
            <a:ext cx="10972800" cy="889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TextBox 27">
            <a:extLst>
              <a:ext uri="{FF2B5EF4-FFF2-40B4-BE49-F238E27FC236}">
                <a16:creationId xmlns:a16="http://schemas.microsoft.com/office/drawing/2014/main" id="{BDBB6E05-7A27-FFEE-46EA-836D0BF627B6}"/>
              </a:ext>
            </a:extLst>
          </p:cNvPr>
          <p:cNvSpPr txBox="1"/>
          <p:nvPr/>
        </p:nvSpPr>
        <p:spPr>
          <a:xfrm>
            <a:off x="863600" y="5486400"/>
            <a:ext cx="10464800" cy="381000"/>
          </a:xfrm>
          <a:prstGeom prst="rect">
            <a:avLst/>
          </a:prstGeom>
          <a:noFill/>
        </p:spPr>
        <p:txBody>
          <a:bodyPr vert="horz" wrap="square" lIns="0" tIns="0" rIns="0" bIns="0" rtlCol="0">
            <a:noAutofit/>
          </a:bodyPr>
          <a:lstStyle/>
          <a:p>
            <a:pPr algn="ctr"/>
            <a:r>
              <a:rPr lang="en-SG" b="1">
                <a:solidFill>
                  <a:srgbClr val="F3ECFF"/>
                </a:solidFill>
                <a:latin typeface="Segoe UI" panose="020B0502040204020203" pitchFamily="34" charset="0"/>
              </a:rPr>
              <a:t>More sessions  →  more evidence  →  a sharper picture of each trainee  →  better-aimed practice</a:t>
            </a:r>
          </a:p>
        </p:txBody>
      </p:sp>
      <p:sp>
        <p:nvSpPr>
          <p:cNvPr id="29" name="TextBox 28">
            <a:extLst>
              <a:ext uri="{FF2B5EF4-FFF2-40B4-BE49-F238E27FC236}">
                <a16:creationId xmlns:a16="http://schemas.microsoft.com/office/drawing/2014/main" id="{EAEC5A15-737F-2F6F-4128-6DAF7595370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30" name="TextBox 29">
            <a:extLst>
              <a:ext uri="{FF2B5EF4-FFF2-40B4-BE49-F238E27FC236}">
                <a16:creationId xmlns:a16="http://schemas.microsoft.com/office/drawing/2014/main" id="{661B5058-7CCD-9528-809F-F3533C47DB2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05</a:t>
            </a:r>
          </a:p>
        </p:txBody>
      </p:sp>
    </p:spTree>
    <p:extLst>
      <p:ext uri="{BB962C8B-B14F-4D97-AF65-F5344CB8AC3E}">
        <p14:creationId xmlns:p14="http://schemas.microsoft.com/office/powerpoint/2010/main" val="2069874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C50C4-FEB6-EF91-27A6-013F19CA010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more it is used, the better it knows each trainee</a:t>
            </a:r>
          </a:p>
        </p:txBody>
      </p:sp>
      <p:sp>
        <p:nvSpPr>
          <p:cNvPr id="3" name="TextBox 2">
            <a:extLst>
              <a:ext uri="{FF2B5EF4-FFF2-40B4-BE49-F238E27FC236}">
                <a16:creationId xmlns:a16="http://schemas.microsoft.com/office/drawing/2014/main" id="{07299FB1-3BB9-B699-BA3C-5DCF1B4EEACC}"/>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LEARNING OVER TIME</a:t>
            </a:r>
          </a:p>
        </p:txBody>
      </p:sp>
      <p:sp>
        <p:nvSpPr>
          <p:cNvPr id="4" name="TextBox 3">
            <a:extLst>
              <a:ext uri="{FF2B5EF4-FFF2-40B4-BE49-F238E27FC236}">
                <a16:creationId xmlns:a16="http://schemas.microsoft.com/office/drawing/2014/main" id="{238EE7F1-2229-457D-F9E5-F1D3A7E33415}"/>
              </a:ext>
            </a:extLst>
          </p:cNvPr>
          <p:cNvSpPr txBox="1"/>
          <p:nvPr/>
        </p:nvSpPr>
        <p:spPr>
          <a:xfrm>
            <a:off x="609600" y="2133600"/>
            <a:ext cx="6096000" cy="2794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Ben Ong: estimated hail discipline, with a ±1 SD range</a:t>
            </a:r>
          </a:p>
        </p:txBody>
      </p:sp>
      <p:cxnSp>
        <p:nvCxnSpPr>
          <p:cNvPr id="5" name="Straight Connector 4">
            <a:extLst>
              <a:ext uri="{FF2B5EF4-FFF2-40B4-BE49-F238E27FC236}">
                <a16:creationId xmlns:a16="http://schemas.microsoft.com/office/drawing/2014/main" id="{2885D3D1-CBF6-FF3C-4B61-F7C082B14883}"/>
              </a:ext>
            </a:extLst>
          </p:cNvPr>
          <p:cNvCxnSpPr/>
          <p:nvPr/>
        </p:nvCxnSpPr>
        <p:spPr>
          <a:xfrm>
            <a:off x="1219200" y="50292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6F96F6D-1570-3C5E-1C16-1BA99181677B}"/>
              </a:ext>
            </a:extLst>
          </p:cNvPr>
          <p:cNvSpPr txBox="1"/>
          <p:nvPr/>
        </p:nvSpPr>
        <p:spPr>
          <a:xfrm>
            <a:off x="660400" y="49276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0.0</a:t>
            </a:r>
          </a:p>
        </p:txBody>
      </p:sp>
      <p:cxnSp>
        <p:nvCxnSpPr>
          <p:cNvPr id="7" name="Straight Connector 6">
            <a:extLst>
              <a:ext uri="{FF2B5EF4-FFF2-40B4-BE49-F238E27FC236}">
                <a16:creationId xmlns:a16="http://schemas.microsoft.com/office/drawing/2014/main" id="{A06BD926-E4C9-806B-1994-1975BC1293B7}"/>
              </a:ext>
            </a:extLst>
          </p:cNvPr>
          <p:cNvCxnSpPr/>
          <p:nvPr/>
        </p:nvCxnSpPr>
        <p:spPr>
          <a:xfrm>
            <a:off x="1219200" y="454152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7AB5AA7-F536-2EC7-7779-30D3A23020BF}"/>
              </a:ext>
            </a:extLst>
          </p:cNvPr>
          <p:cNvSpPr txBox="1"/>
          <p:nvPr/>
        </p:nvSpPr>
        <p:spPr>
          <a:xfrm>
            <a:off x="660400" y="443992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0.1</a:t>
            </a:r>
          </a:p>
        </p:txBody>
      </p:sp>
      <p:cxnSp>
        <p:nvCxnSpPr>
          <p:cNvPr id="9" name="Straight Connector 8">
            <a:extLst>
              <a:ext uri="{FF2B5EF4-FFF2-40B4-BE49-F238E27FC236}">
                <a16:creationId xmlns:a16="http://schemas.microsoft.com/office/drawing/2014/main" id="{661CD0F4-CB39-B2DF-AA6C-1107BB56236F}"/>
              </a:ext>
            </a:extLst>
          </p:cNvPr>
          <p:cNvCxnSpPr/>
          <p:nvPr/>
        </p:nvCxnSpPr>
        <p:spPr>
          <a:xfrm>
            <a:off x="1219200" y="405384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BF73E3E5-E67F-E1E9-3EF1-B1CBD8950031}"/>
              </a:ext>
            </a:extLst>
          </p:cNvPr>
          <p:cNvSpPr txBox="1"/>
          <p:nvPr/>
        </p:nvSpPr>
        <p:spPr>
          <a:xfrm>
            <a:off x="660400" y="395224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0.2</a:t>
            </a:r>
          </a:p>
        </p:txBody>
      </p:sp>
      <p:cxnSp>
        <p:nvCxnSpPr>
          <p:cNvPr id="11" name="Straight Connector 10">
            <a:extLst>
              <a:ext uri="{FF2B5EF4-FFF2-40B4-BE49-F238E27FC236}">
                <a16:creationId xmlns:a16="http://schemas.microsoft.com/office/drawing/2014/main" id="{DDCA29C3-88A9-9F48-BC38-550638458F0A}"/>
              </a:ext>
            </a:extLst>
          </p:cNvPr>
          <p:cNvCxnSpPr/>
          <p:nvPr/>
        </p:nvCxnSpPr>
        <p:spPr>
          <a:xfrm>
            <a:off x="1219200" y="356616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73EE807-A948-1531-E6FF-BBD22CA1E8CE}"/>
              </a:ext>
            </a:extLst>
          </p:cNvPr>
          <p:cNvSpPr txBox="1"/>
          <p:nvPr/>
        </p:nvSpPr>
        <p:spPr>
          <a:xfrm>
            <a:off x="660400" y="346456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0.3</a:t>
            </a:r>
          </a:p>
        </p:txBody>
      </p:sp>
      <p:cxnSp>
        <p:nvCxnSpPr>
          <p:cNvPr id="13" name="Straight Connector 12">
            <a:extLst>
              <a:ext uri="{FF2B5EF4-FFF2-40B4-BE49-F238E27FC236}">
                <a16:creationId xmlns:a16="http://schemas.microsoft.com/office/drawing/2014/main" id="{5F67CC0D-DA25-A24D-70DD-A8DFBCFAAA25}"/>
              </a:ext>
            </a:extLst>
          </p:cNvPr>
          <p:cNvCxnSpPr/>
          <p:nvPr/>
        </p:nvCxnSpPr>
        <p:spPr>
          <a:xfrm>
            <a:off x="1219200" y="307848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E02E8DA-D340-DC42-F514-A4A4B1C3731B}"/>
              </a:ext>
            </a:extLst>
          </p:cNvPr>
          <p:cNvSpPr txBox="1"/>
          <p:nvPr/>
        </p:nvSpPr>
        <p:spPr>
          <a:xfrm>
            <a:off x="660400" y="297688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0.4</a:t>
            </a:r>
          </a:p>
        </p:txBody>
      </p:sp>
      <p:cxnSp>
        <p:nvCxnSpPr>
          <p:cNvPr id="15" name="Straight Connector 14">
            <a:extLst>
              <a:ext uri="{FF2B5EF4-FFF2-40B4-BE49-F238E27FC236}">
                <a16:creationId xmlns:a16="http://schemas.microsoft.com/office/drawing/2014/main" id="{94581D7C-C2D8-6ABC-9907-D794129A84F3}"/>
              </a:ext>
            </a:extLst>
          </p:cNvPr>
          <p:cNvCxnSpPr/>
          <p:nvPr/>
        </p:nvCxnSpPr>
        <p:spPr>
          <a:xfrm>
            <a:off x="1219200" y="25908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AAA0E849-04E9-A21B-08C9-89B0F004AFD9}"/>
              </a:ext>
            </a:extLst>
          </p:cNvPr>
          <p:cNvSpPr txBox="1"/>
          <p:nvPr/>
        </p:nvSpPr>
        <p:spPr>
          <a:xfrm>
            <a:off x="660400" y="24892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0.5</a:t>
            </a:r>
          </a:p>
        </p:txBody>
      </p:sp>
      <p:sp>
        <p:nvSpPr>
          <p:cNvPr id="17" name="Range band" descr="Range of one standard deviation around Ben Ong's hail discipline estimate; it narrows over five points">
            <a:extLst>
              <a:ext uri="{FF2B5EF4-FFF2-40B4-BE49-F238E27FC236}">
                <a16:creationId xmlns:a16="http://schemas.microsoft.com/office/drawing/2014/main" id="{FF1714DC-2C5F-4D71-1002-BC465767A7EF}"/>
              </a:ext>
            </a:extLst>
          </p:cNvPr>
          <p:cNvSpPr/>
          <p:nvPr/>
        </p:nvSpPr>
        <p:spPr>
          <a:xfrm>
            <a:off x="1574800" y="3164773"/>
            <a:ext cx="4572001" cy="1376748"/>
          </a:xfrm>
          <a:custGeom>
            <a:avLst/>
            <a:gdLst/>
            <a:ahLst/>
            <a:cxnLst/>
            <a:rect l="0" t="0" r="0" b="0"/>
            <a:pathLst>
              <a:path w="4572001" h="1376748">
                <a:moveTo>
                  <a:pt x="0" y="189865"/>
                </a:moveTo>
                <a:lnTo>
                  <a:pt x="1143000" y="401387"/>
                </a:lnTo>
                <a:lnTo>
                  <a:pt x="2286000" y="229359"/>
                </a:lnTo>
                <a:lnTo>
                  <a:pt x="3429000" y="100866"/>
                </a:lnTo>
                <a:lnTo>
                  <a:pt x="4572000" y="0"/>
                </a:lnTo>
                <a:lnTo>
                  <a:pt x="4572000" y="802774"/>
                </a:lnTo>
                <a:lnTo>
                  <a:pt x="3429000" y="1061251"/>
                </a:lnTo>
                <a:lnTo>
                  <a:pt x="2286000" y="1204531"/>
                </a:lnTo>
                <a:lnTo>
                  <a:pt x="1143000" y="1376747"/>
                </a:lnTo>
                <a:lnTo>
                  <a:pt x="0" y="1288158"/>
                </a:lnTo>
                <a:close/>
              </a:path>
            </a:pathLst>
          </a:custGeom>
          <a:solidFill>
            <a:srgbClr val="3A2A6B">
              <a:alpha val="7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8" name="Straight Connector 17">
            <a:extLst>
              <a:ext uri="{FF2B5EF4-FFF2-40B4-BE49-F238E27FC236}">
                <a16:creationId xmlns:a16="http://schemas.microsoft.com/office/drawing/2014/main" id="{9E4EA9B2-BDAB-4FE2-20E5-69CE489C8DB5}"/>
              </a:ext>
            </a:extLst>
          </p:cNvPr>
          <p:cNvCxnSpPr/>
          <p:nvPr/>
        </p:nvCxnSpPr>
        <p:spPr>
          <a:xfrm>
            <a:off x="1574800" y="3903785"/>
            <a:ext cx="1143000" cy="150055"/>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385F399-5277-A83B-D2B1-10D54C35142B}"/>
              </a:ext>
            </a:extLst>
          </p:cNvPr>
          <p:cNvCxnSpPr/>
          <p:nvPr/>
        </p:nvCxnSpPr>
        <p:spPr>
          <a:xfrm flipV="1">
            <a:off x="2717800" y="3881718"/>
            <a:ext cx="1143000" cy="172122"/>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107C9FB-E798-7798-4911-DEB53433DA7B}"/>
              </a:ext>
            </a:extLst>
          </p:cNvPr>
          <p:cNvCxnSpPr/>
          <p:nvPr/>
        </p:nvCxnSpPr>
        <p:spPr>
          <a:xfrm flipV="1">
            <a:off x="3860800" y="3745831"/>
            <a:ext cx="1143000" cy="135887"/>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B1FBD52-1B76-FA26-45A8-4E01FAC1787F}"/>
              </a:ext>
            </a:extLst>
          </p:cNvPr>
          <p:cNvCxnSpPr/>
          <p:nvPr/>
        </p:nvCxnSpPr>
        <p:spPr>
          <a:xfrm flipV="1">
            <a:off x="5003800" y="3566160"/>
            <a:ext cx="1143000" cy="179671"/>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8443FC2A-20C6-62B3-DBA6-E301510C5D1F}"/>
              </a:ext>
            </a:extLst>
          </p:cNvPr>
          <p:cNvSpPr/>
          <p:nvPr/>
        </p:nvSpPr>
        <p:spPr>
          <a:xfrm>
            <a:off x="1498600" y="3827585"/>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3" name="Oval 22">
            <a:extLst>
              <a:ext uri="{FF2B5EF4-FFF2-40B4-BE49-F238E27FC236}">
                <a16:creationId xmlns:a16="http://schemas.microsoft.com/office/drawing/2014/main" id="{1A2237E0-99EC-2121-B79D-AA75A298E594}"/>
              </a:ext>
            </a:extLst>
          </p:cNvPr>
          <p:cNvSpPr/>
          <p:nvPr/>
        </p:nvSpPr>
        <p:spPr>
          <a:xfrm>
            <a:off x="2641600" y="397764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4" name="Oval 23">
            <a:extLst>
              <a:ext uri="{FF2B5EF4-FFF2-40B4-BE49-F238E27FC236}">
                <a16:creationId xmlns:a16="http://schemas.microsoft.com/office/drawing/2014/main" id="{30BE73C9-E8DA-F7EE-376E-D30DC74EF35F}"/>
              </a:ext>
            </a:extLst>
          </p:cNvPr>
          <p:cNvSpPr/>
          <p:nvPr/>
        </p:nvSpPr>
        <p:spPr>
          <a:xfrm>
            <a:off x="3784600" y="3805518"/>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5" name="Oval 24">
            <a:extLst>
              <a:ext uri="{FF2B5EF4-FFF2-40B4-BE49-F238E27FC236}">
                <a16:creationId xmlns:a16="http://schemas.microsoft.com/office/drawing/2014/main" id="{56C7EBAE-B50A-AC4F-0519-70EF21789BA1}"/>
              </a:ext>
            </a:extLst>
          </p:cNvPr>
          <p:cNvSpPr/>
          <p:nvPr/>
        </p:nvSpPr>
        <p:spPr>
          <a:xfrm>
            <a:off x="4927600" y="3669631"/>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6" name="Oval 25">
            <a:extLst>
              <a:ext uri="{FF2B5EF4-FFF2-40B4-BE49-F238E27FC236}">
                <a16:creationId xmlns:a16="http://schemas.microsoft.com/office/drawing/2014/main" id="{4C7CB599-AB30-CC4A-298B-88E0B1258C7F}"/>
              </a:ext>
            </a:extLst>
          </p:cNvPr>
          <p:cNvSpPr/>
          <p:nvPr/>
        </p:nvSpPr>
        <p:spPr>
          <a:xfrm>
            <a:off x="6070600" y="348996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TextBox 26">
            <a:extLst>
              <a:ext uri="{FF2B5EF4-FFF2-40B4-BE49-F238E27FC236}">
                <a16:creationId xmlns:a16="http://schemas.microsoft.com/office/drawing/2014/main" id="{CD6DB960-2479-F8D4-7866-DC53D73E44A3}"/>
              </a:ext>
            </a:extLst>
          </p:cNvPr>
          <p:cNvSpPr txBox="1"/>
          <p:nvPr/>
        </p:nvSpPr>
        <p:spPr>
          <a:xfrm>
            <a:off x="1016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Start</a:t>
            </a:r>
          </a:p>
        </p:txBody>
      </p:sp>
      <p:sp>
        <p:nvSpPr>
          <p:cNvPr id="28" name="TextBox 27">
            <a:extLst>
              <a:ext uri="{FF2B5EF4-FFF2-40B4-BE49-F238E27FC236}">
                <a16:creationId xmlns:a16="http://schemas.microsoft.com/office/drawing/2014/main" id="{96C43ABB-4911-C29D-7264-0194B092F144}"/>
              </a:ext>
            </a:extLst>
          </p:cNvPr>
          <p:cNvSpPr txBox="1"/>
          <p:nvPr/>
        </p:nvSpPr>
        <p:spPr>
          <a:xfrm>
            <a:off x="1016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13 events</a:t>
            </a:r>
          </a:p>
        </p:txBody>
      </p:sp>
      <p:sp>
        <p:nvSpPr>
          <p:cNvPr id="29" name="TextBox 28">
            <a:extLst>
              <a:ext uri="{FF2B5EF4-FFF2-40B4-BE49-F238E27FC236}">
                <a16:creationId xmlns:a16="http://schemas.microsoft.com/office/drawing/2014/main" id="{CE869C4A-5458-DA7F-B5BD-6F72391713DA}"/>
              </a:ext>
            </a:extLst>
          </p:cNvPr>
          <p:cNvSpPr txBox="1"/>
          <p:nvPr/>
        </p:nvSpPr>
        <p:spPr>
          <a:xfrm>
            <a:off x="2159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1</a:t>
            </a:r>
          </a:p>
        </p:txBody>
      </p:sp>
      <p:sp>
        <p:nvSpPr>
          <p:cNvPr id="30" name="TextBox 29">
            <a:extLst>
              <a:ext uri="{FF2B5EF4-FFF2-40B4-BE49-F238E27FC236}">
                <a16:creationId xmlns:a16="http://schemas.microsoft.com/office/drawing/2014/main" id="{6B9988FA-2B67-8F02-4B01-4F070B9CF59B}"/>
              </a:ext>
            </a:extLst>
          </p:cNvPr>
          <p:cNvSpPr txBox="1"/>
          <p:nvPr/>
        </p:nvSpPr>
        <p:spPr>
          <a:xfrm>
            <a:off x="2159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15 events</a:t>
            </a:r>
          </a:p>
        </p:txBody>
      </p:sp>
      <p:sp>
        <p:nvSpPr>
          <p:cNvPr id="31" name="TextBox 30">
            <a:extLst>
              <a:ext uri="{FF2B5EF4-FFF2-40B4-BE49-F238E27FC236}">
                <a16:creationId xmlns:a16="http://schemas.microsoft.com/office/drawing/2014/main" id="{FB6D0A8F-8B76-3B82-01AA-5BE86E39C0F1}"/>
              </a:ext>
            </a:extLst>
          </p:cNvPr>
          <p:cNvSpPr txBox="1"/>
          <p:nvPr/>
        </p:nvSpPr>
        <p:spPr>
          <a:xfrm>
            <a:off x="3302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2</a:t>
            </a:r>
          </a:p>
        </p:txBody>
      </p:sp>
      <p:sp>
        <p:nvSpPr>
          <p:cNvPr id="32" name="TextBox 31">
            <a:extLst>
              <a:ext uri="{FF2B5EF4-FFF2-40B4-BE49-F238E27FC236}">
                <a16:creationId xmlns:a16="http://schemas.microsoft.com/office/drawing/2014/main" id="{AB9D9AD1-0C03-AD5E-2812-CF6F8E9B3C82}"/>
              </a:ext>
            </a:extLst>
          </p:cNvPr>
          <p:cNvSpPr txBox="1"/>
          <p:nvPr/>
        </p:nvSpPr>
        <p:spPr>
          <a:xfrm>
            <a:off x="3302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17 events</a:t>
            </a:r>
          </a:p>
        </p:txBody>
      </p:sp>
      <p:sp>
        <p:nvSpPr>
          <p:cNvPr id="33" name="TextBox 32">
            <a:extLst>
              <a:ext uri="{FF2B5EF4-FFF2-40B4-BE49-F238E27FC236}">
                <a16:creationId xmlns:a16="http://schemas.microsoft.com/office/drawing/2014/main" id="{ACEA7F0F-ACB6-23BA-2194-1506A1DB83CF}"/>
              </a:ext>
            </a:extLst>
          </p:cNvPr>
          <p:cNvSpPr txBox="1"/>
          <p:nvPr/>
        </p:nvSpPr>
        <p:spPr>
          <a:xfrm>
            <a:off x="4445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3</a:t>
            </a:r>
          </a:p>
        </p:txBody>
      </p:sp>
      <p:sp>
        <p:nvSpPr>
          <p:cNvPr id="34" name="TextBox 33">
            <a:extLst>
              <a:ext uri="{FF2B5EF4-FFF2-40B4-BE49-F238E27FC236}">
                <a16:creationId xmlns:a16="http://schemas.microsoft.com/office/drawing/2014/main" id="{ECF1AF15-DC2D-B365-B475-DADF0F1F3F08}"/>
              </a:ext>
            </a:extLst>
          </p:cNvPr>
          <p:cNvSpPr txBox="1"/>
          <p:nvPr/>
        </p:nvSpPr>
        <p:spPr>
          <a:xfrm>
            <a:off x="4445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19 events</a:t>
            </a:r>
          </a:p>
        </p:txBody>
      </p:sp>
      <p:sp>
        <p:nvSpPr>
          <p:cNvPr id="35" name="TextBox 34">
            <a:extLst>
              <a:ext uri="{FF2B5EF4-FFF2-40B4-BE49-F238E27FC236}">
                <a16:creationId xmlns:a16="http://schemas.microsoft.com/office/drawing/2014/main" id="{415D3795-FDDE-F237-30A9-FE0B271E38BE}"/>
              </a:ext>
            </a:extLst>
          </p:cNvPr>
          <p:cNvSpPr txBox="1"/>
          <p:nvPr/>
        </p:nvSpPr>
        <p:spPr>
          <a:xfrm>
            <a:off x="5588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4</a:t>
            </a:r>
          </a:p>
        </p:txBody>
      </p:sp>
      <p:sp>
        <p:nvSpPr>
          <p:cNvPr id="36" name="TextBox 35">
            <a:extLst>
              <a:ext uri="{FF2B5EF4-FFF2-40B4-BE49-F238E27FC236}">
                <a16:creationId xmlns:a16="http://schemas.microsoft.com/office/drawing/2014/main" id="{19C75DDB-96DF-69F9-09C9-09D72D9A5D7D}"/>
              </a:ext>
            </a:extLst>
          </p:cNvPr>
          <p:cNvSpPr txBox="1"/>
          <p:nvPr/>
        </p:nvSpPr>
        <p:spPr>
          <a:xfrm>
            <a:off x="5588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30 events</a:t>
            </a:r>
          </a:p>
        </p:txBody>
      </p:sp>
      <p:cxnSp>
        <p:nvCxnSpPr>
          <p:cNvPr id="37" name="Straight Connector 36">
            <a:extLst>
              <a:ext uri="{FF2B5EF4-FFF2-40B4-BE49-F238E27FC236}">
                <a16:creationId xmlns:a16="http://schemas.microsoft.com/office/drawing/2014/main" id="{E9C0A021-8FB5-8F71-DB27-E22B08A97A21}"/>
              </a:ext>
            </a:extLst>
          </p:cNvPr>
          <p:cNvCxnSpPr/>
          <p:nvPr/>
        </p:nvCxnSpPr>
        <p:spPr>
          <a:xfrm>
            <a:off x="762000" y="5765800"/>
            <a:ext cx="304800" cy="0"/>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A9BF2FE3-29F6-C3A0-6EC5-DA8C91DB2998}"/>
              </a:ext>
            </a:extLst>
          </p:cNvPr>
          <p:cNvSpPr txBox="1"/>
          <p:nvPr/>
        </p:nvSpPr>
        <p:spPr>
          <a:xfrm>
            <a:off x="1168400" y="5664200"/>
            <a:ext cx="1143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Estimate</a:t>
            </a:r>
          </a:p>
        </p:txBody>
      </p:sp>
      <p:sp>
        <p:nvSpPr>
          <p:cNvPr id="39" name="Rectangle 38">
            <a:extLst>
              <a:ext uri="{FF2B5EF4-FFF2-40B4-BE49-F238E27FC236}">
                <a16:creationId xmlns:a16="http://schemas.microsoft.com/office/drawing/2014/main" id="{F3147CDC-B380-B485-998F-2AE07AA30EA1}"/>
              </a:ext>
            </a:extLst>
          </p:cNvPr>
          <p:cNvSpPr/>
          <p:nvPr/>
        </p:nvSpPr>
        <p:spPr>
          <a:xfrm>
            <a:off x="2413000" y="5676900"/>
            <a:ext cx="304800" cy="177800"/>
          </a:xfrm>
          <a:prstGeom prst="rect">
            <a:avLst/>
          </a:prstGeom>
          <a:solidFill>
            <a:srgbClr val="3A2A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0" name="TextBox 39">
            <a:extLst>
              <a:ext uri="{FF2B5EF4-FFF2-40B4-BE49-F238E27FC236}">
                <a16:creationId xmlns:a16="http://schemas.microsoft.com/office/drawing/2014/main" id="{CBBD2006-273D-06F6-4813-D7818791A4CB}"/>
              </a:ext>
            </a:extLst>
          </p:cNvPr>
          <p:cNvSpPr txBox="1"/>
          <p:nvPr/>
        </p:nvSpPr>
        <p:spPr>
          <a:xfrm>
            <a:off x="2819400" y="5664200"/>
            <a:ext cx="3810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Range of one standard deviation</a:t>
            </a:r>
          </a:p>
        </p:txBody>
      </p:sp>
      <p:sp>
        <p:nvSpPr>
          <p:cNvPr id="41" name="TextBox 40">
            <a:extLst>
              <a:ext uri="{FF2B5EF4-FFF2-40B4-BE49-F238E27FC236}">
                <a16:creationId xmlns:a16="http://schemas.microsoft.com/office/drawing/2014/main" id="{0924F790-80E2-C70B-7AFC-BC7FF79E99FF}"/>
              </a:ext>
            </a:extLst>
          </p:cNvPr>
          <p:cNvSpPr txBox="1"/>
          <p:nvPr/>
        </p:nvSpPr>
        <p:spPr>
          <a:xfrm>
            <a:off x="7112000" y="21336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A sharper picture</a:t>
            </a:r>
          </a:p>
        </p:txBody>
      </p:sp>
      <p:sp>
        <p:nvSpPr>
          <p:cNvPr id="42" name="TextBox 41">
            <a:extLst>
              <a:ext uri="{FF2B5EF4-FFF2-40B4-BE49-F238E27FC236}">
                <a16:creationId xmlns:a16="http://schemas.microsoft.com/office/drawing/2014/main" id="{D7929A67-5E38-4288-5260-4C932C1FA362}"/>
              </a:ext>
            </a:extLst>
          </p:cNvPr>
          <p:cNvSpPr txBox="1"/>
          <p:nvPr/>
        </p:nvSpPr>
        <p:spPr>
          <a:xfrm>
            <a:off x="7112000" y="24892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Each event adds to the estimate. The range around Ben’s hail discipline narrows from ±0.11 to ±0.08 as the evidence grows.</a:t>
            </a:r>
          </a:p>
        </p:txBody>
      </p:sp>
      <p:sp>
        <p:nvSpPr>
          <p:cNvPr id="43" name="TextBox 42">
            <a:extLst>
              <a:ext uri="{FF2B5EF4-FFF2-40B4-BE49-F238E27FC236}">
                <a16:creationId xmlns:a16="http://schemas.microsoft.com/office/drawing/2014/main" id="{ECC66407-F5DF-6200-3C14-9575F5F64C30}"/>
              </a:ext>
            </a:extLst>
          </p:cNvPr>
          <p:cNvSpPr txBox="1"/>
          <p:nvPr/>
        </p:nvSpPr>
        <p:spPr>
          <a:xfrm>
            <a:off x="7112000" y="33528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that hold up</a:t>
            </a:r>
          </a:p>
        </p:txBody>
      </p:sp>
      <p:sp>
        <p:nvSpPr>
          <p:cNvPr id="44" name="TextBox 43">
            <a:extLst>
              <a:ext uri="{FF2B5EF4-FFF2-40B4-BE49-F238E27FC236}">
                <a16:creationId xmlns:a16="http://schemas.microsoft.com/office/drawing/2014/main" id="{777E50D7-3D30-C17D-EC22-7908E43AFDB9}"/>
              </a:ext>
            </a:extLst>
          </p:cNvPr>
          <p:cNvSpPr txBox="1"/>
          <p:nvPr/>
        </p:nvSpPr>
        <p:spPr>
          <a:xfrm>
            <a:off x="7112000" y="37084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competency counts only with at least 8 events. More sessions turn “no evidence yet” into a real target.</a:t>
            </a:r>
          </a:p>
        </p:txBody>
      </p:sp>
      <p:sp>
        <p:nvSpPr>
          <p:cNvPr id="45" name="TextBox 44">
            <a:extLst>
              <a:ext uri="{FF2B5EF4-FFF2-40B4-BE49-F238E27FC236}">
                <a16:creationId xmlns:a16="http://schemas.microsoft.com/office/drawing/2014/main" id="{BC46226B-A4C1-CF1F-5381-CA611A43EE69}"/>
              </a:ext>
            </a:extLst>
          </p:cNvPr>
          <p:cNvSpPr txBox="1"/>
          <p:nvPr/>
        </p:nvSpPr>
        <p:spPr>
          <a:xfrm>
            <a:off x="7112000" y="45720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Truer AI partners</a:t>
            </a:r>
          </a:p>
        </p:txBody>
      </p:sp>
      <p:sp>
        <p:nvSpPr>
          <p:cNvPr id="46" name="TextBox 45">
            <a:extLst>
              <a:ext uri="{FF2B5EF4-FFF2-40B4-BE49-F238E27FC236}">
                <a16:creationId xmlns:a16="http://schemas.microsoft.com/office/drawing/2014/main" id="{72AB3A5B-9641-D814-B50D-7169EB17B043}"/>
              </a:ext>
            </a:extLst>
          </p:cNvPr>
          <p:cNvSpPr txBox="1"/>
          <p:nvPr/>
        </p:nvSpPr>
        <p:spPr>
          <a:xfrm>
            <a:off x="7112000" y="49276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partner seat is played from a trainee’s own past runs, so it gets more lifelike as runs accumulate.</a:t>
            </a:r>
          </a:p>
        </p:txBody>
      </p:sp>
      <p:sp>
        <p:nvSpPr>
          <p:cNvPr id="47" name="TextBox 46">
            <a:extLst>
              <a:ext uri="{FF2B5EF4-FFF2-40B4-BE49-F238E27FC236}">
                <a16:creationId xmlns:a16="http://schemas.microsoft.com/office/drawing/2014/main" id="{17FE1EB0-747F-4F75-EED0-290B05EA3053}"/>
              </a:ext>
            </a:extLst>
          </p:cNvPr>
          <p:cNvSpPr txBox="1"/>
          <p:nvPr/>
        </p:nvSpPr>
        <p:spPr>
          <a:xfrm>
            <a:off x="7112000" y="5816600"/>
            <a:ext cx="4470400" cy="431800"/>
          </a:xfrm>
          <a:prstGeom prst="rect">
            <a:avLst/>
          </a:prstGeom>
          <a:noFill/>
        </p:spPr>
        <p:txBody>
          <a:bodyPr vert="horz" wrap="square" lIns="0" tIns="0" rIns="0" bIns="0" rtlCol="0">
            <a:noAutofit/>
          </a:bodyPr>
          <a:lstStyle/>
          <a:p>
            <a:r>
              <a:rPr lang="en-SG" sz="1400">
                <a:solidFill>
                  <a:srgbClr val="FFE4C7"/>
                </a:solidFill>
                <a:latin typeface="Segoe UI" panose="020B0502040204020203" pitchFamily="34" charset="0"/>
              </a:rPr>
              <a:t>Planned, not built: the policy learns which adjustments work.</a:t>
            </a:r>
          </a:p>
        </p:txBody>
      </p:sp>
      <p:sp>
        <p:nvSpPr>
          <p:cNvPr id="48" name="TextBox 47">
            <a:extLst>
              <a:ext uri="{FF2B5EF4-FFF2-40B4-BE49-F238E27FC236}">
                <a16:creationId xmlns:a16="http://schemas.microsoft.com/office/drawing/2014/main" id="{E8450761-09D3-1F7B-7B20-35846D85DA8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SEEDED HISTORY FOR ONE SYNTHETIC TRAINEE</a:t>
            </a:r>
          </a:p>
        </p:txBody>
      </p:sp>
      <p:sp>
        <p:nvSpPr>
          <p:cNvPr id="49" name="TextBox 48">
            <a:extLst>
              <a:ext uri="{FF2B5EF4-FFF2-40B4-BE49-F238E27FC236}">
                <a16:creationId xmlns:a16="http://schemas.microsoft.com/office/drawing/2014/main" id="{1A0AB580-5A4B-F239-FF09-2D7187000FC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3243083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98F8-1895-9D16-1BBD-7D357ABFDE8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F256FBD9-0B68-FE66-54CF-FCA42A82357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08461669-AD0E-89E3-FB30-1E75CFAA5353}"/>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8849FE18-E563-AF1D-0014-392B2A159D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6BCB5948-980C-1518-CC94-85168220A363}"/>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09660EE1-C5B4-D870-4FA6-B8F49798A29A}"/>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418C6ABA-9071-6B84-A644-786F327BE454}"/>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0DC6BA19-7E15-2890-E33D-80D19B0F939E}"/>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808C26E1-E5BB-5CFF-E827-73EF0D3CF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B7142C5C-1F2D-92D5-19EA-53BF4B3938E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TRAINEES</a:t>
            </a:r>
          </a:p>
        </p:txBody>
      </p:sp>
      <p:sp>
        <p:nvSpPr>
          <p:cNvPr id="13" name="TextBox 12">
            <a:extLst>
              <a:ext uri="{FF2B5EF4-FFF2-40B4-BE49-F238E27FC236}">
                <a16:creationId xmlns:a16="http://schemas.microsoft.com/office/drawing/2014/main" id="{777B472A-E42D-1887-2BC4-7867F7A72A2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231428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7C56-1C5F-9D54-02D9-21690CBB670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D012E924-8CD8-02D6-CD42-D172204E0034}"/>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1F70B05B-D135-1BFB-F52A-8299FCE36C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E1365570-DCE4-EAD7-4FEA-202D70347701}"/>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54C1526E-B753-B79C-AA21-9B88F269E16F}"/>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5C9C758C-14F3-F6DF-30F4-58CB6DA51A0E}"/>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B7FF7C8F-A736-5B03-3854-56D0270375EC}"/>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25CD6E48-DA85-02EE-B5C0-E4711373DED7}"/>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848F2634-1637-E998-CCE1-9A713D0B3A0D}"/>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78CB1E2D-4C08-2F55-BCFC-801A6D6E23C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STRAIT TRANSIT SCENARIO</a:t>
            </a:r>
          </a:p>
        </p:txBody>
      </p:sp>
      <p:sp>
        <p:nvSpPr>
          <p:cNvPr id="13" name="TextBox 12">
            <a:extLst>
              <a:ext uri="{FF2B5EF4-FFF2-40B4-BE49-F238E27FC236}">
                <a16:creationId xmlns:a16="http://schemas.microsoft.com/office/drawing/2014/main" id="{4BF266BD-5F6B-51C9-DE57-F7006A0F3DD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1751531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4D029-1B33-4F02-5E31-43A0FA717E2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9C312DCB-F0C8-AA9D-8A21-296DF95C52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pic>
        <p:nvPicPr>
          <p:cNvPr id="5" name="Picture 4" descr="The reasoning panel during a run: a live raise of the ignored-warning weight from 2.2 to 2.5, with the evidence events and the reason">
            <a:extLst>
              <a:ext uri="{FF2B5EF4-FFF2-40B4-BE49-F238E27FC236}">
                <a16:creationId xmlns:a16="http://schemas.microsoft.com/office/drawing/2014/main" id="{7778A783-4CBB-E0FE-6E9D-63012E2B5A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6" name="TextBox 5">
            <a:extLst>
              <a:ext uri="{FF2B5EF4-FFF2-40B4-BE49-F238E27FC236}">
                <a16:creationId xmlns:a16="http://schemas.microsoft.com/office/drawing/2014/main" id="{7FE3615A-E22B-2C87-10CE-0FE35CF09D5E}"/>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7" name="Rectangle: Rounded Corners 6">
            <a:extLst>
              <a:ext uri="{FF2B5EF4-FFF2-40B4-BE49-F238E27FC236}">
                <a16:creationId xmlns:a16="http://schemas.microsoft.com/office/drawing/2014/main" id="{07B8684D-5D33-4A39-6FCE-15CBFB2491AD}"/>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61BFF4E6-0DED-60EF-2836-628395C54223}"/>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9" name="TextBox 8">
            <a:extLst>
              <a:ext uri="{FF2B5EF4-FFF2-40B4-BE49-F238E27FC236}">
                <a16:creationId xmlns:a16="http://schemas.microsoft.com/office/drawing/2014/main" id="{C25ADEAD-F761-3A22-BA02-7B7CBCADFF84}"/>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0" name="Rectangle: Rounded Corners 9">
            <a:extLst>
              <a:ext uri="{FF2B5EF4-FFF2-40B4-BE49-F238E27FC236}">
                <a16:creationId xmlns:a16="http://schemas.microsoft.com/office/drawing/2014/main" id="{3A7EBDA7-847D-3452-6719-FFB79B6936E5}"/>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5779B930-BC77-B7F4-F450-C8A67AF5CE0E}"/>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2" name="TextBox 11">
            <a:extLst>
              <a:ext uri="{FF2B5EF4-FFF2-40B4-BE49-F238E27FC236}">
                <a16:creationId xmlns:a16="http://schemas.microsoft.com/office/drawing/2014/main" id="{7DD282FA-603A-970C-78AD-19E0A2E35B9A}"/>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3" name="Rectangle: Rounded Corners 12">
            <a:extLst>
              <a:ext uri="{FF2B5EF4-FFF2-40B4-BE49-F238E27FC236}">
                <a16:creationId xmlns:a16="http://schemas.microsoft.com/office/drawing/2014/main" id="{C991A52F-A871-3DE7-D9D5-DE0E7F594605}"/>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4B50AB42-985F-2B6A-B178-6278AEF1D3A7}"/>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5" name="TextBox 14">
            <a:extLst>
              <a:ext uri="{FF2B5EF4-FFF2-40B4-BE49-F238E27FC236}">
                <a16:creationId xmlns:a16="http://schemas.microsoft.com/office/drawing/2014/main" id="{CEEC0E27-490C-49D1-E5B7-7B275F3CE36E}"/>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6" name="TextBox 15">
            <a:extLst>
              <a:ext uri="{FF2B5EF4-FFF2-40B4-BE49-F238E27FC236}">
                <a16:creationId xmlns:a16="http://schemas.microsoft.com/office/drawing/2014/main" id="{C7373ADC-C49C-2D7C-9EBD-B1B751C280F8}"/>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7" name="TextBox 16">
            <a:extLst>
              <a:ext uri="{FF2B5EF4-FFF2-40B4-BE49-F238E27FC236}">
                <a16:creationId xmlns:a16="http://schemas.microsoft.com/office/drawing/2014/main" id="{A297E306-F1DE-88E3-E6CD-7335770532A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System.__ComObject  REASONING TAB</a:t>
            </a:r>
          </a:p>
        </p:txBody>
      </p:sp>
      <p:sp>
        <p:nvSpPr>
          <p:cNvPr id="18" name="TextBox 17">
            <a:extLst>
              <a:ext uri="{FF2B5EF4-FFF2-40B4-BE49-F238E27FC236}">
                <a16:creationId xmlns:a16="http://schemas.microsoft.com/office/drawing/2014/main" id="{0E2ED371-252D-6ACF-215F-8578D2E2EB2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176957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F1268-9E38-4ABE-47C9-30934CB3BF3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D9709D35-28A2-2281-C2D1-74E7648E7643}"/>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Rectangle: Rounded Corners 3">
            <a:extLst>
              <a:ext uri="{FF2B5EF4-FFF2-40B4-BE49-F238E27FC236}">
                <a16:creationId xmlns:a16="http://schemas.microsoft.com/office/drawing/2014/main" id="{5A6F84BF-0767-13A8-D9CB-8EDA7E7ABE2F}"/>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9D3BA95C-67A5-52B3-3725-22D260A6DDD2}"/>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6" name="TextBox 5">
            <a:extLst>
              <a:ext uri="{FF2B5EF4-FFF2-40B4-BE49-F238E27FC236}">
                <a16:creationId xmlns:a16="http://schemas.microsoft.com/office/drawing/2014/main" id="{4C51ADC5-85C7-295D-A7A1-6EB11CC14D41}"/>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F4939EAC-C245-791F-81F5-CCC86E845ED9}"/>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B30921F5-420A-3707-FEC5-D69ECD7E40ED}"/>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862B4105-D901-3AA4-0178-FE1B150AB5CB}"/>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0" name="TextBox 9">
            <a:extLst>
              <a:ext uri="{FF2B5EF4-FFF2-40B4-BE49-F238E27FC236}">
                <a16:creationId xmlns:a16="http://schemas.microsoft.com/office/drawing/2014/main" id="{BF2B206E-7698-FC9B-0ADE-AC17F9F7E369}"/>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30CB503A-74F2-1396-3C44-4993BB0276FF}"/>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09AE70B6-A9E6-8E65-79C0-FA06E49B9AF4}"/>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DC40C7C7-81CE-3512-09CC-926654029FB7}"/>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896B7D02-F792-AA61-FD4E-6FEBEC4334F9}"/>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F89696DC-7965-95B9-BE84-80E695A8ED58}"/>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EFB37778-912B-C893-0D3C-EB1A9698BABF}"/>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D1BAF96F-8B30-D492-ED98-9AE4C5A59DB9}"/>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C43FCB7-9097-E4D4-068E-E50051C552E6}"/>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F8F7BF26-86EA-8D0F-3106-B2719D9BA73A}"/>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3428F454-8A42-F1D2-93BF-2A5DE308C64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015DFC92-3314-97E1-FCFD-2A2B9B84FD8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2873683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F805E-4868-FD0E-8647-513DEBF9CA6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CC60F6FA-798B-C6DF-E445-DC636C63BD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A84AF083-33F5-0981-1851-3FF46979B525}"/>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E53CAF21-01D9-B55E-C8BF-D7E609D2A9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BFDC47B2-FD92-7236-4C2A-33FC07A776F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A47BE060-8E03-E046-56F7-5B1EEA91283E}"/>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C104EAE4-673A-7011-BA15-09F1C497CA26}"/>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53593FCA-5C41-8147-E514-EA4FDD1C66B0}"/>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258E8CB9-AD73-1415-F9F8-D1A747E3DD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51755F2F-EA50-941C-2415-617C4870E8B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SEEDED SESSION</a:t>
            </a:r>
          </a:p>
        </p:txBody>
      </p:sp>
      <p:sp>
        <p:nvSpPr>
          <p:cNvPr id="13" name="TextBox 12">
            <a:extLst>
              <a:ext uri="{FF2B5EF4-FFF2-40B4-BE49-F238E27FC236}">
                <a16:creationId xmlns:a16="http://schemas.microsoft.com/office/drawing/2014/main" id="{15C5E464-4C61-C78F-E237-3AB63486A93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840997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898FB-35BE-53BA-6C52-14C37FD29B54}"/>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9F2E77DA-E526-926A-9A75-D08D58BD310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pic>
        <p:nvPicPr>
          <p:cNvPr id="5" name="Picture 4" descr="The cohort overview: competency means across 22 trainees and a heatmap by trainee">
            <a:extLst>
              <a:ext uri="{FF2B5EF4-FFF2-40B4-BE49-F238E27FC236}">
                <a16:creationId xmlns:a16="http://schemas.microsoft.com/office/drawing/2014/main" id="{21AA4877-39D1-4992-AC17-C3449DCB0B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7F89BCA9-0B3A-6382-6004-33BE4DF71DEC}"/>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A786C913-E0C8-1680-0E04-5C9E758617A7}"/>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AE97137D-1E35-3789-4977-3D71597CBAA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A00E315B-46B5-7B75-6C97-3564691478E3}"/>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4A558B4C-12BE-86CD-FCC3-8C19910DE2E2}"/>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E4FD31E2-6E5D-22BA-B998-10C0F53D56D9}"/>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ADD2068D-1C95-EC24-FD30-269643ABE7F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COHORT</a:t>
            </a:r>
          </a:p>
        </p:txBody>
      </p:sp>
      <p:sp>
        <p:nvSpPr>
          <p:cNvPr id="13" name="TextBox 12">
            <a:extLst>
              <a:ext uri="{FF2B5EF4-FFF2-40B4-BE49-F238E27FC236}">
                <a16:creationId xmlns:a16="http://schemas.microsoft.com/office/drawing/2014/main" id="{B58D183F-0851-CB1A-B54F-134B1592FC1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2526475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4025F-FB71-8A03-F75F-38270ED8975E}"/>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DD3E5D56-EF94-D26C-8BC9-6EE8D9D34EC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AI IN THE SOLUTION</a:t>
            </a:r>
          </a:p>
        </p:txBody>
      </p:sp>
      <p:sp>
        <p:nvSpPr>
          <p:cNvPr id="4" name="Rectangle: Rounded Corners 3">
            <a:extLst>
              <a:ext uri="{FF2B5EF4-FFF2-40B4-BE49-F238E27FC236}">
                <a16:creationId xmlns:a16="http://schemas.microsoft.com/office/drawing/2014/main" id="{12632203-3BCC-524D-875D-C345E69CF97D}"/>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742C7C85-D9F5-50A0-9526-AFCFA2FECE50}"/>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6" name="TextBox 5">
            <a:extLst>
              <a:ext uri="{FF2B5EF4-FFF2-40B4-BE49-F238E27FC236}">
                <a16:creationId xmlns:a16="http://schemas.microsoft.com/office/drawing/2014/main" id="{A9D97B80-DCFE-8B7B-7DF9-27D692DB96B5}"/>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7" name="TextBox 6">
            <a:extLst>
              <a:ext uri="{FF2B5EF4-FFF2-40B4-BE49-F238E27FC236}">
                <a16:creationId xmlns:a16="http://schemas.microsoft.com/office/drawing/2014/main" id="{0ED7783B-68CE-60CD-8E45-1613509375C1}"/>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8" name="Rectangle: Rounded Corners 7">
            <a:extLst>
              <a:ext uri="{FF2B5EF4-FFF2-40B4-BE49-F238E27FC236}">
                <a16:creationId xmlns:a16="http://schemas.microsoft.com/office/drawing/2014/main" id="{A7D9E2E5-FF8C-6DDD-A30A-B001694E26ED}"/>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E669E7C7-C70A-F43C-0563-84836800F1DB}"/>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0" name="TextBox 9">
            <a:extLst>
              <a:ext uri="{FF2B5EF4-FFF2-40B4-BE49-F238E27FC236}">
                <a16:creationId xmlns:a16="http://schemas.microsoft.com/office/drawing/2014/main" id="{F3102CFE-00C6-63A5-5879-E562C0270264}"/>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1" name="TextBox 10">
            <a:extLst>
              <a:ext uri="{FF2B5EF4-FFF2-40B4-BE49-F238E27FC236}">
                <a16:creationId xmlns:a16="http://schemas.microsoft.com/office/drawing/2014/main" id="{3385DC80-F2A2-E57B-D194-74EE722D66C4}"/>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2" name="Rectangle: Rounded Corners 11">
            <a:extLst>
              <a:ext uri="{FF2B5EF4-FFF2-40B4-BE49-F238E27FC236}">
                <a16:creationId xmlns:a16="http://schemas.microsoft.com/office/drawing/2014/main" id="{9E5AB4D7-9DB9-422E-DAC6-E16A767DD2AC}"/>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18BEA04C-7B89-7787-D383-804374B83C7E}"/>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3BC75132-5DC2-93A9-2A72-620919E3972B}"/>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5" name="TextBox 14">
            <a:extLst>
              <a:ext uri="{FF2B5EF4-FFF2-40B4-BE49-F238E27FC236}">
                <a16:creationId xmlns:a16="http://schemas.microsoft.com/office/drawing/2014/main" id="{4B44B11A-F92B-43F7-CE7A-11A53B7631F1}"/>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6" name="Rectangle: Rounded Corners 15">
            <a:extLst>
              <a:ext uri="{FF2B5EF4-FFF2-40B4-BE49-F238E27FC236}">
                <a16:creationId xmlns:a16="http://schemas.microsoft.com/office/drawing/2014/main" id="{543B3EE3-106A-3594-90DA-9B273A8B509C}"/>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08FDA2E6-D2E3-D827-B6A5-E838F917F8A6}"/>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B56A53D-200E-0CEB-D770-DB0652CF4766}"/>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19" name="TextBox 18">
            <a:extLst>
              <a:ext uri="{FF2B5EF4-FFF2-40B4-BE49-F238E27FC236}">
                <a16:creationId xmlns:a16="http://schemas.microsoft.com/office/drawing/2014/main" id="{BF759F18-F38F-34A2-BE12-369F803B6B3E}"/>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0" name="TextBox 19">
            <a:extLst>
              <a:ext uri="{FF2B5EF4-FFF2-40B4-BE49-F238E27FC236}">
                <a16:creationId xmlns:a16="http://schemas.microsoft.com/office/drawing/2014/main" id="{8EF86706-2B1D-09D2-07B3-86B53D3566AA}"/>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1" name="TextBox 20">
            <a:extLst>
              <a:ext uri="{FF2B5EF4-FFF2-40B4-BE49-F238E27FC236}">
                <a16:creationId xmlns:a16="http://schemas.microsoft.com/office/drawing/2014/main" id="{317973AF-E3BD-815E-491B-52FB9C2B524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E37100EA-BA22-07A3-E88A-D97D666D9D4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166239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EC935-A5A3-62B5-7AE9-653548171E5F}"/>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5D9A3F9E-9BE1-9B46-BAAA-00E8CF77B06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graphicFrame>
        <p:nvGraphicFramePr>
          <p:cNvPr id="4" name="Comparison table" descr="Comparison of a typical training simulator with this trainer">
            <a:extLst>
              <a:ext uri="{FF2B5EF4-FFF2-40B4-BE49-F238E27FC236}">
                <a16:creationId xmlns:a16="http://schemas.microsoft.com/office/drawing/2014/main" id="{8A4810AD-6BB9-3478-E5CC-C70DE3A3AFF1}"/>
              </a:ext>
            </a:extLst>
          </p:cNvPr>
          <p:cNvGraphicFramePr>
            <a:graphicFrameLocks noGrp="1"/>
          </p:cNvGraphicFramePr>
          <p:nvPr>
            <p:extLst>
              <p:ext uri="{D42A27DB-BD31-4B8C-83A1-F6EECF244321}">
                <p14:modId xmlns:p14="http://schemas.microsoft.com/office/powerpoint/2010/main" val="2690491014"/>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1217459381"/>
                    </a:ext>
                  </a:extLst>
                </a:gridCol>
                <a:gridCol w="3810000">
                  <a:extLst>
                    <a:ext uri="{9D8B030D-6E8A-4147-A177-3AD203B41FA5}">
                      <a16:colId xmlns:a16="http://schemas.microsoft.com/office/drawing/2014/main" val="17294429"/>
                    </a:ext>
                  </a:extLst>
                </a:gridCol>
                <a:gridCol w="4876800">
                  <a:extLst>
                    <a:ext uri="{9D8B030D-6E8A-4147-A177-3AD203B41FA5}">
                      <a16:colId xmlns:a16="http://schemas.microsoft.com/office/drawing/2014/main" val="1331989039"/>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2385532133"/>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1531822430"/>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3725080990"/>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040938841"/>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3745406694"/>
                  </a:ext>
                </a:extLst>
              </a:tr>
            </a:tbl>
          </a:graphicData>
        </a:graphic>
      </p:graphicFrame>
      <p:sp>
        <p:nvSpPr>
          <p:cNvPr id="5" name="TextBox 4">
            <a:extLst>
              <a:ext uri="{FF2B5EF4-FFF2-40B4-BE49-F238E27FC236}">
                <a16:creationId xmlns:a16="http://schemas.microsoft.com/office/drawing/2014/main" id="{A4392967-6890-B9F0-EE02-292B149FA1D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System.__ComObject  NOT A SURVEY OF PRODUCTS</a:t>
            </a:r>
          </a:p>
        </p:txBody>
      </p:sp>
      <p:sp>
        <p:nvSpPr>
          <p:cNvPr id="6" name="TextBox 5">
            <a:extLst>
              <a:ext uri="{FF2B5EF4-FFF2-40B4-BE49-F238E27FC236}">
                <a16:creationId xmlns:a16="http://schemas.microsoft.com/office/drawing/2014/main" id="{75B7FF77-EC12-0A37-318F-509A964A525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2317900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F24BEE-CD6C-9401-8A7C-E99411EA933B}"/>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What works today, and what is left</a:t>
            </a:r>
          </a:p>
        </p:txBody>
      </p:sp>
      <p:sp>
        <p:nvSpPr>
          <p:cNvPr id="3" name="TextBox 2">
            <a:extLst>
              <a:ext uri="{FF2B5EF4-FFF2-40B4-BE49-F238E27FC236}">
                <a16:creationId xmlns:a16="http://schemas.microsoft.com/office/drawing/2014/main" id="{7718DB97-08ED-C2BA-7971-3523855B6E2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WHAT IS LEFT</a:t>
            </a:r>
          </a:p>
        </p:txBody>
      </p:sp>
      <p:sp>
        <p:nvSpPr>
          <p:cNvPr id="4" name="Rectangle: Rounded Corners 3">
            <a:extLst>
              <a:ext uri="{FF2B5EF4-FFF2-40B4-BE49-F238E27FC236}">
                <a16:creationId xmlns:a16="http://schemas.microsoft.com/office/drawing/2014/main" id="{4C9E395E-34AB-690F-046F-8A8668F3F75C}"/>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351C1E4-7A47-81CD-A88B-95E9AF352791}"/>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6" name="TextBox 5">
            <a:extLst>
              <a:ext uri="{FF2B5EF4-FFF2-40B4-BE49-F238E27FC236}">
                <a16:creationId xmlns:a16="http://schemas.microsoft.com/office/drawing/2014/main" id="{CAA22932-07FD-BFC1-E319-EF2C84AC13EB}"/>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7" name="Rectangle: Rounded Corners 6">
            <a:extLst>
              <a:ext uri="{FF2B5EF4-FFF2-40B4-BE49-F238E27FC236}">
                <a16:creationId xmlns:a16="http://schemas.microsoft.com/office/drawing/2014/main" id="{A7806272-49AC-C902-53E1-18EFD73AD76A}"/>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847E8FB-8E4E-F856-764A-31ADC6729CFF}"/>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System.__ComObject  NOT BUILT</a:t>
            </a:r>
          </a:p>
        </p:txBody>
      </p:sp>
      <p:sp>
        <p:nvSpPr>
          <p:cNvPr id="9" name="TextBox 8">
            <a:extLst>
              <a:ext uri="{FF2B5EF4-FFF2-40B4-BE49-F238E27FC236}">
                <a16:creationId xmlns:a16="http://schemas.microsoft.com/office/drawing/2014/main" id="{B945FD4A-FA30-0508-E04F-CD194E051617}"/>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0" name="TextBox 9">
            <a:extLst>
              <a:ext uri="{FF2B5EF4-FFF2-40B4-BE49-F238E27FC236}">
                <a16:creationId xmlns:a16="http://schemas.microsoft.com/office/drawing/2014/main" id="{AC5B55F3-5A37-E6E1-2803-67275739574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1" name="TextBox 10">
            <a:extLst>
              <a:ext uri="{FF2B5EF4-FFF2-40B4-BE49-F238E27FC236}">
                <a16:creationId xmlns:a16="http://schemas.microsoft.com/office/drawing/2014/main" id="{D92EE9BE-2A52-C45C-215B-6E11844C49A5}"/>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790897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731E-6783-78C8-A5A6-E33451E4A2E8}"/>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fewer sessions to proficiency could be worth</a:t>
            </a:r>
          </a:p>
        </p:txBody>
      </p:sp>
      <p:sp>
        <p:nvSpPr>
          <p:cNvPr id="3" name="TextBox 2">
            <a:extLst>
              <a:ext uri="{FF2B5EF4-FFF2-40B4-BE49-F238E27FC236}">
                <a16:creationId xmlns:a16="http://schemas.microsoft.com/office/drawing/2014/main" id="{2F7B9AA9-09FB-58E0-6BBD-B24376D9A6C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SAVINGS</a:t>
            </a:r>
          </a:p>
        </p:txBody>
      </p:sp>
      <p:sp>
        <p:nvSpPr>
          <p:cNvPr id="4" name="Rectangle: Rounded Corners 3">
            <a:extLst>
              <a:ext uri="{FF2B5EF4-FFF2-40B4-BE49-F238E27FC236}">
                <a16:creationId xmlns:a16="http://schemas.microsoft.com/office/drawing/2014/main" id="{51ED15F7-AD95-B2AF-9494-3521547552C1}"/>
              </a:ext>
            </a:extLst>
          </p:cNvPr>
          <p:cNvSpPr/>
          <p:nvPr/>
        </p:nvSpPr>
        <p:spPr>
          <a:xfrm>
            <a:off x="609600" y="1651000"/>
            <a:ext cx="4572000" cy="4368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DC503405-61BB-CA2F-C283-C10CE634D7C1}"/>
              </a:ext>
            </a:extLst>
          </p:cNvPr>
          <p:cNvSpPr txBox="1"/>
          <p:nvPr/>
        </p:nvSpPr>
        <p:spPr>
          <a:xfrm>
            <a:off x="838200" y="1828800"/>
            <a:ext cx="41910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PLACEHOLDERS · REPLACE WITH DIVISION FIGURES</a:t>
            </a:r>
          </a:p>
        </p:txBody>
      </p:sp>
      <p:sp>
        <p:nvSpPr>
          <p:cNvPr id="6" name="TextBox 5">
            <a:extLst>
              <a:ext uri="{FF2B5EF4-FFF2-40B4-BE49-F238E27FC236}">
                <a16:creationId xmlns:a16="http://schemas.microsoft.com/office/drawing/2014/main" id="{54519246-569D-E09C-C47C-02FAB1EB900A}"/>
              </a:ext>
            </a:extLst>
          </p:cNvPr>
          <p:cNvSpPr txBox="1"/>
          <p:nvPr/>
        </p:nvSpPr>
        <p:spPr>
          <a:xfrm>
            <a:off x="838200" y="2133600"/>
            <a:ext cx="4140200" cy="1905000"/>
          </a:xfrm>
          <a:prstGeom prst="rect">
            <a:avLst/>
          </a:prstGeom>
          <a:noFill/>
        </p:spPr>
        <p:txBody>
          <a:bodyPr vert="horz" wrap="square" lIns="0" tIns="0" rIns="0" bIns="0" rtlCol="0">
            <a:noAutofit/>
          </a:bodyPr>
          <a:lstStyle/>
          <a:p>
            <a:pPr>
              <a:spcAft>
                <a:spcPts val="300"/>
              </a:spcAft>
            </a:pPr>
            <a:r>
              <a:rPr lang="en-SG" sz="1400">
                <a:solidFill>
                  <a:srgbClr val="E1EAF4"/>
                </a:solidFill>
                <a:latin typeface="Consolas" panose="020B0609020204030204" pitchFamily="49" charset="0"/>
              </a:rPr>
              <a:t>N  200 trainees a year</a:t>
            </a:r>
          </a:p>
          <a:p>
            <a:pPr>
              <a:spcAft>
                <a:spcPts val="300"/>
              </a:spcAft>
            </a:pPr>
            <a:r>
              <a:rPr lang="en-SG" sz="1400">
                <a:solidFill>
                  <a:srgbClr val="E1EAF4"/>
                </a:solidFill>
                <a:latin typeface="Consolas" panose="020B0609020204030204" pitchFamily="49" charset="0"/>
              </a:rPr>
              <a:t>S0  30 sessions to proficiency</a:t>
            </a:r>
          </a:p>
          <a:p>
            <a:pPr>
              <a:spcAft>
                <a:spcPts val="300"/>
              </a:spcAft>
            </a:pPr>
            <a:r>
              <a:rPr lang="en-SG" sz="1400">
                <a:solidFill>
                  <a:srgbClr val="E1EAF4"/>
                </a:solidFill>
                <a:latin typeface="Consolas" panose="020B0609020204030204" pitchFamily="49" charset="0"/>
              </a:rPr>
              <a:t>C_session  S$1,500 per session</a:t>
            </a:r>
          </a:p>
          <a:p>
            <a:pPr>
              <a:spcAft>
                <a:spcPts val="300"/>
              </a:spcAft>
            </a:pPr>
            <a:r>
              <a:rPr lang="en-SG" sz="1400">
                <a:solidFill>
                  <a:srgbClr val="E1EAF4"/>
                </a:solidFill>
                <a:latin typeface="Consolas" panose="020B0609020204030204" pitchFamily="49" charset="0"/>
              </a:rPr>
              <a:t>h  2 instructor hours per session</a:t>
            </a:r>
          </a:p>
          <a:p>
            <a:pPr>
              <a:spcAft>
                <a:spcPts val="300"/>
              </a:spcAft>
            </a:pPr>
            <a:r>
              <a:rPr lang="en-SG" sz="1400">
                <a:solidFill>
                  <a:srgbClr val="E1EAF4"/>
                </a:solidFill>
                <a:latin typeface="Consolas" panose="020B0609020204030204" pitchFamily="49" charset="0"/>
              </a:rPr>
              <a:t>C_instr  S$250 per hour</a:t>
            </a:r>
          </a:p>
          <a:p>
            <a:pPr>
              <a:spcAft>
                <a:spcPts val="300"/>
              </a:spcAft>
            </a:pPr>
            <a:r>
              <a:rPr lang="en-SG" sz="1400">
                <a:solidFill>
                  <a:srgbClr val="E1EAF4"/>
                </a:solidFill>
                <a:latin typeface="Consolas" panose="020B0609020204030204" pitchFamily="49" charset="0"/>
              </a:rPr>
              <a:t>r  5 / 10 / 15%  (ASSUMED, never measured)</a:t>
            </a:r>
          </a:p>
        </p:txBody>
      </p:sp>
      <p:sp>
        <p:nvSpPr>
          <p:cNvPr id="7" name="TextBox 6">
            <a:extLst>
              <a:ext uri="{FF2B5EF4-FFF2-40B4-BE49-F238E27FC236}">
                <a16:creationId xmlns:a16="http://schemas.microsoft.com/office/drawing/2014/main" id="{28D0BDDE-15F8-C6C1-9169-EFCAFEE56026}"/>
              </a:ext>
            </a:extLst>
          </p:cNvPr>
          <p:cNvSpPr txBox="1"/>
          <p:nvPr/>
        </p:nvSpPr>
        <p:spPr>
          <a:xfrm>
            <a:off x="838200" y="4140200"/>
            <a:ext cx="4140200" cy="17780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Value of an avoided session</a:t>
            </a:r>
          </a:p>
          <a:p>
            <a:r>
              <a:rPr lang="en-SG" sz="1400">
                <a:solidFill>
                  <a:srgbClr val="93ABC6"/>
                </a:solidFill>
                <a:latin typeface="Segoe UI" panose="020B0502040204020203" pitchFamily="34" charset="0"/>
              </a:rPr>
              <a:t>= 1,500 + 2 × 250 = S$2,000 (mid)</a:t>
            </a:r>
          </a:p>
          <a:p>
            <a:endParaRPr lang="en-SG" sz="1400">
              <a:solidFill>
                <a:srgbClr val="93ABC6"/>
              </a:solidFill>
              <a:latin typeface="Segoe UI" panose="020B0502040204020203" pitchFamily="34" charset="0"/>
            </a:endParaRPr>
          </a:p>
          <a:p>
            <a:r>
              <a:rPr lang="en-SG" sz="1400">
                <a:solidFill>
                  <a:srgbClr val="93ABC6"/>
                </a:solidFill>
                <a:latin typeface="Segoe UI" panose="020B0502040204020203" pitchFamily="34" charset="0"/>
              </a:rPr>
              <a:t>Annual saving = N × S0 × r × value</a:t>
            </a:r>
          </a:p>
          <a:p>
            <a:r>
              <a:rPr lang="en-SG" sz="1400">
                <a:solidFill>
                  <a:srgbClr val="93ABC6"/>
                </a:solidFill>
                <a:latin typeface="Segoe UI" panose="020B0502040204020203" pitchFamily="34" charset="0"/>
              </a:rPr>
              <a:t>At r = 10%: 200 × 30 × 0.10 = 600 sessions avoided</a:t>
            </a:r>
          </a:p>
          <a:p>
            <a:r>
              <a:rPr lang="en-SG" sz="1400">
                <a:solidFill>
                  <a:srgbClr val="93ABC6"/>
                </a:solidFill>
                <a:latin typeface="Segoe UI" panose="020B0502040204020203" pitchFamily="34" charset="0"/>
              </a:rPr>
              <a:t>= 1,200 instructor hours; time to proficiency 30 → 27 sessions</a:t>
            </a:r>
          </a:p>
        </p:txBody>
      </p:sp>
      <p:graphicFrame>
        <p:nvGraphicFramePr>
          <p:cNvPr id="8" name="Savings sensitivity table" descr="Illustrative annual saving in Singapore dollars for three avoided-session shares and three session values">
            <a:extLst>
              <a:ext uri="{FF2B5EF4-FFF2-40B4-BE49-F238E27FC236}">
                <a16:creationId xmlns:a16="http://schemas.microsoft.com/office/drawing/2014/main" id="{FF961EC2-9D56-F4D1-D9FD-1F4B0BC12344}"/>
              </a:ext>
            </a:extLst>
          </p:cNvPr>
          <p:cNvGraphicFramePr>
            <a:graphicFrameLocks noGrp="1"/>
          </p:cNvGraphicFramePr>
          <p:nvPr>
            <p:extLst>
              <p:ext uri="{D42A27DB-BD31-4B8C-83A1-F6EECF244321}">
                <p14:modId xmlns:p14="http://schemas.microsoft.com/office/powerpoint/2010/main" val="2563394942"/>
              </p:ext>
            </p:extLst>
          </p:nvPr>
        </p:nvGraphicFramePr>
        <p:xfrm>
          <a:off x="5486400" y="1651000"/>
          <a:ext cx="6096000" cy="2667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061742321"/>
                    </a:ext>
                  </a:extLst>
                </a:gridCol>
                <a:gridCol w="1397000">
                  <a:extLst>
                    <a:ext uri="{9D8B030D-6E8A-4147-A177-3AD203B41FA5}">
                      <a16:colId xmlns:a16="http://schemas.microsoft.com/office/drawing/2014/main" val="585036025"/>
                    </a:ext>
                  </a:extLst>
                </a:gridCol>
                <a:gridCol w="1397000">
                  <a:extLst>
                    <a:ext uri="{9D8B030D-6E8A-4147-A177-3AD203B41FA5}">
                      <a16:colId xmlns:a16="http://schemas.microsoft.com/office/drawing/2014/main" val="2301041623"/>
                    </a:ext>
                  </a:extLst>
                </a:gridCol>
                <a:gridCol w="1397000">
                  <a:extLst>
                    <a:ext uri="{9D8B030D-6E8A-4147-A177-3AD203B41FA5}">
                      <a16:colId xmlns:a16="http://schemas.microsoft.com/office/drawing/2014/main" val="2069394996"/>
                    </a:ext>
                  </a:extLst>
                </a:gridCol>
              </a:tblGrid>
              <a:tr h="533400">
                <a:tc>
                  <a:txBody>
                    <a:bodyPr/>
                    <a:lstStyle/>
                    <a:p>
                      <a:r>
                        <a:rPr lang="en-SG" sz="12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426735146"/>
                  </a:ext>
                </a:extLst>
              </a:tr>
              <a:tr h="711200">
                <a:tc>
                  <a:txBody>
                    <a:bodyPr/>
                    <a:lstStyle/>
                    <a:p>
                      <a:r>
                        <a:rPr lang="en-SG" sz="14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1037451220"/>
                  </a:ext>
                </a:extLst>
              </a:tr>
              <a:tr h="711200">
                <a:tc>
                  <a:txBody>
                    <a:bodyPr/>
                    <a:lstStyle/>
                    <a:p>
                      <a:r>
                        <a:rPr lang="en-SG" sz="14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1900" b="1" dirty="0">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3285610279"/>
                  </a:ext>
                </a:extLst>
              </a:tr>
              <a:tr h="711200">
                <a:tc>
                  <a:txBody>
                    <a:bodyPr/>
                    <a:lstStyle/>
                    <a:p>
                      <a:r>
                        <a:rPr lang="en-SG" sz="14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1949463533"/>
                  </a:ext>
                </a:extLst>
              </a:tr>
            </a:tbl>
          </a:graphicData>
        </a:graphic>
      </p:graphicFrame>
      <p:sp>
        <p:nvSpPr>
          <p:cNvPr id="9" name="TextBox 8">
            <a:extLst>
              <a:ext uri="{FF2B5EF4-FFF2-40B4-BE49-F238E27FC236}">
                <a16:creationId xmlns:a16="http://schemas.microsoft.com/office/drawing/2014/main" id="{7E9BB3C0-9F92-30E1-75E8-5998987892EE}"/>
              </a:ext>
            </a:extLst>
          </p:cNvPr>
          <p:cNvSpPr txBox="1"/>
          <p:nvPr/>
        </p:nvSpPr>
        <p:spPr>
          <a:xfrm>
            <a:off x="5486400" y="4775200"/>
            <a:ext cx="6096000" cy="1219200"/>
          </a:xfrm>
          <a:prstGeom prst="rect">
            <a:avLst/>
          </a:prstGeom>
          <a:noFill/>
        </p:spPr>
        <p:txBody>
          <a:bodyPr vert="horz" wrap="square" lIns="0" tIns="0" rIns="0" bIns="0" rtlCol="0">
            <a:noAutofit/>
          </a:bodyPr>
          <a:lstStyle/>
          <a:p>
            <a:r>
              <a:rPr lang="en-SG" sz="2400" b="1" dirty="0">
                <a:solidFill>
                  <a:srgbClr val="EBDFFF"/>
                </a:solidFill>
                <a:latin typeface="Segoe UI" panose="020B0502040204020203" pitchFamily="34" charset="0"/>
              </a:rPr>
              <a:t>savings</a:t>
            </a:r>
          </a:p>
          <a:p>
            <a:pPr algn="ctr"/>
            <a:br>
              <a:rPr lang="en-SG" sz="900" b="1" dirty="0">
                <a:solidFill>
                  <a:srgbClr val="EBDFFF"/>
                </a:solidFill>
                <a:latin typeface="Segoe UI" panose="020B0502040204020203" pitchFamily="34" charset="0"/>
              </a:rPr>
            </a:br>
            <a:r>
              <a:rPr lang="en-SG" sz="4400" b="1" dirty="0">
                <a:solidFill>
                  <a:srgbClr val="92D050"/>
                </a:solidFill>
                <a:latin typeface="Segoe UI" panose="020B0502040204020203" pitchFamily="34" charset="0"/>
              </a:rPr>
              <a:t>S$1.8M / trainer / year</a:t>
            </a:r>
          </a:p>
        </p:txBody>
      </p:sp>
      <p:sp>
        <p:nvSpPr>
          <p:cNvPr id="10" name="TextBox 9">
            <a:extLst>
              <a:ext uri="{FF2B5EF4-FFF2-40B4-BE49-F238E27FC236}">
                <a16:creationId xmlns:a16="http://schemas.microsoft.com/office/drawing/2014/main" id="{F9F16DCA-C9CB-0015-8292-40BA097AABA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  r IS A HYPOTHESIS, NOT A RESULT</a:t>
            </a:r>
          </a:p>
        </p:txBody>
      </p:sp>
      <p:sp>
        <p:nvSpPr>
          <p:cNvPr id="11" name="TextBox 10">
            <a:extLst>
              <a:ext uri="{FF2B5EF4-FFF2-40B4-BE49-F238E27FC236}">
                <a16:creationId xmlns:a16="http://schemas.microsoft.com/office/drawing/2014/main" id="{BA6E348B-4BDF-7728-23A5-9AF978676AA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102170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6CB4E-632E-F63A-FB90-457A39C65963}"/>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it took to build, and the payback</a:t>
            </a:r>
          </a:p>
        </p:txBody>
      </p:sp>
      <p:sp>
        <p:nvSpPr>
          <p:cNvPr id="3" name="TextBox 2">
            <a:extLst>
              <a:ext uri="{FF2B5EF4-FFF2-40B4-BE49-F238E27FC236}">
                <a16:creationId xmlns:a16="http://schemas.microsoft.com/office/drawing/2014/main" id="{C6078563-08DA-985A-E22C-D495D9A5A15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DEVELOPMENT EFFORT</a:t>
            </a:r>
          </a:p>
        </p:txBody>
      </p:sp>
      <p:sp>
        <p:nvSpPr>
          <p:cNvPr id="4" name="Rectangle: Rounded Corners 3">
            <a:extLst>
              <a:ext uri="{FF2B5EF4-FFF2-40B4-BE49-F238E27FC236}">
                <a16:creationId xmlns:a16="http://schemas.microsoft.com/office/drawing/2014/main" id="{79444ADA-814A-ABD5-7F7D-84B488234865}"/>
              </a:ext>
            </a:extLst>
          </p:cNvPr>
          <p:cNvSpPr/>
          <p:nvPr/>
        </p:nvSpPr>
        <p:spPr>
          <a:xfrm>
            <a:off x="609600" y="1651000"/>
            <a:ext cx="5334000" cy="190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E3D5A54-45F4-81B3-7B91-72199BB51B82}"/>
              </a:ext>
            </a:extLst>
          </p:cNvPr>
          <p:cNvSpPr txBox="1"/>
          <p:nvPr/>
        </p:nvSpPr>
        <p:spPr>
          <a:xfrm>
            <a:off x="838200" y="1803400"/>
            <a:ext cx="4876800" cy="228600"/>
          </a:xfrm>
          <a:prstGeom prst="rect">
            <a:avLst/>
          </a:prstGeom>
          <a:noFill/>
        </p:spPr>
        <p:txBody>
          <a:bodyPr vert="horz" wrap="square" lIns="0" tIns="0" rIns="0" bIns="0" rtlCol="0">
            <a:noAutofit/>
          </a:bodyPr>
          <a:lstStyle/>
          <a:p>
            <a:r>
              <a:rPr lang="en-SG" sz="1100">
                <a:solidFill>
                  <a:srgbClr val="93ABC6"/>
                </a:solidFill>
                <a:latin typeface="Consolas" panose="020B0609020204030204" pitchFamily="49" charset="0"/>
              </a:rPr>
              <a:t>MEASURED FROM GIT HISTORY</a:t>
            </a:r>
          </a:p>
        </p:txBody>
      </p:sp>
      <p:sp>
        <p:nvSpPr>
          <p:cNvPr id="6" name="TextBox 5">
            <a:extLst>
              <a:ext uri="{FF2B5EF4-FFF2-40B4-BE49-F238E27FC236}">
                <a16:creationId xmlns:a16="http://schemas.microsoft.com/office/drawing/2014/main" id="{C533569E-1BB9-A47F-EBF5-0933562E35C8}"/>
              </a:ext>
            </a:extLst>
          </p:cNvPr>
          <p:cNvSpPr txBox="1"/>
          <p:nvPr/>
        </p:nvSpPr>
        <p:spPr>
          <a:xfrm>
            <a:off x="838200" y="2057400"/>
            <a:ext cx="4876800" cy="3556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2.1 to 4 person-days</a:t>
            </a:r>
          </a:p>
        </p:txBody>
      </p:sp>
      <p:sp>
        <p:nvSpPr>
          <p:cNvPr id="7" name="TextBox 6">
            <a:extLst>
              <a:ext uri="{FF2B5EF4-FFF2-40B4-BE49-F238E27FC236}">
                <a16:creationId xmlns:a16="http://schemas.microsoft.com/office/drawing/2014/main" id="{D9BB03F0-EF01-CBC6-C823-5987190091CB}"/>
              </a:ext>
            </a:extLst>
          </p:cNvPr>
          <p:cNvSpPr txBox="1"/>
          <p:nvPr/>
        </p:nvSpPr>
        <p:spPr>
          <a:xfrm>
            <a:off x="838200" y="2489200"/>
            <a:ext cx="4876800" cy="1016000"/>
          </a:xfrm>
          <a:prstGeom prst="rect">
            <a:avLst/>
          </a:prstGeom>
          <a:noFill/>
        </p:spPr>
        <p:txBody>
          <a:bodyPr vert="horz" wrap="square" lIns="0" tIns="0" rIns="0" bIns="0" rtlCol="0">
            <a:noAutofit/>
          </a:bodyPr>
          <a:lstStyle/>
          <a:p>
            <a:r>
              <a:rPr lang="en-SG" sz="1300">
                <a:solidFill>
                  <a:srgbClr val="E1EAF4"/>
                </a:solidFill>
                <a:latin typeface="Segoe UI" panose="020B0502040204020203" pitchFamily="34" charset="0"/>
              </a:rPr>
              <a:t>123 commits, 4 contributors, one day (6.2 h from first to last commit), 17,059 net lines (20,514 added, 3,455 deleted). AI-assisted, on a hackathon timeline.</a:t>
            </a:r>
          </a:p>
        </p:txBody>
      </p:sp>
      <p:sp>
        <p:nvSpPr>
          <p:cNvPr id="8" name="Rectangle: Rounded Corners 7">
            <a:extLst>
              <a:ext uri="{FF2B5EF4-FFF2-40B4-BE49-F238E27FC236}">
                <a16:creationId xmlns:a16="http://schemas.microsoft.com/office/drawing/2014/main" id="{16F61253-43E8-8C20-4EAE-4D00BC3CA8C1}"/>
              </a:ext>
            </a:extLst>
          </p:cNvPr>
          <p:cNvSpPr/>
          <p:nvPr/>
        </p:nvSpPr>
        <p:spPr>
          <a:xfrm>
            <a:off x="6248400" y="1651000"/>
            <a:ext cx="5334000" cy="1905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42D217D3-AAFC-3275-1867-731A4AD932F8}"/>
              </a:ext>
            </a:extLst>
          </p:cNvPr>
          <p:cNvSpPr txBox="1"/>
          <p:nvPr/>
        </p:nvSpPr>
        <p:spPr>
          <a:xfrm>
            <a:off x="6477000" y="1803400"/>
            <a:ext cx="48768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ASSUMPTION · CONVENTIONAL BUILD</a:t>
            </a:r>
          </a:p>
        </p:txBody>
      </p:sp>
      <p:sp>
        <p:nvSpPr>
          <p:cNvPr id="10" name="TextBox 9">
            <a:extLst>
              <a:ext uri="{FF2B5EF4-FFF2-40B4-BE49-F238E27FC236}">
                <a16:creationId xmlns:a16="http://schemas.microsoft.com/office/drawing/2014/main" id="{40A7AD89-C331-DBCD-5280-FC7BA73FF9D8}"/>
              </a:ext>
            </a:extLst>
          </p:cNvPr>
          <p:cNvSpPr txBox="1"/>
          <p:nvPr/>
        </p:nvSpPr>
        <p:spPr>
          <a:xfrm>
            <a:off x="6477000" y="2057400"/>
            <a:ext cx="4876800" cy="355600"/>
          </a:xfrm>
          <a:prstGeom prst="rect">
            <a:avLst/>
          </a:prstGeom>
          <a:noFill/>
        </p:spPr>
        <p:txBody>
          <a:bodyPr vert="horz" wrap="square" lIns="0" tIns="0" rIns="0" bIns="0" rtlCol="0">
            <a:noAutofit/>
          </a:bodyPr>
          <a:lstStyle/>
          <a:p>
            <a:r>
              <a:rPr lang="en-SG" sz="2400" b="1" dirty="0">
                <a:solidFill>
                  <a:srgbClr val="F3ECFF"/>
                </a:solidFill>
                <a:latin typeface="Segoe UI" panose="020B0502040204020203" pitchFamily="34" charset="0"/>
              </a:rPr>
              <a:t>252 to 629 man-days</a:t>
            </a:r>
          </a:p>
        </p:txBody>
      </p:sp>
      <p:sp>
        <p:nvSpPr>
          <p:cNvPr id="11" name="TextBox 10">
            <a:extLst>
              <a:ext uri="{FF2B5EF4-FFF2-40B4-BE49-F238E27FC236}">
                <a16:creationId xmlns:a16="http://schemas.microsoft.com/office/drawing/2014/main" id="{379A3A14-2CD2-1AF5-686A-F49034B02F13}"/>
              </a:ext>
            </a:extLst>
          </p:cNvPr>
          <p:cNvSpPr txBox="1"/>
          <p:nvPr/>
        </p:nvSpPr>
        <p:spPr>
          <a:xfrm>
            <a:off x="6477000" y="2489200"/>
            <a:ext cx="4876800" cy="1016000"/>
          </a:xfrm>
          <a:prstGeom prst="rect">
            <a:avLst/>
          </a:prstGeom>
          <a:noFill/>
        </p:spPr>
        <p:txBody>
          <a:bodyPr vert="horz" wrap="square" lIns="0" tIns="0" rIns="0" bIns="0" rtlCol="0">
            <a:noAutofit/>
          </a:bodyPr>
          <a:lstStyle/>
          <a:p>
            <a:r>
              <a:rPr lang="en-SG" sz="1300">
                <a:solidFill>
                  <a:srgbClr val="EBDFFF"/>
                </a:solidFill>
                <a:latin typeface="Segoe UI" panose="020B0502040204020203" pitchFamily="34" charset="0"/>
              </a:rPr>
              <a:t>12,577 code and test lines at 50 to 20 lines per person-day (assumed, crude), at S$800 a day (placeholder) = S$0.20M to S$0.50M.</a:t>
            </a:r>
          </a:p>
        </p:txBody>
      </p:sp>
      <p:graphicFrame>
        <p:nvGraphicFramePr>
          <p:cNvPr id="12" name="Payback table" descr="Illustrative payback in months for the prototype and two conventional-build estimates at three avoided-session shares">
            <a:extLst>
              <a:ext uri="{FF2B5EF4-FFF2-40B4-BE49-F238E27FC236}">
                <a16:creationId xmlns:a16="http://schemas.microsoft.com/office/drawing/2014/main" id="{2B093148-D9F4-04BC-F86C-F756EE76C009}"/>
              </a:ext>
            </a:extLst>
          </p:cNvPr>
          <p:cNvGraphicFramePr>
            <a:graphicFrameLocks noGrp="1"/>
          </p:cNvGraphicFramePr>
          <p:nvPr>
            <p:extLst>
              <p:ext uri="{D42A27DB-BD31-4B8C-83A1-F6EECF244321}">
                <p14:modId xmlns:p14="http://schemas.microsoft.com/office/powerpoint/2010/main" val="494563075"/>
              </p:ext>
            </p:extLst>
          </p:nvPr>
        </p:nvGraphicFramePr>
        <p:xfrm>
          <a:off x="609600" y="3759200"/>
          <a:ext cx="10972927" cy="1879600"/>
        </p:xfrm>
        <a:graphic>
          <a:graphicData uri="http://schemas.openxmlformats.org/drawingml/2006/table">
            <a:tbl>
              <a:tblPr firstRow="1" bandRow="1">
                <a:tableStyleId>{2D5ABB26-0587-4C30-8999-92F81FD0307C}</a:tableStyleId>
              </a:tblPr>
              <a:tblGrid>
                <a:gridCol w="5080000">
                  <a:extLst>
                    <a:ext uri="{9D8B030D-6E8A-4147-A177-3AD203B41FA5}">
                      <a16:colId xmlns:a16="http://schemas.microsoft.com/office/drawing/2014/main" val="643298105"/>
                    </a:ext>
                  </a:extLst>
                </a:gridCol>
                <a:gridCol w="1964309">
                  <a:extLst>
                    <a:ext uri="{9D8B030D-6E8A-4147-A177-3AD203B41FA5}">
                      <a16:colId xmlns:a16="http://schemas.microsoft.com/office/drawing/2014/main" val="2555375277"/>
                    </a:ext>
                  </a:extLst>
                </a:gridCol>
                <a:gridCol w="1964309">
                  <a:extLst>
                    <a:ext uri="{9D8B030D-6E8A-4147-A177-3AD203B41FA5}">
                      <a16:colId xmlns:a16="http://schemas.microsoft.com/office/drawing/2014/main" val="233300301"/>
                    </a:ext>
                  </a:extLst>
                </a:gridCol>
                <a:gridCol w="1964309">
                  <a:extLst>
                    <a:ext uri="{9D8B030D-6E8A-4147-A177-3AD203B41FA5}">
                      <a16:colId xmlns:a16="http://schemas.microsoft.com/office/drawing/2014/main" val="929635242"/>
                    </a:ext>
                  </a:extLst>
                </a:gridCol>
              </a:tblGrid>
              <a:tr h="431800">
                <a:tc>
                  <a:txBody>
                    <a:bodyPr/>
                    <a:lstStyle/>
                    <a:p>
                      <a:r>
                        <a:rPr lang="en-SG" sz="1200" b="1">
                          <a:solidFill>
                            <a:srgbClr val="F7FAFD"/>
                          </a:solidFill>
                          <a:latin typeface="Segoe UI" panose="020B0502040204020203" pitchFamily="34" charset="0"/>
                        </a:rPr>
                        <a:t>Payback, mid value S$2,000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5%</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15%</a:t>
                      </a:r>
                    </a:p>
                  </a:txBody>
                  <a:tcPr marL="177800" marR="127000" anchor="ctr">
                    <a:solidFill>
                      <a:srgbClr val="1A2D47"/>
                    </a:solidFill>
                  </a:tcPr>
                </a:tc>
                <a:extLst>
                  <a:ext uri="{0D108BD9-81ED-4DB2-BD59-A6C34878D82A}">
                    <a16:rowId xmlns:a16="http://schemas.microsoft.com/office/drawing/2014/main" val="1143652860"/>
                  </a:ext>
                </a:extLst>
              </a:tr>
              <a:tr h="482600">
                <a:tc>
                  <a:txBody>
                    <a:bodyPr/>
                    <a:lstStyle/>
                    <a:p>
                      <a:r>
                        <a:rPr lang="en-SG" sz="1400" b="1">
                          <a:solidFill>
                            <a:srgbClr val="F7FAFD"/>
                          </a:solidFill>
                          <a:latin typeface="Segoe UI" panose="020B0502040204020203" pitchFamily="34" charset="0"/>
                        </a:rPr>
                        <a:t>Prototype as built (4 pd, S$3,200)</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extLst>
                  <a:ext uri="{0D108BD9-81ED-4DB2-BD59-A6C34878D82A}">
                    <a16:rowId xmlns:a16="http://schemas.microsoft.com/office/drawing/2014/main" val="366800230"/>
                  </a:ext>
                </a:extLst>
              </a:tr>
              <a:tr h="482600">
                <a:tc>
                  <a:txBody>
                    <a:bodyPr/>
                    <a:lstStyle/>
                    <a:p>
                      <a:r>
                        <a:rPr lang="en-SG" sz="1400" b="1">
                          <a:solidFill>
                            <a:srgbClr val="F7FAFD"/>
                          </a:solidFill>
                          <a:latin typeface="Segoe UI" panose="020B0502040204020203" pitchFamily="34" charset="0"/>
                        </a:rPr>
                        <a:t>Conventional, fast (252 pd, S$0.20M)</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4.0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2.0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1.3 months</a:t>
                      </a:r>
                    </a:p>
                  </a:txBody>
                  <a:tcPr marL="177800" marR="127000" anchor="ctr">
                    <a:solidFill>
                      <a:srgbClr val="0D1C30"/>
                    </a:solidFill>
                  </a:tcPr>
                </a:tc>
                <a:extLst>
                  <a:ext uri="{0D108BD9-81ED-4DB2-BD59-A6C34878D82A}">
                    <a16:rowId xmlns:a16="http://schemas.microsoft.com/office/drawing/2014/main" val="2202140270"/>
                  </a:ext>
                </a:extLst>
              </a:tr>
              <a:tr h="482600">
                <a:tc>
                  <a:txBody>
                    <a:bodyPr/>
                    <a:lstStyle/>
                    <a:p>
                      <a:r>
                        <a:rPr lang="en-SG" sz="1400" b="1">
                          <a:solidFill>
                            <a:srgbClr val="F7FAFD"/>
                          </a:solidFill>
                          <a:latin typeface="Segoe UI" panose="020B0502040204020203" pitchFamily="34" charset="0"/>
                        </a:rPr>
                        <a:t>Conventional, slow (629 pd, S$0.50M)</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10.1 months</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5.0 months</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3.4 months</a:t>
                      </a:r>
                    </a:p>
                  </a:txBody>
                  <a:tcPr marL="177800" marR="127000" anchor="ctr">
                    <a:solidFill>
                      <a:srgbClr val="12243C"/>
                    </a:solidFill>
                  </a:tcPr>
                </a:tc>
                <a:extLst>
                  <a:ext uri="{0D108BD9-81ED-4DB2-BD59-A6C34878D82A}">
                    <a16:rowId xmlns:a16="http://schemas.microsoft.com/office/drawing/2014/main" val="627932796"/>
                  </a:ext>
                </a:extLst>
              </a:tr>
            </a:tbl>
          </a:graphicData>
        </a:graphic>
      </p:graphicFrame>
      <p:sp>
        <p:nvSpPr>
          <p:cNvPr id="13" name="TextBox 12">
            <a:extLst>
              <a:ext uri="{FF2B5EF4-FFF2-40B4-BE49-F238E27FC236}">
                <a16:creationId xmlns:a16="http://schemas.microsoft.com/office/drawing/2014/main" id="{A8D2EC27-E486-DDE1-30D4-1F7564B36780}"/>
              </a:ext>
            </a:extLst>
          </p:cNvPr>
          <p:cNvSpPr txBox="1"/>
          <p:nvPr/>
        </p:nvSpPr>
        <p:spPr>
          <a:xfrm>
            <a:off x="609600" y="5791200"/>
            <a:ext cx="10972800" cy="508000"/>
          </a:xfrm>
          <a:prstGeom prst="rect">
            <a:avLst/>
          </a:prstGeom>
          <a:noFill/>
        </p:spPr>
        <p:txBody>
          <a:bodyPr vert="horz" wrap="square" lIns="0" tIns="0" rIns="0" bIns="0" rtlCol="0">
            <a:noAutofit/>
          </a:bodyPr>
          <a:lstStyle/>
          <a:p>
            <a:r>
              <a:rPr lang="en-SG" sz="1300">
                <a:solidFill>
                  <a:srgbClr val="93ABC6"/>
                </a:solidFill>
                <a:latin typeface="Segoe UI" panose="020B0502040204020203" pitchFamily="34" charset="0"/>
              </a:rPr>
              <a:t>Payback = 12 × development cost ÷ annual saving. It excludes the HLA/DIS adapter, a trial with real cohorts and approvals, and starts only once a trial has shown r.</a:t>
            </a:r>
          </a:p>
        </p:txBody>
      </p:sp>
      <p:sp>
        <p:nvSpPr>
          <p:cNvPr id="14" name="TextBox 13">
            <a:extLst>
              <a:ext uri="{FF2B5EF4-FFF2-40B4-BE49-F238E27FC236}">
                <a16:creationId xmlns:a16="http://schemas.microsoft.com/office/drawing/2014/main" id="{1215CCA8-D67F-21A4-4F04-32375FFE3D9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EFFORT FROM GIT · COMPARISON AND RATES ARE ASSUMPTIONS · ILLUSTRATIVE</a:t>
            </a:r>
          </a:p>
        </p:txBody>
      </p:sp>
      <p:sp>
        <p:nvSpPr>
          <p:cNvPr id="15" name="TextBox 14">
            <a:extLst>
              <a:ext uri="{FF2B5EF4-FFF2-40B4-BE49-F238E27FC236}">
                <a16:creationId xmlns:a16="http://schemas.microsoft.com/office/drawing/2014/main" id="{725B2E23-1A52-D359-0D57-CACB59F0274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17</a:t>
            </a:r>
          </a:p>
        </p:txBody>
      </p:sp>
    </p:spTree>
    <p:extLst>
      <p:ext uri="{BB962C8B-B14F-4D97-AF65-F5344CB8AC3E}">
        <p14:creationId xmlns:p14="http://schemas.microsoft.com/office/powerpoint/2010/main" val="8579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947C7-8571-552E-E6A8-001EB666B596}"/>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AA81DD3B-FF89-26E7-09D2-0BBA2A713B1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2376F111-3BE0-E119-46EF-9623EB09EF0D}"/>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820186215"/>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3185</Words>
  <Application>Microsoft Office PowerPoint</Application>
  <PresentationFormat>Widescreen</PresentationFormat>
  <Paragraphs>317</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Segoe UI</vt:lpstr>
      <vt:lpstr>Office Theme</vt:lpstr>
      <vt:lpstr>Adaptive CGF Trainer</vt:lpstr>
      <vt:lpstr>One instructor Many trainees One scripted enemy</vt:lpstr>
      <vt:lpstr>Train each person’s weak spot, without losing control</vt:lpstr>
      <vt:lpstr>History picks what to exercise.  Live behaviour sets how hard.</vt:lpstr>
      <vt:lpstr>Each session makes the next one better aimed</vt:lpstr>
      <vt:lpstr>The more it is used, the better it knows each trainee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What works today, and what is left</vt:lpstr>
      <vt:lpstr>What fewer sessions to proficiency could be worth</vt:lpstr>
      <vt:lpstr>What it took to build, and the payback</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8</cp:revision>
  <dcterms:created xsi:type="dcterms:W3CDTF">2026-10-29T08:52:04Z</dcterms:created>
  <dcterms:modified xsi:type="dcterms:W3CDTF">2026-10-29T09:53:16Z</dcterms:modified>
</cp:coreProperties>
</file>