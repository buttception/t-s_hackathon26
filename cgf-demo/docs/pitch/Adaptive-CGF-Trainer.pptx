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C258F3-0FC6-4471-B19F-15AA63BFCD45}" type="datetimeFigureOut">
              <a:rPr lang="en-SG" smtClean="0"/>
              <a:t>29/10/2026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F224DD-DDDE-4B72-99C4-35A37B4971CD}" type="slidenum">
              <a:rPr lang="en-SG" smtClean="0"/>
              <a:t>‹#›</a:t>
            </a:fld>
            <a:endParaRPr lang="en-SG"/>
          </a:p>
        </p:txBody>
      </p:sp>
    </p:spTree>
    <p:extLst>
      <p:ext uri="{BB962C8B-B14F-4D97-AF65-F5344CB8AC3E}">
        <p14:creationId xmlns:p14="http://schemas.microsoft.com/office/powerpoint/2010/main" val="40076313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Open by naming the gap: one instructor, many trainees, one scripted enemy. We built a trainer where the enemy adapts to each trainee and the instructor stays in command. Everything shown uses synthetic data.</a:t>
            </a:r>
          </a:p>
        </p:txBody>
      </p:sp>
      <p:sp>
        <p:nvSpPr>
          <p:cNvPr id="4" name="Slide Number Placeholder 3"/>
          <p:cNvSpPr>
            <a:spLocks noGrp="1"/>
          </p:cNvSpPr>
          <p:nvPr>
            <p:ph type="sldNum" sz="quarter" idx="5"/>
          </p:nvPr>
        </p:nvSpPr>
        <p:spPr/>
        <p:txBody>
          <a:bodyPr/>
          <a:lstStyle/>
          <a:p>
            <a:fld id="{9BF224DD-DDDE-4B72-99C4-35A37B4971CD}" type="slidenum">
              <a:rPr lang="en-SG" smtClean="0"/>
              <a:t>1</a:t>
            </a:fld>
            <a:endParaRPr lang="en-SG"/>
          </a:p>
        </p:txBody>
      </p:sp>
    </p:spTree>
    <p:extLst>
      <p:ext uri="{BB962C8B-B14F-4D97-AF65-F5344CB8AC3E}">
        <p14:creationId xmlns:p14="http://schemas.microsoft.com/office/powerpoint/2010/main" val="1795137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instructor runs many trainees. A fixed scenario trains the average, so a trainee’s weak spot is practised by chance. The instructor has no spare hands to retune the enemy per seat. Do not quote figures here; we have none.</a:t>
            </a:r>
          </a:p>
        </p:txBody>
      </p:sp>
      <p:sp>
        <p:nvSpPr>
          <p:cNvPr id="4" name="Slide Number Placeholder 3"/>
          <p:cNvSpPr>
            <a:spLocks noGrp="1"/>
          </p:cNvSpPr>
          <p:nvPr>
            <p:ph type="sldNum" sz="quarter" idx="5"/>
          </p:nvPr>
        </p:nvSpPr>
        <p:spPr/>
        <p:txBody>
          <a:bodyPr/>
          <a:lstStyle/>
          <a:p>
            <a:fld id="{9BF224DD-DDDE-4B72-99C4-35A37B4971CD}" type="slidenum">
              <a:rPr lang="en-SG" smtClean="0"/>
              <a:t>2</a:t>
            </a:fld>
            <a:endParaRPr lang="en-SG"/>
          </a:p>
        </p:txBody>
      </p:sp>
    </p:spTree>
    <p:extLst>
      <p:ext uri="{BB962C8B-B14F-4D97-AF65-F5344CB8AC3E}">
        <p14:creationId xmlns:p14="http://schemas.microsoft.com/office/powerpoint/2010/main" val="41265106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core idea in one sentence. The profile decides which competency to exercise. This run’s behaviour decides how hard to push it. Today’s evidence also updates the profile, so a trainee who improves stops being the target.</a:t>
            </a:r>
          </a:p>
        </p:txBody>
      </p:sp>
      <p:sp>
        <p:nvSpPr>
          <p:cNvPr id="4" name="Slide Number Placeholder 3"/>
          <p:cNvSpPr>
            <a:spLocks noGrp="1"/>
          </p:cNvSpPr>
          <p:nvPr>
            <p:ph type="sldNum" sz="quarter" idx="5"/>
          </p:nvPr>
        </p:nvSpPr>
        <p:spPr/>
        <p:txBody>
          <a:bodyPr/>
          <a:lstStyle/>
          <a:p>
            <a:fld id="{9BF224DD-DDDE-4B72-99C4-35A37B4971CD}" type="slidenum">
              <a:rPr lang="en-SG" smtClean="0"/>
              <a:t>3</a:t>
            </a:fld>
            <a:endParaRPr lang="en-SG"/>
          </a:p>
        </p:txBody>
      </p:sp>
    </p:spTree>
    <p:extLst>
      <p:ext uri="{BB962C8B-B14F-4D97-AF65-F5344CB8AC3E}">
        <p14:creationId xmlns:p14="http://schemas.microsoft.com/office/powerpoint/2010/main" val="40235722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Four steps, each a page that opens from a file. The report feeds the competency update, which writes the trainee’s history, so the loop closes. Next slides walk through the steps.</a:t>
            </a:r>
          </a:p>
        </p:txBody>
      </p:sp>
      <p:sp>
        <p:nvSpPr>
          <p:cNvPr id="4" name="Slide Number Placeholder 3"/>
          <p:cNvSpPr>
            <a:spLocks noGrp="1"/>
          </p:cNvSpPr>
          <p:nvPr>
            <p:ph type="sldNum" sz="quarter" idx="5"/>
          </p:nvPr>
        </p:nvSpPr>
        <p:spPr/>
        <p:txBody>
          <a:bodyPr/>
          <a:lstStyle/>
          <a:p>
            <a:fld id="{9BF224DD-DDDE-4B72-99C4-35A37B4971CD}" type="slidenum">
              <a:rPr lang="en-SG" smtClean="0"/>
              <a:t>4</a:t>
            </a:fld>
            <a:endParaRPr lang="en-SG"/>
          </a:p>
        </p:txBody>
      </p:sp>
    </p:spTree>
    <p:extLst>
      <p:ext uri="{BB962C8B-B14F-4D97-AF65-F5344CB8AC3E}">
        <p14:creationId xmlns:p14="http://schemas.microsoft.com/office/powerpoint/2010/main" val="27029857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Live beat if the demo runs: pick the warship, press Suggest demo crew, point at the competency bars and the likely first target, then the Adaptive practice badge. Fallback: this screenshot. All names are synthetic.</a:t>
            </a:r>
          </a:p>
        </p:txBody>
      </p:sp>
      <p:sp>
        <p:nvSpPr>
          <p:cNvPr id="4" name="Slide Number Placeholder 3"/>
          <p:cNvSpPr>
            <a:spLocks noGrp="1"/>
          </p:cNvSpPr>
          <p:nvPr>
            <p:ph type="sldNum" sz="quarter" idx="5"/>
          </p:nvPr>
        </p:nvSpPr>
        <p:spPr/>
        <p:txBody>
          <a:bodyPr/>
          <a:lstStyle/>
          <a:p>
            <a:fld id="{9BF224DD-DDDE-4B72-99C4-35A37B4971CD}" type="slidenum">
              <a:rPr lang="en-SG" smtClean="0"/>
              <a:t>5</a:t>
            </a:fld>
            <a:endParaRPr lang="en-SG"/>
          </a:p>
        </p:txBody>
      </p:sp>
    </p:spTree>
    <p:extLst>
      <p:ext uri="{BB962C8B-B14F-4D97-AF65-F5344CB8AC3E}">
        <p14:creationId xmlns:p14="http://schemas.microsoft.com/office/powerpoint/2010/main" val="37325196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Warship crew on the strait transit scenario, the one scenario with a competency signal today. Start the run. The CGFs press hails at the navigation seat because that is the history-based target. Fallback: the recorded clip.</a:t>
            </a:r>
          </a:p>
        </p:txBody>
      </p:sp>
      <p:sp>
        <p:nvSpPr>
          <p:cNvPr id="4" name="Slide Number Placeholder 3"/>
          <p:cNvSpPr>
            <a:spLocks noGrp="1"/>
          </p:cNvSpPr>
          <p:nvPr>
            <p:ph type="sldNum" sz="quarter" idx="5"/>
          </p:nvPr>
        </p:nvSpPr>
        <p:spPr/>
        <p:txBody>
          <a:bodyPr/>
          <a:lstStyle/>
          <a:p>
            <a:fld id="{9BF224DD-DDDE-4B72-99C4-35A37B4971CD}" type="slidenum">
              <a:rPr lang="en-SG" smtClean="0"/>
              <a:t>6</a:t>
            </a:fld>
            <a:endParaRPr lang="en-SG"/>
          </a:p>
        </p:txBody>
      </p:sp>
    </p:spTree>
    <p:extLst>
      <p:ext uri="{BB962C8B-B14F-4D97-AF65-F5344CB8AC3E}">
        <p14:creationId xmlns:p14="http://schemas.microsoft.com/office/powerpoint/2010/main" val="25656607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Open the Reasoning tab during the run. Each entry shows direction, setting change, the evidence events and a one-line reason, tagged history, live, team or instructor. The rule: when the trainee does well on the target the CGFs get harder, when they struggle they ease off, never below the instructor’s base. The two cards show the panel’s wording with illustrative values.</a:t>
            </a:r>
          </a:p>
        </p:txBody>
      </p:sp>
      <p:sp>
        <p:nvSpPr>
          <p:cNvPr id="4" name="Slide Number Placeholder 3"/>
          <p:cNvSpPr>
            <a:spLocks noGrp="1"/>
          </p:cNvSpPr>
          <p:nvPr>
            <p:ph type="sldNum" sz="quarter" idx="5"/>
          </p:nvPr>
        </p:nvSpPr>
        <p:spPr/>
        <p:txBody>
          <a:bodyPr/>
          <a:lstStyle/>
          <a:p>
            <a:fld id="{9BF224DD-DDDE-4B72-99C4-35A37B4971CD}" type="slidenum">
              <a:rPr lang="en-SG" smtClean="0"/>
              <a:t>7</a:t>
            </a:fld>
            <a:endParaRPr lang="en-SG"/>
          </a:p>
        </p:txBody>
      </p:sp>
    </p:spTree>
    <p:extLst>
      <p:ext uri="{BB962C8B-B14F-4D97-AF65-F5344CB8AC3E}">
        <p14:creationId xmlns:p14="http://schemas.microsoft.com/office/powerpoint/2010/main" val="2078188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Answer the standing worry: does adaptation break standardised assessment? Practice runs adapt, fixed mode is for qualification, and the badge differs. The demo runs with the local LLM off; every LLM feature has a template fallback. Steering: type a request, show the parsed directive, then apply.</a:t>
            </a:r>
          </a:p>
        </p:txBody>
      </p:sp>
      <p:sp>
        <p:nvSpPr>
          <p:cNvPr id="4" name="Slide Number Placeholder 3"/>
          <p:cNvSpPr>
            <a:spLocks noGrp="1"/>
          </p:cNvSpPr>
          <p:nvPr>
            <p:ph type="sldNum" sz="quarter" idx="5"/>
          </p:nvPr>
        </p:nvSpPr>
        <p:spPr/>
        <p:txBody>
          <a:bodyPr/>
          <a:lstStyle/>
          <a:p>
            <a:fld id="{9BF224DD-DDDE-4B72-99C4-35A37B4971CD}" type="slidenum">
              <a:rPr lang="en-SG" smtClean="0"/>
              <a:t>8</a:t>
            </a:fld>
            <a:endParaRPr lang="en-SG"/>
          </a:p>
        </p:txBody>
      </p:sp>
    </p:spTree>
    <p:extLst>
      <p:ext uri="{BB962C8B-B14F-4D97-AF65-F5344CB8AC3E}">
        <p14:creationId xmlns:p14="http://schemas.microsoft.com/office/powerpoint/2010/main" val="39740143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Code computes every figure in the report; the narrative is a template. The order is fixed: report, then competency update, then the history entry. The screenshot is a seeded session, not a live run.</a:t>
            </a:r>
          </a:p>
        </p:txBody>
      </p:sp>
      <p:sp>
        <p:nvSpPr>
          <p:cNvPr id="4" name="Slide Number Placeholder 3"/>
          <p:cNvSpPr>
            <a:spLocks noGrp="1"/>
          </p:cNvSpPr>
          <p:nvPr>
            <p:ph type="sldNum" sz="quarter" idx="5"/>
          </p:nvPr>
        </p:nvSpPr>
        <p:spPr/>
        <p:txBody>
          <a:bodyPr/>
          <a:lstStyle/>
          <a:p>
            <a:fld id="{9BF224DD-DDDE-4B72-99C4-35A37B4971CD}" type="slidenum">
              <a:rPr lang="en-SG" smtClean="0"/>
              <a:t>9</a:t>
            </a:fld>
            <a:endParaRPr lang="en-SG"/>
          </a:p>
        </p:txBody>
      </p:sp>
    </p:spTree>
    <p:extLst>
      <p:ext uri="{BB962C8B-B14F-4D97-AF65-F5344CB8AC3E}">
        <p14:creationId xmlns:p14="http://schemas.microsoft.com/office/powerpoint/2010/main" val="2577958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cohort view is for improving the curriculum, never for judging individuals, and its own banner says so. Adaptive runs give different exercises, so these figures are not qualification results.</a:t>
            </a:r>
          </a:p>
        </p:txBody>
      </p:sp>
      <p:sp>
        <p:nvSpPr>
          <p:cNvPr id="4" name="Slide Number Placeholder 3"/>
          <p:cNvSpPr>
            <a:spLocks noGrp="1"/>
          </p:cNvSpPr>
          <p:nvPr>
            <p:ph type="sldNum" sz="quarter" idx="5"/>
          </p:nvPr>
        </p:nvSpPr>
        <p:spPr/>
        <p:txBody>
          <a:bodyPr/>
          <a:lstStyle/>
          <a:p>
            <a:fld id="{9BF224DD-DDDE-4B72-99C4-35A37B4971CD}" type="slidenum">
              <a:rPr lang="en-SG" smtClean="0"/>
              <a:t>10</a:t>
            </a:fld>
            <a:endParaRPr lang="en-SG"/>
          </a:p>
        </p:txBody>
      </p:sp>
    </p:spTree>
    <p:extLst>
      <p:ext uri="{BB962C8B-B14F-4D97-AF65-F5344CB8AC3E}">
        <p14:creationId xmlns:p14="http://schemas.microsoft.com/office/powerpoint/2010/main" val="42650369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plain about what is not built. The engine changes a small, explicit set of CGF settings, so it can map onto an existing simulator’s controls instead of replacing it. That adapter needs the target simulator’s object model. Proving training transfer needs a trial with real cohorts, which is the proposed next step.</a:t>
            </a:r>
          </a:p>
        </p:txBody>
      </p:sp>
      <p:sp>
        <p:nvSpPr>
          <p:cNvPr id="4" name="Slide Number Placeholder 3"/>
          <p:cNvSpPr>
            <a:spLocks noGrp="1"/>
          </p:cNvSpPr>
          <p:nvPr>
            <p:ph type="sldNum" sz="quarter" idx="5"/>
          </p:nvPr>
        </p:nvSpPr>
        <p:spPr/>
        <p:txBody>
          <a:bodyPr/>
          <a:lstStyle/>
          <a:p>
            <a:fld id="{9BF224DD-DDDE-4B72-99C4-35A37B4971CD}" type="slidenum">
              <a:rPr lang="en-SG" smtClean="0"/>
              <a:t>11</a:t>
            </a:fld>
            <a:endParaRPr lang="en-SG"/>
          </a:p>
        </p:txBody>
      </p:sp>
    </p:spTree>
    <p:extLst>
      <p:ext uri="{BB962C8B-B14F-4D97-AF65-F5344CB8AC3E}">
        <p14:creationId xmlns:p14="http://schemas.microsoft.com/office/powerpoint/2010/main" val="18349504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Fill the bracketed figures from the division before presenting; until then say they are blanks. Show r as a low, mid and high range and say assumed next to each. Do not present a saving as a result: the demo shows the mechanism, not training transfer.</a:t>
            </a:r>
          </a:p>
        </p:txBody>
      </p:sp>
      <p:sp>
        <p:nvSpPr>
          <p:cNvPr id="4" name="Slide Number Placeholder 3"/>
          <p:cNvSpPr>
            <a:spLocks noGrp="1"/>
          </p:cNvSpPr>
          <p:nvPr>
            <p:ph type="sldNum" sz="quarter" idx="5"/>
          </p:nvPr>
        </p:nvSpPr>
        <p:spPr/>
        <p:txBody>
          <a:bodyPr/>
          <a:lstStyle/>
          <a:p>
            <a:fld id="{9BF224DD-DDDE-4B72-99C4-35A37B4971CD}" type="slidenum">
              <a:rPr lang="en-SG" smtClean="0"/>
              <a:t>12</a:t>
            </a:fld>
            <a:endParaRPr lang="en-SG"/>
          </a:p>
        </p:txBody>
      </p:sp>
    </p:spTree>
    <p:extLst>
      <p:ext uri="{BB962C8B-B14F-4D97-AF65-F5344CB8AC3E}">
        <p14:creationId xmlns:p14="http://schemas.microsoft.com/office/powerpoint/2010/main" val="14885344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sentence to close. Then questions: practice runs adapt and fixed mode assesses; the AI acts only inside the instructor’s limits; the demo shows the mechanism, and proving training transfer needs a trial with real cohorts.</a:t>
            </a:r>
          </a:p>
        </p:txBody>
      </p:sp>
      <p:sp>
        <p:nvSpPr>
          <p:cNvPr id="4" name="Slide Number Placeholder 3"/>
          <p:cNvSpPr>
            <a:spLocks noGrp="1"/>
          </p:cNvSpPr>
          <p:nvPr>
            <p:ph type="sldNum" sz="quarter" idx="5"/>
          </p:nvPr>
        </p:nvSpPr>
        <p:spPr/>
        <p:txBody>
          <a:bodyPr/>
          <a:lstStyle/>
          <a:p>
            <a:fld id="{9BF224DD-DDDE-4B72-99C4-35A37B4971CD}" type="slidenum">
              <a:rPr lang="en-SG" smtClean="0"/>
              <a:t>13</a:t>
            </a:fld>
            <a:endParaRPr lang="en-SG"/>
          </a:p>
        </p:txBody>
      </p:sp>
    </p:spTree>
    <p:extLst>
      <p:ext uri="{BB962C8B-B14F-4D97-AF65-F5344CB8AC3E}">
        <p14:creationId xmlns:p14="http://schemas.microsoft.com/office/powerpoint/2010/main" val="39407510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8E2530-6E35-05AF-FD9A-EE4867684B9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G"/>
          </a:p>
        </p:txBody>
      </p:sp>
      <p:sp>
        <p:nvSpPr>
          <p:cNvPr id="3" name="Subtitle 2">
            <a:extLst>
              <a:ext uri="{FF2B5EF4-FFF2-40B4-BE49-F238E27FC236}">
                <a16:creationId xmlns:a16="http://schemas.microsoft.com/office/drawing/2014/main" id="{D25DF4AB-08F7-D1FE-988A-89EF961A21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G"/>
          </a:p>
        </p:txBody>
      </p:sp>
      <p:sp>
        <p:nvSpPr>
          <p:cNvPr id="4" name="Date Placeholder 3">
            <a:extLst>
              <a:ext uri="{FF2B5EF4-FFF2-40B4-BE49-F238E27FC236}">
                <a16:creationId xmlns:a16="http://schemas.microsoft.com/office/drawing/2014/main" id="{D6909097-2C9A-D55C-6C0C-C2AA47D187B7}"/>
              </a:ext>
            </a:extLst>
          </p:cNvPr>
          <p:cNvSpPr>
            <a:spLocks noGrp="1"/>
          </p:cNvSpPr>
          <p:nvPr>
            <p:ph type="dt" sz="half" idx="10"/>
          </p:nvPr>
        </p:nvSpPr>
        <p:spPr/>
        <p:txBody>
          <a:bodyPr/>
          <a:lstStyle/>
          <a:p>
            <a:fld id="{F0A1943E-1E32-4B96-8C44-DD4275251E58}" type="datetimeFigureOut">
              <a:rPr lang="en-SG" smtClean="0"/>
              <a:t>29/10/2026</a:t>
            </a:fld>
            <a:endParaRPr lang="en-SG"/>
          </a:p>
        </p:txBody>
      </p:sp>
      <p:sp>
        <p:nvSpPr>
          <p:cNvPr id="5" name="Footer Placeholder 4">
            <a:extLst>
              <a:ext uri="{FF2B5EF4-FFF2-40B4-BE49-F238E27FC236}">
                <a16:creationId xmlns:a16="http://schemas.microsoft.com/office/drawing/2014/main" id="{1560B241-CF14-B46C-380A-921019F55F6B}"/>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83A19236-4E0A-9710-D8D6-B5AB207508DF}"/>
              </a:ext>
            </a:extLst>
          </p:cNvPr>
          <p:cNvSpPr>
            <a:spLocks noGrp="1"/>
          </p:cNvSpPr>
          <p:nvPr>
            <p:ph type="sldNum" sz="quarter" idx="12"/>
          </p:nvPr>
        </p:nvSpPr>
        <p:spPr/>
        <p:txBody>
          <a:bodyPr/>
          <a:lstStyle/>
          <a:p>
            <a:fld id="{E59F19FD-A0E0-401C-896F-DD69BC76946C}" type="slidenum">
              <a:rPr lang="en-SG" smtClean="0"/>
              <a:t>‹#›</a:t>
            </a:fld>
            <a:endParaRPr lang="en-SG"/>
          </a:p>
        </p:txBody>
      </p:sp>
    </p:spTree>
    <p:extLst>
      <p:ext uri="{BB962C8B-B14F-4D97-AF65-F5344CB8AC3E}">
        <p14:creationId xmlns:p14="http://schemas.microsoft.com/office/powerpoint/2010/main" val="12485389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40E5C-4625-C879-7308-9186EBAEB61B}"/>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23D87AF7-EA5A-289C-AEFA-FFD0C00BEEE2}"/>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441B20A5-0DCB-969B-EA6F-73C7F837C520}"/>
              </a:ext>
            </a:extLst>
          </p:cNvPr>
          <p:cNvSpPr>
            <a:spLocks noGrp="1"/>
          </p:cNvSpPr>
          <p:nvPr>
            <p:ph type="dt" sz="half" idx="10"/>
          </p:nvPr>
        </p:nvSpPr>
        <p:spPr/>
        <p:txBody>
          <a:bodyPr/>
          <a:lstStyle/>
          <a:p>
            <a:fld id="{F0A1943E-1E32-4B96-8C44-DD4275251E58}" type="datetimeFigureOut">
              <a:rPr lang="en-SG" smtClean="0"/>
              <a:t>29/10/2026</a:t>
            </a:fld>
            <a:endParaRPr lang="en-SG"/>
          </a:p>
        </p:txBody>
      </p:sp>
      <p:sp>
        <p:nvSpPr>
          <p:cNvPr id="5" name="Footer Placeholder 4">
            <a:extLst>
              <a:ext uri="{FF2B5EF4-FFF2-40B4-BE49-F238E27FC236}">
                <a16:creationId xmlns:a16="http://schemas.microsoft.com/office/drawing/2014/main" id="{97CF5AC8-51A7-92A1-766F-13040C44AD68}"/>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3455A5CC-DF59-AC1C-0524-6FB40E8400E1}"/>
              </a:ext>
            </a:extLst>
          </p:cNvPr>
          <p:cNvSpPr>
            <a:spLocks noGrp="1"/>
          </p:cNvSpPr>
          <p:nvPr>
            <p:ph type="sldNum" sz="quarter" idx="12"/>
          </p:nvPr>
        </p:nvSpPr>
        <p:spPr/>
        <p:txBody>
          <a:bodyPr/>
          <a:lstStyle/>
          <a:p>
            <a:fld id="{E59F19FD-A0E0-401C-896F-DD69BC76946C}" type="slidenum">
              <a:rPr lang="en-SG" smtClean="0"/>
              <a:t>‹#›</a:t>
            </a:fld>
            <a:endParaRPr lang="en-SG"/>
          </a:p>
        </p:txBody>
      </p:sp>
    </p:spTree>
    <p:extLst>
      <p:ext uri="{BB962C8B-B14F-4D97-AF65-F5344CB8AC3E}">
        <p14:creationId xmlns:p14="http://schemas.microsoft.com/office/powerpoint/2010/main" val="32518328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C4245-62FB-E86F-3618-30CA3AB1C18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G"/>
          </a:p>
        </p:txBody>
      </p:sp>
      <p:sp>
        <p:nvSpPr>
          <p:cNvPr id="3" name="Text Placeholder 2">
            <a:extLst>
              <a:ext uri="{FF2B5EF4-FFF2-40B4-BE49-F238E27FC236}">
                <a16:creationId xmlns:a16="http://schemas.microsoft.com/office/drawing/2014/main" id="{4ED52607-64B1-42A2-ABA7-CE3FE8AF80C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49FD8F5B-54D6-D841-D7A7-336F859C05C6}"/>
              </a:ext>
            </a:extLst>
          </p:cNvPr>
          <p:cNvSpPr>
            <a:spLocks noGrp="1"/>
          </p:cNvSpPr>
          <p:nvPr>
            <p:ph type="dt" sz="half" idx="10"/>
          </p:nvPr>
        </p:nvSpPr>
        <p:spPr/>
        <p:txBody>
          <a:bodyPr/>
          <a:lstStyle/>
          <a:p>
            <a:fld id="{F0A1943E-1E32-4B96-8C44-DD4275251E58}" type="datetimeFigureOut">
              <a:rPr lang="en-SG" smtClean="0"/>
              <a:t>29/10/2026</a:t>
            </a:fld>
            <a:endParaRPr lang="en-SG"/>
          </a:p>
        </p:txBody>
      </p:sp>
      <p:sp>
        <p:nvSpPr>
          <p:cNvPr id="5" name="Footer Placeholder 4">
            <a:extLst>
              <a:ext uri="{FF2B5EF4-FFF2-40B4-BE49-F238E27FC236}">
                <a16:creationId xmlns:a16="http://schemas.microsoft.com/office/drawing/2014/main" id="{93386FC8-7BD3-7472-6224-C3714213D30E}"/>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FAC5454F-8DAE-7CC3-C26F-531D2186371C}"/>
              </a:ext>
            </a:extLst>
          </p:cNvPr>
          <p:cNvSpPr>
            <a:spLocks noGrp="1"/>
          </p:cNvSpPr>
          <p:nvPr>
            <p:ph type="sldNum" sz="quarter" idx="12"/>
          </p:nvPr>
        </p:nvSpPr>
        <p:spPr/>
        <p:txBody>
          <a:bodyPr/>
          <a:lstStyle/>
          <a:p>
            <a:fld id="{E59F19FD-A0E0-401C-896F-DD69BC76946C}" type="slidenum">
              <a:rPr lang="en-SG" smtClean="0"/>
              <a:t>‹#›</a:t>
            </a:fld>
            <a:endParaRPr lang="en-SG"/>
          </a:p>
        </p:txBody>
      </p:sp>
    </p:spTree>
    <p:extLst>
      <p:ext uri="{BB962C8B-B14F-4D97-AF65-F5344CB8AC3E}">
        <p14:creationId xmlns:p14="http://schemas.microsoft.com/office/powerpoint/2010/main" val="40691298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4365F3-AD91-C298-09FE-F705D406EFBB}"/>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EABE9E44-1C8D-6016-6E88-1B30650E3F5B}"/>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Content Placeholder 3">
            <a:extLst>
              <a:ext uri="{FF2B5EF4-FFF2-40B4-BE49-F238E27FC236}">
                <a16:creationId xmlns:a16="http://schemas.microsoft.com/office/drawing/2014/main" id="{539D086C-956E-4CA8-CD1D-670EF40E9CD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Date Placeholder 4">
            <a:extLst>
              <a:ext uri="{FF2B5EF4-FFF2-40B4-BE49-F238E27FC236}">
                <a16:creationId xmlns:a16="http://schemas.microsoft.com/office/drawing/2014/main" id="{6D8B7DD8-E847-1B3E-3E95-23FB7F334BE1}"/>
              </a:ext>
            </a:extLst>
          </p:cNvPr>
          <p:cNvSpPr>
            <a:spLocks noGrp="1"/>
          </p:cNvSpPr>
          <p:nvPr>
            <p:ph type="dt" sz="half" idx="10"/>
          </p:nvPr>
        </p:nvSpPr>
        <p:spPr/>
        <p:txBody>
          <a:bodyPr/>
          <a:lstStyle/>
          <a:p>
            <a:fld id="{F0A1943E-1E32-4B96-8C44-DD4275251E58}" type="datetimeFigureOut">
              <a:rPr lang="en-SG" smtClean="0"/>
              <a:t>29/10/2026</a:t>
            </a:fld>
            <a:endParaRPr lang="en-SG"/>
          </a:p>
        </p:txBody>
      </p:sp>
      <p:sp>
        <p:nvSpPr>
          <p:cNvPr id="6" name="Footer Placeholder 5">
            <a:extLst>
              <a:ext uri="{FF2B5EF4-FFF2-40B4-BE49-F238E27FC236}">
                <a16:creationId xmlns:a16="http://schemas.microsoft.com/office/drawing/2014/main" id="{CF06476A-0BD6-C1C8-3CFA-801051E0D4F9}"/>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54058276-1DCC-A63B-D647-4F6D6768FA51}"/>
              </a:ext>
            </a:extLst>
          </p:cNvPr>
          <p:cNvSpPr>
            <a:spLocks noGrp="1"/>
          </p:cNvSpPr>
          <p:nvPr>
            <p:ph type="sldNum" sz="quarter" idx="12"/>
          </p:nvPr>
        </p:nvSpPr>
        <p:spPr/>
        <p:txBody>
          <a:bodyPr/>
          <a:lstStyle/>
          <a:p>
            <a:fld id="{E59F19FD-A0E0-401C-896F-DD69BC76946C}" type="slidenum">
              <a:rPr lang="en-SG" smtClean="0"/>
              <a:t>‹#›</a:t>
            </a:fld>
            <a:endParaRPr lang="en-SG"/>
          </a:p>
        </p:txBody>
      </p:sp>
    </p:spTree>
    <p:extLst>
      <p:ext uri="{BB962C8B-B14F-4D97-AF65-F5344CB8AC3E}">
        <p14:creationId xmlns:p14="http://schemas.microsoft.com/office/powerpoint/2010/main" val="24750794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37462-394C-444C-7AC5-BD6AFD6AFD1F}"/>
              </a:ext>
            </a:extLst>
          </p:cNvPr>
          <p:cNvSpPr>
            <a:spLocks noGrp="1"/>
          </p:cNvSpPr>
          <p:nvPr>
            <p:ph type="title"/>
          </p:nvPr>
        </p:nvSpPr>
        <p:spPr>
          <a:xfrm>
            <a:off x="839788" y="365125"/>
            <a:ext cx="10515600" cy="1325563"/>
          </a:xfrm>
        </p:spPr>
        <p:txBody>
          <a:bodyPr/>
          <a:lstStyle/>
          <a:p>
            <a:r>
              <a:rPr lang="en-GB"/>
              <a:t>Click to edit Master title style</a:t>
            </a:r>
            <a:endParaRPr lang="en-SG"/>
          </a:p>
        </p:txBody>
      </p:sp>
      <p:sp>
        <p:nvSpPr>
          <p:cNvPr id="3" name="Text Placeholder 2">
            <a:extLst>
              <a:ext uri="{FF2B5EF4-FFF2-40B4-BE49-F238E27FC236}">
                <a16:creationId xmlns:a16="http://schemas.microsoft.com/office/drawing/2014/main" id="{083959B6-D669-F959-0EEB-DA5A5FC5A59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4EB37242-C730-CEB7-D6FF-53137B20E90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Text Placeholder 4">
            <a:extLst>
              <a:ext uri="{FF2B5EF4-FFF2-40B4-BE49-F238E27FC236}">
                <a16:creationId xmlns:a16="http://schemas.microsoft.com/office/drawing/2014/main" id="{5A9AA407-7DCE-6A26-98E5-960433E793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7BAA685-2742-373C-C930-F2872CB51B5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7" name="Date Placeholder 6">
            <a:extLst>
              <a:ext uri="{FF2B5EF4-FFF2-40B4-BE49-F238E27FC236}">
                <a16:creationId xmlns:a16="http://schemas.microsoft.com/office/drawing/2014/main" id="{6586C35F-DEC4-8BAA-1A39-97038FF2DE64}"/>
              </a:ext>
            </a:extLst>
          </p:cNvPr>
          <p:cNvSpPr>
            <a:spLocks noGrp="1"/>
          </p:cNvSpPr>
          <p:nvPr>
            <p:ph type="dt" sz="half" idx="10"/>
          </p:nvPr>
        </p:nvSpPr>
        <p:spPr/>
        <p:txBody>
          <a:bodyPr/>
          <a:lstStyle/>
          <a:p>
            <a:fld id="{F0A1943E-1E32-4B96-8C44-DD4275251E58}" type="datetimeFigureOut">
              <a:rPr lang="en-SG" smtClean="0"/>
              <a:t>29/10/2026</a:t>
            </a:fld>
            <a:endParaRPr lang="en-SG"/>
          </a:p>
        </p:txBody>
      </p:sp>
      <p:sp>
        <p:nvSpPr>
          <p:cNvPr id="8" name="Footer Placeholder 7">
            <a:extLst>
              <a:ext uri="{FF2B5EF4-FFF2-40B4-BE49-F238E27FC236}">
                <a16:creationId xmlns:a16="http://schemas.microsoft.com/office/drawing/2014/main" id="{9F721798-061F-83BB-130E-5CD83AC4B449}"/>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2EA13482-0825-7BB9-1F4F-9D09C58BD3FC}"/>
              </a:ext>
            </a:extLst>
          </p:cNvPr>
          <p:cNvSpPr>
            <a:spLocks noGrp="1"/>
          </p:cNvSpPr>
          <p:nvPr>
            <p:ph type="sldNum" sz="quarter" idx="12"/>
          </p:nvPr>
        </p:nvSpPr>
        <p:spPr/>
        <p:txBody>
          <a:bodyPr/>
          <a:lstStyle/>
          <a:p>
            <a:fld id="{E59F19FD-A0E0-401C-896F-DD69BC76946C}" type="slidenum">
              <a:rPr lang="en-SG" smtClean="0"/>
              <a:t>‹#›</a:t>
            </a:fld>
            <a:endParaRPr lang="en-SG"/>
          </a:p>
        </p:txBody>
      </p:sp>
    </p:spTree>
    <p:extLst>
      <p:ext uri="{BB962C8B-B14F-4D97-AF65-F5344CB8AC3E}">
        <p14:creationId xmlns:p14="http://schemas.microsoft.com/office/powerpoint/2010/main" val="8548374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7D4F66-85CE-8083-1D10-7FD6ACA0502F}"/>
              </a:ext>
            </a:extLst>
          </p:cNvPr>
          <p:cNvSpPr>
            <a:spLocks noGrp="1"/>
          </p:cNvSpPr>
          <p:nvPr>
            <p:ph type="title"/>
          </p:nvPr>
        </p:nvSpPr>
        <p:spPr/>
        <p:txBody>
          <a:bodyPr/>
          <a:lstStyle/>
          <a:p>
            <a:r>
              <a:rPr lang="en-GB"/>
              <a:t>Click to edit Master title style</a:t>
            </a:r>
            <a:endParaRPr lang="en-SG"/>
          </a:p>
        </p:txBody>
      </p:sp>
      <p:sp>
        <p:nvSpPr>
          <p:cNvPr id="3" name="Date Placeholder 2">
            <a:extLst>
              <a:ext uri="{FF2B5EF4-FFF2-40B4-BE49-F238E27FC236}">
                <a16:creationId xmlns:a16="http://schemas.microsoft.com/office/drawing/2014/main" id="{801D6E20-F1DE-F5DA-953D-4BDDF0702309}"/>
              </a:ext>
            </a:extLst>
          </p:cNvPr>
          <p:cNvSpPr>
            <a:spLocks noGrp="1"/>
          </p:cNvSpPr>
          <p:nvPr>
            <p:ph type="dt" sz="half" idx="10"/>
          </p:nvPr>
        </p:nvSpPr>
        <p:spPr/>
        <p:txBody>
          <a:bodyPr/>
          <a:lstStyle/>
          <a:p>
            <a:fld id="{F0A1943E-1E32-4B96-8C44-DD4275251E58}" type="datetimeFigureOut">
              <a:rPr lang="en-SG" smtClean="0"/>
              <a:t>29/10/2026</a:t>
            </a:fld>
            <a:endParaRPr lang="en-SG"/>
          </a:p>
        </p:txBody>
      </p:sp>
      <p:sp>
        <p:nvSpPr>
          <p:cNvPr id="4" name="Footer Placeholder 3">
            <a:extLst>
              <a:ext uri="{FF2B5EF4-FFF2-40B4-BE49-F238E27FC236}">
                <a16:creationId xmlns:a16="http://schemas.microsoft.com/office/drawing/2014/main" id="{61F8AE4D-94C3-3357-0269-8F352FA3242A}"/>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322A0619-6E01-F3EE-8F80-BB4241CA9CAA}"/>
              </a:ext>
            </a:extLst>
          </p:cNvPr>
          <p:cNvSpPr>
            <a:spLocks noGrp="1"/>
          </p:cNvSpPr>
          <p:nvPr>
            <p:ph type="sldNum" sz="quarter" idx="12"/>
          </p:nvPr>
        </p:nvSpPr>
        <p:spPr/>
        <p:txBody>
          <a:bodyPr/>
          <a:lstStyle/>
          <a:p>
            <a:fld id="{E59F19FD-A0E0-401C-896F-DD69BC76946C}" type="slidenum">
              <a:rPr lang="en-SG" smtClean="0"/>
              <a:t>‹#›</a:t>
            </a:fld>
            <a:endParaRPr lang="en-SG"/>
          </a:p>
        </p:txBody>
      </p:sp>
    </p:spTree>
    <p:extLst>
      <p:ext uri="{BB962C8B-B14F-4D97-AF65-F5344CB8AC3E}">
        <p14:creationId xmlns:p14="http://schemas.microsoft.com/office/powerpoint/2010/main" val="202034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A4A8CC5-EF16-D37A-0118-1070692DCA38}"/>
              </a:ext>
            </a:extLst>
          </p:cNvPr>
          <p:cNvSpPr>
            <a:spLocks noGrp="1"/>
          </p:cNvSpPr>
          <p:nvPr>
            <p:ph type="dt" sz="half" idx="10"/>
          </p:nvPr>
        </p:nvSpPr>
        <p:spPr/>
        <p:txBody>
          <a:bodyPr/>
          <a:lstStyle/>
          <a:p>
            <a:fld id="{F0A1943E-1E32-4B96-8C44-DD4275251E58}" type="datetimeFigureOut">
              <a:rPr lang="en-SG" smtClean="0"/>
              <a:t>29/10/2026</a:t>
            </a:fld>
            <a:endParaRPr lang="en-SG"/>
          </a:p>
        </p:txBody>
      </p:sp>
      <p:sp>
        <p:nvSpPr>
          <p:cNvPr id="3" name="Footer Placeholder 2">
            <a:extLst>
              <a:ext uri="{FF2B5EF4-FFF2-40B4-BE49-F238E27FC236}">
                <a16:creationId xmlns:a16="http://schemas.microsoft.com/office/drawing/2014/main" id="{650EDC1C-71D2-BA9C-C039-44E611DC769F}"/>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F038E95A-238D-C160-603B-CD34FFAE80BA}"/>
              </a:ext>
            </a:extLst>
          </p:cNvPr>
          <p:cNvSpPr>
            <a:spLocks noGrp="1"/>
          </p:cNvSpPr>
          <p:nvPr>
            <p:ph type="sldNum" sz="quarter" idx="12"/>
          </p:nvPr>
        </p:nvSpPr>
        <p:spPr/>
        <p:txBody>
          <a:bodyPr/>
          <a:lstStyle/>
          <a:p>
            <a:fld id="{E59F19FD-A0E0-401C-896F-DD69BC76946C}" type="slidenum">
              <a:rPr lang="en-SG" smtClean="0"/>
              <a:t>‹#›</a:t>
            </a:fld>
            <a:endParaRPr lang="en-SG"/>
          </a:p>
        </p:txBody>
      </p:sp>
    </p:spTree>
    <p:extLst>
      <p:ext uri="{BB962C8B-B14F-4D97-AF65-F5344CB8AC3E}">
        <p14:creationId xmlns:p14="http://schemas.microsoft.com/office/powerpoint/2010/main" val="1347403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F892C-5E57-B7CD-5DFB-8B17DECA440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Content Placeholder 2">
            <a:extLst>
              <a:ext uri="{FF2B5EF4-FFF2-40B4-BE49-F238E27FC236}">
                <a16:creationId xmlns:a16="http://schemas.microsoft.com/office/drawing/2014/main" id="{A50C05AF-59D1-0871-82D3-07E3532257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Text Placeholder 3">
            <a:extLst>
              <a:ext uri="{FF2B5EF4-FFF2-40B4-BE49-F238E27FC236}">
                <a16:creationId xmlns:a16="http://schemas.microsoft.com/office/drawing/2014/main" id="{65E5F7D3-8AC3-11FD-3673-86D2F9011A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7F00930-0621-5DDD-BAE2-833C704BC7F3}"/>
              </a:ext>
            </a:extLst>
          </p:cNvPr>
          <p:cNvSpPr>
            <a:spLocks noGrp="1"/>
          </p:cNvSpPr>
          <p:nvPr>
            <p:ph type="dt" sz="half" idx="10"/>
          </p:nvPr>
        </p:nvSpPr>
        <p:spPr/>
        <p:txBody>
          <a:bodyPr/>
          <a:lstStyle/>
          <a:p>
            <a:fld id="{F0A1943E-1E32-4B96-8C44-DD4275251E58}" type="datetimeFigureOut">
              <a:rPr lang="en-SG" smtClean="0"/>
              <a:t>29/10/2026</a:t>
            </a:fld>
            <a:endParaRPr lang="en-SG"/>
          </a:p>
        </p:txBody>
      </p:sp>
      <p:sp>
        <p:nvSpPr>
          <p:cNvPr id="6" name="Footer Placeholder 5">
            <a:extLst>
              <a:ext uri="{FF2B5EF4-FFF2-40B4-BE49-F238E27FC236}">
                <a16:creationId xmlns:a16="http://schemas.microsoft.com/office/drawing/2014/main" id="{FB780ED6-9381-4ACC-4B10-A172706F48DF}"/>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4ABD81E0-C53E-E96E-459B-F6D6B9EB4DBD}"/>
              </a:ext>
            </a:extLst>
          </p:cNvPr>
          <p:cNvSpPr>
            <a:spLocks noGrp="1"/>
          </p:cNvSpPr>
          <p:nvPr>
            <p:ph type="sldNum" sz="quarter" idx="12"/>
          </p:nvPr>
        </p:nvSpPr>
        <p:spPr/>
        <p:txBody>
          <a:bodyPr/>
          <a:lstStyle/>
          <a:p>
            <a:fld id="{E59F19FD-A0E0-401C-896F-DD69BC76946C}" type="slidenum">
              <a:rPr lang="en-SG" smtClean="0"/>
              <a:t>‹#›</a:t>
            </a:fld>
            <a:endParaRPr lang="en-SG"/>
          </a:p>
        </p:txBody>
      </p:sp>
    </p:spTree>
    <p:extLst>
      <p:ext uri="{BB962C8B-B14F-4D97-AF65-F5344CB8AC3E}">
        <p14:creationId xmlns:p14="http://schemas.microsoft.com/office/powerpoint/2010/main" val="6998319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9EDCC-8D05-C045-F642-716495423F8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Picture Placeholder 2">
            <a:extLst>
              <a:ext uri="{FF2B5EF4-FFF2-40B4-BE49-F238E27FC236}">
                <a16:creationId xmlns:a16="http://schemas.microsoft.com/office/drawing/2014/main" id="{159B3CBE-DCEF-8D71-1309-7FA41CB4D46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61C4A0A9-9B29-D1AE-3700-5CB0904B0D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2A1444F-4A28-EED5-BDCA-3E19060BE11B}"/>
              </a:ext>
            </a:extLst>
          </p:cNvPr>
          <p:cNvSpPr>
            <a:spLocks noGrp="1"/>
          </p:cNvSpPr>
          <p:nvPr>
            <p:ph type="dt" sz="half" idx="10"/>
          </p:nvPr>
        </p:nvSpPr>
        <p:spPr/>
        <p:txBody>
          <a:bodyPr/>
          <a:lstStyle/>
          <a:p>
            <a:fld id="{F0A1943E-1E32-4B96-8C44-DD4275251E58}" type="datetimeFigureOut">
              <a:rPr lang="en-SG" smtClean="0"/>
              <a:t>29/10/2026</a:t>
            </a:fld>
            <a:endParaRPr lang="en-SG"/>
          </a:p>
        </p:txBody>
      </p:sp>
      <p:sp>
        <p:nvSpPr>
          <p:cNvPr id="6" name="Footer Placeholder 5">
            <a:extLst>
              <a:ext uri="{FF2B5EF4-FFF2-40B4-BE49-F238E27FC236}">
                <a16:creationId xmlns:a16="http://schemas.microsoft.com/office/drawing/2014/main" id="{DEB0FE56-950B-D17F-85B1-50038D51241A}"/>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31ED90B7-314B-27AA-1C00-FE8151DF04FF}"/>
              </a:ext>
            </a:extLst>
          </p:cNvPr>
          <p:cNvSpPr>
            <a:spLocks noGrp="1"/>
          </p:cNvSpPr>
          <p:nvPr>
            <p:ph type="sldNum" sz="quarter" idx="12"/>
          </p:nvPr>
        </p:nvSpPr>
        <p:spPr/>
        <p:txBody>
          <a:bodyPr/>
          <a:lstStyle/>
          <a:p>
            <a:fld id="{E59F19FD-A0E0-401C-896F-DD69BC76946C}" type="slidenum">
              <a:rPr lang="en-SG" smtClean="0"/>
              <a:t>‹#›</a:t>
            </a:fld>
            <a:endParaRPr lang="en-SG"/>
          </a:p>
        </p:txBody>
      </p:sp>
    </p:spTree>
    <p:extLst>
      <p:ext uri="{BB962C8B-B14F-4D97-AF65-F5344CB8AC3E}">
        <p14:creationId xmlns:p14="http://schemas.microsoft.com/office/powerpoint/2010/main" val="40915094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4C64DF-9085-850C-A99E-E2C0FE2736F1}"/>
              </a:ext>
            </a:extLst>
          </p:cNvPr>
          <p:cNvSpPr>
            <a:spLocks noGrp="1"/>
          </p:cNvSpPr>
          <p:nvPr>
            <p:ph type="title"/>
          </p:nvPr>
        </p:nvSpPr>
        <p:spPr/>
        <p:txBody>
          <a:bodyPr/>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FE8E89CC-8E66-09A3-BCAF-F8DCEC6102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7630C4CE-B9E6-ED04-F30D-74F7010999D2}"/>
              </a:ext>
            </a:extLst>
          </p:cNvPr>
          <p:cNvSpPr>
            <a:spLocks noGrp="1"/>
          </p:cNvSpPr>
          <p:nvPr>
            <p:ph type="dt" sz="half" idx="10"/>
          </p:nvPr>
        </p:nvSpPr>
        <p:spPr/>
        <p:txBody>
          <a:bodyPr/>
          <a:lstStyle/>
          <a:p>
            <a:fld id="{F0A1943E-1E32-4B96-8C44-DD4275251E58}" type="datetimeFigureOut">
              <a:rPr lang="en-SG" smtClean="0"/>
              <a:t>29/10/2026</a:t>
            </a:fld>
            <a:endParaRPr lang="en-SG"/>
          </a:p>
        </p:txBody>
      </p:sp>
      <p:sp>
        <p:nvSpPr>
          <p:cNvPr id="5" name="Footer Placeholder 4">
            <a:extLst>
              <a:ext uri="{FF2B5EF4-FFF2-40B4-BE49-F238E27FC236}">
                <a16:creationId xmlns:a16="http://schemas.microsoft.com/office/drawing/2014/main" id="{06A13E68-2619-952F-4073-122D20BE2F94}"/>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D4559A77-9CC5-12D7-0106-87DA674DE158}"/>
              </a:ext>
            </a:extLst>
          </p:cNvPr>
          <p:cNvSpPr>
            <a:spLocks noGrp="1"/>
          </p:cNvSpPr>
          <p:nvPr>
            <p:ph type="sldNum" sz="quarter" idx="12"/>
          </p:nvPr>
        </p:nvSpPr>
        <p:spPr/>
        <p:txBody>
          <a:bodyPr/>
          <a:lstStyle/>
          <a:p>
            <a:fld id="{E59F19FD-A0E0-401C-896F-DD69BC76946C}" type="slidenum">
              <a:rPr lang="en-SG" smtClean="0"/>
              <a:t>‹#›</a:t>
            </a:fld>
            <a:endParaRPr lang="en-SG"/>
          </a:p>
        </p:txBody>
      </p:sp>
    </p:spTree>
    <p:extLst>
      <p:ext uri="{BB962C8B-B14F-4D97-AF65-F5344CB8AC3E}">
        <p14:creationId xmlns:p14="http://schemas.microsoft.com/office/powerpoint/2010/main" val="19107695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AE6C81A-F3C1-E64C-1C08-6A54A143112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58653A34-DBF1-290A-1C9A-B72771B17346}"/>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262E88C1-6957-6711-54F9-D4C338486D7A}"/>
              </a:ext>
            </a:extLst>
          </p:cNvPr>
          <p:cNvSpPr>
            <a:spLocks noGrp="1"/>
          </p:cNvSpPr>
          <p:nvPr>
            <p:ph type="dt" sz="half" idx="10"/>
          </p:nvPr>
        </p:nvSpPr>
        <p:spPr/>
        <p:txBody>
          <a:bodyPr/>
          <a:lstStyle/>
          <a:p>
            <a:fld id="{F0A1943E-1E32-4B96-8C44-DD4275251E58}" type="datetimeFigureOut">
              <a:rPr lang="en-SG" smtClean="0"/>
              <a:t>29/10/2026</a:t>
            </a:fld>
            <a:endParaRPr lang="en-SG"/>
          </a:p>
        </p:txBody>
      </p:sp>
      <p:sp>
        <p:nvSpPr>
          <p:cNvPr id="5" name="Footer Placeholder 4">
            <a:extLst>
              <a:ext uri="{FF2B5EF4-FFF2-40B4-BE49-F238E27FC236}">
                <a16:creationId xmlns:a16="http://schemas.microsoft.com/office/drawing/2014/main" id="{7EF7F654-67E0-2F61-DB16-E9248A0444F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44CD7462-4397-CE66-E7AF-FE933CE37047}"/>
              </a:ext>
            </a:extLst>
          </p:cNvPr>
          <p:cNvSpPr>
            <a:spLocks noGrp="1"/>
          </p:cNvSpPr>
          <p:nvPr>
            <p:ph type="sldNum" sz="quarter" idx="12"/>
          </p:nvPr>
        </p:nvSpPr>
        <p:spPr/>
        <p:txBody>
          <a:bodyPr/>
          <a:lstStyle/>
          <a:p>
            <a:fld id="{E59F19FD-A0E0-401C-896F-DD69BC76946C}" type="slidenum">
              <a:rPr lang="en-SG" smtClean="0"/>
              <a:t>‹#›</a:t>
            </a:fld>
            <a:endParaRPr lang="en-SG"/>
          </a:p>
        </p:txBody>
      </p:sp>
    </p:spTree>
    <p:extLst>
      <p:ext uri="{BB962C8B-B14F-4D97-AF65-F5344CB8AC3E}">
        <p14:creationId xmlns:p14="http://schemas.microsoft.com/office/powerpoint/2010/main" val="32842214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B1420"/>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53CDF4E-0669-A666-DD7C-8654CCA672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G"/>
          </a:p>
        </p:txBody>
      </p:sp>
      <p:sp>
        <p:nvSpPr>
          <p:cNvPr id="3" name="Text Placeholder 2">
            <a:extLst>
              <a:ext uri="{FF2B5EF4-FFF2-40B4-BE49-F238E27FC236}">
                <a16:creationId xmlns:a16="http://schemas.microsoft.com/office/drawing/2014/main" id="{1F7B2CA1-172D-098F-A03E-934B0A8ABD4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06A40643-69F8-7F29-D1E9-3F6084B6A49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0A1943E-1E32-4B96-8C44-DD4275251E58}" type="datetimeFigureOut">
              <a:rPr lang="en-SG" smtClean="0"/>
              <a:t>29/10/2026</a:t>
            </a:fld>
            <a:endParaRPr lang="en-SG"/>
          </a:p>
        </p:txBody>
      </p:sp>
      <p:sp>
        <p:nvSpPr>
          <p:cNvPr id="5" name="Footer Placeholder 4">
            <a:extLst>
              <a:ext uri="{FF2B5EF4-FFF2-40B4-BE49-F238E27FC236}">
                <a16:creationId xmlns:a16="http://schemas.microsoft.com/office/drawing/2014/main" id="{38D2EB71-E8BF-CDF5-AC31-1E041743C8A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06CB26D2-6920-41DE-4196-6D66372AEE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59F19FD-A0E0-401C-896F-DD69BC76946C}" type="slidenum">
              <a:rPr lang="en-SG" smtClean="0"/>
              <a:t>‹#›</a:t>
            </a:fld>
            <a:endParaRPr lang="en-SG"/>
          </a:p>
        </p:txBody>
      </p:sp>
    </p:spTree>
    <p:extLst>
      <p:ext uri="{BB962C8B-B14F-4D97-AF65-F5344CB8AC3E}">
        <p14:creationId xmlns:p14="http://schemas.microsoft.com/office/powerpoint/2010/main" val="9734526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420"/>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779D23FD-8502-9D32-4828-068D8BEA2791}"/>
              </a:ext>
            </a:extLst>
          </p:cNvPr>
          <p:cNvCxnSpPr/>
          <p:nvPr/>
        </p:nvCxnSpPr>
        <p:spPr>
          <a:xfrm>
            <a:off x="6794500" y="3429000"/>
            <a:ext cx="6477000" cy="0"/>
          </a:xfrm>
          <a:prstGeom prst="line">
            <a:avLst/>
          </a:prstGeom>
          <a:ln w="12700">
            <a:solidFill>
              <a:srgbClr val="24364D"/>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162E1499-6D18-E4AA-FD90-F480CC16B751}"/>
              </a:ext>
            </a:extLst>
          </p:cNvPr>
          <p:cNvCxnSpPr/>
          <p:nvPr/>
        </p:nvCxnSpPr>
        <p:spPr>
          <a:xfrm>
            <a:off x="10033000" y="190500"/>
            <a:ext cx="0" cy="6477000"/>
          </a:xfrm>
          <a:prstGeom prst="line">
            <a:avLst/>
          </a:prstGeom>
          <a:ln w="12700">
            <a:solidFill>
              <a:srgbClr val="24364D"/>
            </a:solidFill>
          </a:ln>
        </p:spPr>
        <p:style>
          <a:lnRef idx="2">
            <a:schemeClr val="accent1"/>
          </a:lnRef>
          <a:fillRef idx="0">
            <a:schemeClr val="accent1"/>
          </a:fillRef>
          <a:effectRef idx="1">
            <a:schemeClr val="accent1"/>
          </a:effectRef>
          <a:fontRef idx="minor">
            <a:schemeClr val="tx1"/>
          </a:fontRef>
        </p:style>
      </p:cxnSp>
      <p:sp>
        <p:nvSpPr>
          <p:cNvPr id="6" name="Oval 5">
            <a:extLst>
              <a:ext uri="{FF2B5EF4-FFF2-40B4-BE49-F238E27FC236}">
                <a16:creationId xmlns:a16="http://schemas.microsoft.com/office/drawing/2014/main" id="{FD08D4A5-F3F3-0198-0C25-A0C83B0CE0BB}"/>
              </a:ext>
            </a:extLst>
          </p:cNvPr>
          <p:cNvSpPr/>
          <p:nvPr/>
        </p:nvSpPr>
        <p:spPr>
          <a:xfrm>
            <a:off x="6794500" y="190500"/>
            <a:ext cx="6477000" cy="6477000"/>
          </a:xfrm>
          <a:prstGeom prst="ellipse">
            <a:avLst/>
          </a:prstGeom>
          <a:noFill/>
          <a:ln w="19050" cap="flat" cmpd="sng" algn="ctr">
            <a:solidFill>
              <a:srgbClr val="24364D"/>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264728CE-0783-744C-D6D9-00EAFD969775}"/>
              </a:ext>
            </a:extLst>
          </p:cNvPr>
          <p:cNvSpPr/>
          <p:nvPr/>
        </p:nvSpPr>
        <p:spPr>
          <a:xfrm>
            <a:off x="7429500" y="825500"/>
            <a:ext cx="5207000" cy="5207000"/>
          </a:xfrm>
          <a:prstGeom prst="ellipse">
            <a:avLst/>
          </a:prstGeom>
          <a:noFill/>
          <a:ln w="19050" cap="flat" cmpd="sng" algn="ctr">
            <a:solidFill>
              <a:srgbClr val="24364D"/>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Oval 3">
            <a:extLst>
              <a:ext uri="{FF2B5EF4-FFF2-40B4-BE49-F238E27FC236}">
                <a16:creationId xmlns:a16="http://schemas.microsoft.com/office/drawing/2014/main" id="{CE015EF2-3F93-009D-5006-69C19AC99C87}"/>
              </a:ext>
            </a:extLst>
          </p:cNvPr>
          <p:cNvSpPr/>
          <p:nvPr/>
        </p:nvSpPr>
        <p:spPr>
          <a:xfrm>
            <a:off x="8255000" y="1651000"/>
            <a:ext cx="3556000" cy="3556000"/>
          </a:xfrm>
          <a:prstGeom prst="ellipse">
            <a:avLst/>
          </a:prstGeom>
          <a:noFill/>
          <a:ln w="19050" cap="flat" cmpd="sng" algn="ctr">
            <a:solidFill>
              <a:srgbClr val="24364D"/>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Oval 2">
            <a:extLst>
              <a:ext uri="{FF2B5EF4-FFF2-40B4-BE49-F238E27FC236}">
                <a16:creationId xmlns:a16="http://schemas.microsoft.com/office/drawing/2014/main" id="{28054665-1D58-AC06-99F5-2EEE77AE8C66}"/>
              </a:ext>
            </a:extLst>
          </p:cNvPr>
          <p:cNvSpPr/>
          <p:nvPr/>
        </p:nvSpPr>
        <p:spPr>
          <a:xfrm>
            <a:off x="9144000" y="2540000"/>
            <a:ext cx="1778000" cy="1778000"/>
          </a:xfrm>
          <a:prstGeom prst="ellipse">
            <a:avLst/>
          </a:prstGeom>
          <a:noFill/>
          <a:ln w="19050" cap="flat" cmpd="sng" algn="ctr">
            <a:solidFill>
              <a:srgbClr val="24364D"/>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 name="Title 1" descr="Adaptive CGF Trainer">
            <a:extLst>
              <a:ext uri="{FF2B5EF4-FFF2-40B4-BE49-F238E27FC236}">
                <a16:creationId xmlns:a16="http://schemas.microsoft.com/office/drawing/2014/main" id="{58945412-6CB2-B8CA-EEF5-AA09FA69C026}"/>
              </a:ext>
            </a:extLst>
          </p:cNvPr>
          <p:cNvSpPr>
            <a:spLocks noGrp="1"/>
          </p:cNvSpPr>
          <p:nvPr>
            <p:ph type="title"/>
          </p:nvPr>
        </p:nvSpPr>
        <p:spPr>
          <a:xfrm>
            <a:off x="609600" y="2133599"/>
            <a:ext cx="6604000" cy="1778000"/>
          </a:xfrm>
        </p:spPr>
        <p:txBody>
          <a:bodyPr wrap="square" lIns="0" tIns="0" rIns="0" bIns="0" anchor="t">
            <a:noAutofit/>
          </a:bodyPr>
          <a:lstStyle/>
          <a:p>
            <a:r>
              <a:rPr lang="en-SG" sz="6000" b="1">
                <a:solidFill>
                  <a:srgbClr val="E6EDF5"/>
                </a:solidFill>
                <a:latin typeface="Segoe UI" panose="020B0502040204020203" pitchFamily="34" charset="0"/>
              </a:rPr>
              <a:t>Adaptive CGF Trainer</a:t>
            </a:r>
          </a:p>
        </p:txBody>
      </p:sp>
      <p:cxnSp>
        <p:nvCxnSpPr>
          <p:cNvPr id="9" name="Straight Connector 8">
            <a:extLst>
              <a:ext uri="{FF2B5EF4-FFF2-40B4-BE49-F238E27FC236}">
                <a16:creationId xmlns:a16="http://schemas.microsoft.com/office/drawing/2014/main" id="{C46A0D2D-B8BD-7CFF-FA22-EB3FC40FD0E5}"/>
              </a:ext>
            </a:extLst>
          </p:cNvPr>
          <p:cNvCxnSpPr/>
          <p:nvPr/>
        </p:nvCxnSpPr>
        <p:spPr>
          <a:xfrm flipV="1">
            <a:off x="10033000" y="1206500"/>
            <a:ext cx="2222500" cy="2222500"/>
          </a:xfrm>
          <a:prstGeom prst="line">
            <a:avLst/>
          </a:prstGeom>
          <a:ln w="25400">
            <a:solidFill>
              <a:srgbClr val="B58CFF"/>
            </a:solidFill>
          </a:ln>
        </p:spPr>
        <p:style>
          <a:lnRef idx="2">
            <a:schemeClr val="accent1"/>
          </a:lnRef>
          <a:fillRef idx="0">
            <a:schemeClr val="accent1"/>
          </a:fillRef>
          <a:effectRef idx="1">
            <a:schemeClr val="accent1"/>
          </a:effectRef>
          <a:fontRef idx="minor">
            <a:schemeClr val="tx1"/>
          </a:fontRef>
        </p:style>
      </p:cxnSp>
      <p:sp>
        <p:nvSpPr>
          <p:cNvPr id="10" name="Oval 9">
            <a:extLst>
              <a:ext uri="{FF2B5EF4-FFF2-40B4-BE49-F238E27FC236}">
                <a16:creationId xmlns:a16="http://schemas.microsoft.com/office/drawing/2014/main" id="{20D00931-1580-3C87-91BC-2984EF51D90B}"/>
              </a:ext>
            </a:extLst>
          </p:cNvPr>
          <p:cNvSpPr/>
          <p:nvPr/>
        </p:nvSpPr>
        <p:spPr>
          <a:xfrm>
            <a:off x="9931400" y="3327400"/>
            <a:ext cx="203200" cy="203200"/>
          </a:xfrm>
          <a:prstGeom prst="ellipse">
            <a:avLst/>
          </a:prstGeom>
          <a:solidFill>
            <a:srgbClr val="00A8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Oval 10">
            <a:extLst>
              <a:ext uri="{FF2B5EF4-FFF2-40B4-BE49-F238E27FC236}">
                <a16:creationId xmlns:a16="http://schemas.microsoft.com/office/drawing/2014/main" id="{34F2FE40-F02D-BD56-0C64-73E675FB23E6}"/>
              </a:ext>
            </a:extLst>
          </p:cNvPr>
          <p:cNvSpPr/>
          <p:nvPr/>
        </p:nvSpPr>
        <p:spPr>
          <a:xfrm>
            <a:off x="9817100" y="3213100"/>
            <a:ext cx="431800" cy="431800"/>
          </a:xfrm>
          <a:prstGeom prst="ellipse">
            <a:avLst/>
          </a:prstGeom>
          <a:noFill/>
          <a:ln w="25400" cap="flat" cmpd="sng" algn="ctr">
            <a:solidFill>
              <a:srgbClr val="80E0FF"/>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Diamond 11">
            <a:extLst>
              <a:ext uri="{FF2B5EF4-FFF2-40B4-BE49-F238E27FC236}">
                <a16:creationId xmlns:a16="http://schemas.microsoft.com/office/drawing/2014/main" id="{579EC8BA-46ED-BBAD-F5BB-A799B23A761B}"/>
              </a:ext>
            </a:extLst>
          </p:cNvPr>
          <p:cNvSpPr/>
          <p:nvPr/>
        </p:nvSpPr>
        <p:spPr>
          <a:xfrm>
            <a:off x="10998200" y="17780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Diamond 12">
            <a:extLst>
              <a:ext uri="{FF2B5EF4-FFF2-40B4-BE49-F238E27FC236}">
                <a16:creationId xmlns:a16="http://schemas.microsoft.com/office/drawing/2014/main" id="{6243305C-6E42-0AA0-A5EB-99A077AA2383}"/>
              </a:ext>
            </a:extLst>
          </p:cNvPr>
          <p:cNvSpPr/>
          <p:nvPr/>
        </p:nvSpPr>
        <p:spPr>
          <a:xfrm>
            <a:off x="8356600" y="13716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Diamond 13">
            <a:extLst>
              <a:ext uri="{FF2B5EF4-FFF2-40B4-BE49-F238E27FC236}">
                <a16:creationId xmlns:a16="http://schemas.microsoft.com/office/drawing/2014/main" id="{ACC50FA7-A9DD-3CE1-84C6-B51580E19C7C}"/>
              </a:ext>
            </a:extLst>
          </p:cNvPr>
          <p:cNvSpPr/>
          <p:nvPr/>
        </p:nvSpPr>
        <p:spPr>
          <a:xfrm>
            <a:off x="8610600" y="46101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Rectangle 14">
            <a:extLst>
              <a:ext uri="{FF2B5EF4-FFF2-40B4-BE49-F238E27FC236}">
                <a16:creationId xmlns:a16="http://schemas.microsoft.com/office/drawing/2014/main" id="{6EB3E161-2830-A720-DC91-784861B3504A}"/>
              </a:ext>
            </a:extLst>
          </p:cNvPr>
          <p:cNvSpPr/>
          <p:nvPr/>
        </p:nvSpPr>
        <p:spPr>
          <a:xfrm>
            <a:off x="11531600" y="4597400"/>
            <a:ext cx="228600" cy="228600"/>
          </a:xfrm>
          <a:prstGeom prst="rect">
            <a:avLst/>
          </a:prstGeom>
          <a:noFill/>
          <a:ln w="28575" cap="flat" cmpd="sng" algn="ctr">
            <a:solidFill>
              <a:srgbClr val="AAFFAA"/>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6" name="TextBox 15">
            <a:extLst>
              <a:ext uri="{FF2B5EF4-FFF2-40B4-BE49-F238E27FC236}">
                <a16:creationId xmlns:a16="http://schemas.microsoft.com/office/drawing/2014/main" id="{75606643-A296-7227-DBDE-6E2C4ACE009A}"/>
              </a:ext>
            </a:extLst>
          </p:cNvPr>
          <p:cNvSpPr txBox="1"/>
          <p:nvPr/>
        </p:nvSpPr>
        <p:spPr>
          <a:xfrm>
            <a:off x="609600" y="1727200"/>
            <a:ext cx="6604000" cy="254000"/>
          </a:xfrm>
          <a:prstGeom prst="rect">
            <a:avLst/>
          </a:prstGeom>
          <a:noFill/>
        </p:spPr>
        <p:txBody>
          <a:bodyPr vert="horz" wrap="square" lIns="0" tIns="0" rIns="0" bIns="0" rtlCol="0">
            <a:noAutofit/>
          </a:bodyPr>
          <a:lstStyle/>
          <a:p>
            <a:r>
              <a:rPr lang="en-SG" sz="1400">
                <a:solidFill>
                  <a:srgbClr val="4DA6FF"/>
                </a:solidFill>
                <a:latin typeface="Consolas" panose="020B0609020204030204" pitchFamily="49" charset="0"/>
              </a:rPr>
              <a:t>HACKATHON PROTOTYPE  ·  SYNTHETIC DATA</a:t>
            </a:r>
          </a:p>
        </p:txBody>
      </p:sp>
      <p:sp>
        <p:nvSpPr>
          <p:cNvPr id="17" name="TextBox 16">
            <a:extLst>
              <a:ext uri="{FF2B5EF4-FFF2-40B4-BE49-F238E27FC236}">
                <a16:creationId xmlns:a16="http://schemas.microsoft.com/office/drawing/2014/main" id="{5C62B045-F29A-31F6-97B4-21F8F9413767}"/>
              </a:ext>
            </a:extLst>
          </p:cNvPr>
          <p:cNvSpPr txBox="1"/>
          <p:nvPr/>
        </p:nvSpPr>
        <p:spPr>
          <a:xfrm>
            <a:off x="609600" y="4038600"/>
            <a:ext cx="5969000" cy="1270000"/>
          </a:xfrm>
          <a:prstGeom prst="rect">
            <a:avLst/>
          </a:prstGeom>
          <a:noFill/>
        </p:spPr>
        <p:txBody>
          <a:bodyPr vert="horz" wrap="square" lIns="0" tIns="0" rIns="0" bIns="0" rtlCol="0">
            <a:noAutofit/>
          </a:bodyPr>
          <a:lstStyle/>
          <a:p>
            <a:r>
              <a:rPr lang="en-SG" sz="2000">
                <a:solidFill>
                  <a:srgbClr val="D6E2F0"/>
                </a:solidFill>
                <a:latin typeface="Segoe UI" panose="020B0502040204020203" pitchFamily="34" charset="0"/>
              </a:rPr>
              <a:t>Computer-generated forces that find each trainee’s focus area, work inside limits the instructor sets, and explain every move.</a:t>
            </a:r>
          </a:p>
        </p:txBody>
      </p:sp>
      <p:sp>
        <p:nvSpPr>
          <p:cNvPr id="18" name="TextBox 17">
            <a:extLst>
              <a:ext uri="{FF2B5EF4-FFF2-40B4-BE49-F238E27FC236}">
                <a16:creationId xmlns:a16="http://schemas.microsoft.com/office/drawing/2014/main" id="{C52993D2-3DCD-E6A0-919A-3C879FEA096D}"/>
              </a:ext>
            </a:extLst>
          </p:cNvPr>
          <p:cNvSpPr txBox="1"/>
          <p:nvPr/>
        </p:nvSpPr>
        <p:spPr>
          <a:xfrm>
            <a:off x="609600" y="5537200"/>
            <a:ext cx="5969000" cy="304800"/>
          </a:xfrm>
          <a:prstGeom prst="rect">
            <a:avLst/>
          </a:prstGeom>
          <a:noFill/>
        </p:spPr>
        <p:txBody>
          <a:bodyPr vert="horz" wrap="square" lIns="0" tIns="0" rIns="0" bIns="0" rtlCol="0">
            <a:noAutofit/>
          </a:bodyPr>
          <a:lstStyle/>
          <a:p>
            <a:r>
              <a:rPr lang="en-SG" sz="1600">
                <a:solidFill>
                  <a:srgbClr val="8AA0B8"/>
                </a:solidFill>
                <a:latin typeface="Segoe UI" panose="020B0502040204020203" pitchFamily="34" charset="0"/>
              </a:rPr>
              <a:t>Air, sea and land platforms. Runs offline from a file.</a:t>
            </a:r>
          </a:p>
        </p:txBody>
      </p:sp>
    </p:spTree>
    <p:extLst>
      <p:ext uri="{BB962C8B-B14F-4D97-AF65-F5344CB8AC3E}">
        <p14:creationId xmlns:p14="http://schemas.microsoft.com/office/powerpoint/2010/main" val="11749688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11C2B"/>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A92C8-ADE9-CBA9-853D-AF0DE51696F4}"/>
              </a:ext>
            </a:extLst>
          </p:cNvPr>
          <p:cNvSpPr>
            <a:spLocks noGrp="1"/>
          </p:cNvSpPr>
          <p:nvPr>
            <p:ph type="title"/>
          </p:nvPr>
        </p:nvSpPr>
        <p:spPr>
          <a:xfrm>
            <a:off x="609600" y="787400"/>
            <a:ext cx="10972800" cy="1270000"/>
          </a:xfrm>
        </p:spPr>
        <p:txBody>
          <a:bodyPr wrap="square" lIns="0" tIns="0" rIns="0" bIns="0" anchor="t">
            <a:noAutofit/>
          </a:bodyPr>
          <a:lstStyle/>
          <a:p>
            <a:r>
              <a:rPr lang="en-SG" sz="4000" b="1">
                <a:solidFill>
                  <a:srgbClr val="E6EDF5"/>
                </a:solidFill>
                <a:latin typeface="Segoe UI" panose="020B0502040204020203" pitchFamily="34" charset="0"/>
              </a:rPr>
              <a:t>One instructor, many trainees, one scripted enemy</a:t>
            </a:r>
          </a:p>
        </p:txBody>
      </p:sp>
      <p:sp>
        <p:nvSpPr>
          <p:cNvPr id="3" name="TextBox 2">
            <a:extLst>
              <a:ext uri="{FF2B5EF4-FFF2-40B4-BE49-F238E27FC236}">
                <a16:creationId xmlns:a16="http://schemas.microsoft.com/office/drawing/2014/main" id="{E93B6706-642D-5762-186F-5532A3736300}"/>
              </a:ext>
            </a:extLst>
          </p:cNvPr>
          <p:cNvSpPr txBox="1"/>
          <p:nvPr/>
        </p:nvSpPr>
        <p:spPr>
          <a:xfrm>
            <a:off x="609600" y="457200"/>
            <a:ext cx="8890000" cy="254000"/>
          </a:xfrm>
          <a:prstGeom prst="rect">
            <a:avLst/>
          </a:prstGeom>
          <a:noFill/>
        </p:spPr>
        <p:txBody>
          <a:bodyPr vert="horz" wrap="square" lIns="0" tIns="0" rIns="0" bIns="0" rtlCol="0">
            <a:noAutofit/>
          </a:bodyPr>
          <a:lstStyle/>
          <a:p>
            <a:r>
              <a:rPr lang="en-SG" sz="1400">
                <a:solidFill>
                  <a:srgbClr val="4DA6FF"/>
                </a:solidFill>
                <a:latin typeface="Consolas" panose="020B0609020204030204" pitchFamily="49" charset="0"/>
              </a:rPr>
              <a:t>01 · THE PROBLEM</a:t>
            </a:r>
          </a:p>
        </p:txBody>
      </p:sp>
      <p:sp>
        <p:nvSpPr>
          <p:cNvPr id="4" name="Rectangle: Rounded Corners 3">
            <a:extLst>
              <a:ext uri="{FF2B5EF4-FFF2-40B4-BE49-F238E27FC236}">
                <a16:creationId xmlns:a16="http://schemas.microsoft.com/office/drawing/2014/main" id="{6DB62C6F-C514-F3BE-5C04-1B1EA32F6BAA}"/>
              </a:ext>
            </a:extLst>
          </p:cNvPr>
          <p:cNvSpPr/>
          <p:nvPr/>
        </p:nvSpPr>
        <p:spPr>
          <a:xfrm>
            <a:off x="609600" y="2413000"/>
            <a:ext cx="3454400" cy="3175000"/>
          </a:xfrm>
          <a:prstGeom prst="roundRect">
            <a:avLst>
              <a:gd name="adj" fmla="val 6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9D440852-607E-1F9B-2369-904C9E0498B7}"/>
              </a:ext>
            </a:extLst>
          </p:cNvPr>
          <p:cNvSpPr txBox="1"/>
          <p:nvPr/>
        </p:nvSpPr>
        <p:spPr>
          <a:xfrm>
            <a:off x="863600" y="2641600"/>
            <a:ext cx="2946400" cy="254000"/>
          </a:xfrm>
          <a:prstGeom prst="rect">
            <a:avLst/>
          </a:prstGeom>
          <a:noFill/>
        </p:spPr>
        <p:txBody>
          <a:bodyPr vert="horz" wrap="square" lIns="0" tIns="0" rIns="0" bIns="0" rtlCol="0">
            <a:noAutofit/>
          </a:bodyPr>
          <a:lstStyle/>
          <a:p>
            <a:r>
              <a:rPr lang="en-SG" sz="1400">
                <a:solidFill>
                  <a:srgbClr val="8AA0B8"/>
                </a:solidFill>
                <a:latin typeface="Consolas" panose="020B0609020204030204" pitchFamily="49" charset="0"/>
              </a:rPr>
              <a:t>01</a:t>
            </a:r>
          </a:p>
        </p:txBody>
      </p:sp>
      <p:sp>
        <p:nvSpPr>
          <p:cNvPr id="6" name="TextBox 5">
            <a:extLst>
              <a:ext uri="{FF2B5EF4-FFF2-40B4-BE49-F238E27FC236}">
                <a16:creationId xmlns:a16="http://schemas.microsoft.com/office/drawing/2014/main" id="{F0C0AF6A-23E5-0684-4FF8-22E5758A8C0D}"/>
              </a:ext>
            </a:extLst>
          </p:cNvPr>
          <p:cNvSpPr txBox="1"/>
          <p:nvPr/>
        </p:nvSpPr>
        <p:spPr>
          <a:xfrm>
            <a:off x="863600" y="2971800"/>
            <a:ext cx="2946400" cy="762000"/>
          </a:xfrm>
          <a:prstGeom prst="rect">
            <a:avLst/>
          </a:prstGeom>
          <a:noFill/>
        </p:spPr>
        <p:txBody>
          <a:bodyPr vert="horz" wrap="square" lIns="0" tIns="0" rIns="0" bIns="0" rtlCol="0">
            <a:noAutofit/>
          </a:bodyPr>
          <a:lstStyle/>
          <a:p>
            <a:r>
              <a:rPr lang="en-SG" sz="2200" b="1">
                <a:solidFill>
                  <a:srgbClr val="E6EDF5"/>
                </a:solidFill>
                <a:latin typeface="Segoe UI" panose="020B0502040204020203" pitchFamily="34" charset="0"/>
              </a:rPr>
              <a:t>Same scenario for all</a:t>
            </a:r>
          </a:p>
        </p:txBody>
      </p:sp>
      <p:sp>
        <p:nvSpPr>
          <p:cNvPr id="7" name="TextBox 6">
            <a:extLst>
              <a:ext uri="{FF2B5EF4-FFF2-40B4-BE49-F238E27FC236}">
                <a16:creationId xmlns:a16="http://schemas.microsoft.com/office/drawing/2014/main" id="{E10F699E-A1E2-7AD0-F941-054B78ABAC2D}"/>
              </a:ext>
            </a:extLst>
          </p:cNvPr>
          <p:cNvSpPr txBox="1"/>
          <p:nvPr/>
        </p:nvSpPr>
        <p:spPr>
          <a:xfrm>
            <a:off x="863600" y="3733800"/>
            <a:ext cx="2946400" cy="1701800"/>
          </a:xfrm>
          <a:prstGeom prst="rect">
            <a:avLst/>
          </a:prstGeom>
          <a:noFill/>
        </p:spPr>
        <p:txBody>
          <a:bodyPr vert="horz" wrap="square" lIns="0" tIns="0" rIns="0" bIns="0" rtlCol="0">
            <a:noAutofit/>
          </a:bodyPr>
          <a:lstStyle/>
          <a:p>
            <a:r>
              <a:rPr lang="en-SG" sz="1600">
                <a:solidFill>
                  <a:srgbClr val="D6E2F0"/>
                </a:solidFill>
                <a:latin typeface="Segoe UI" panose="020B0502040204020203" pitchFamily="34" charset="0"/>
              </a:rPr>
              <a:t>Fixed scenarios train the average trainee.</a:t>
            </a:r>
          </a:p>
        </p:txBody>
      </p:sp>
      <p:sp>
        <p:nvSpPr>
          <p:cNvPr id="8" name="Rectangle: Rounded Corners 7">
            <a:extLst>
              <a:ext uri="{FF2B5EF4-FFF2-40B4-BE49-F238E27FC236}">
                <a16:creationId xmlns:a16="http://schemas.microsoft.com/office/drawing/2014/main" id="{DDDD6375-D544-2EBB-F2EA-16B82F24C139}"/>
              </a:ext>
            </a:extLst>
          </p:cNvPr>
          <p:cNvSpPr/>
          <p:nvPr/>
        </p:nvSpPr>
        <p:spPr>
          <a:xfrm>
            <a:off x="4368800" y="2413000"/>
            <a:ext cx="3454400" cy="3175000"/>
          </a:xfrm>
          <a:prstGeom prst="roundRect">
            <a:avLst>
              <a:gd name="adj" fmla="val 6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DA3AEE9C-22BC-1B30-2C27-6ED75685034A}"/>
              </a:ext>
            </a:extLst>
          </p:cNvPr>
          <p:cNvSpPr txBox="1"/>
          <p:nvPr/>
        </p:nvSpPr>
        <p:spPr>
          <a:xfrm>
            <a:off x="4622800" y="2641600"/>
            <a:ext cx="2946400" cy="254000"/>
          </a:xfrm>
          <a:prstGeom prst="rect">
            <a:avLst/>
          </a:prstGeom>
          <a:noFill/>
        </p:spPr>
        <p:txBody>
          <a:bodyPr vert="horz" wrap="square" lIns="0" tIns="0" rIns="0" bIns="0" rtlCol="0">
            <a:noAutofit/>
          </a:bodyPr>
          <a:lstStyle/>
          <a:p>
            <a:r>
              <a:rPr lang="en-SG" sz="1400">
                <a:solidFill>
                  <a:srgbClr val="8AA0B8"/>
                </a:solidFill>
                <a:latin typeface="Consolas" panose="020B0609020204030204" pitchFamily="49" charset="0"/>
              </a:rPr>
              <a:t>02</a:t>
            </a:r>
          </a:p>
        </p:txBody>
      </p:sp>
      <p:sp>
        <p:nvSpPr>
          <p:cNvPr id="10" name="TextBox 9">
            <a:extLst>
              <a:ext uri="{FF2B5EF4-FFF2-40B4-BE49-F238E27FC236}">
                <a16:creationId xmlns:a16="http://schemas.microsoft.com/office/drawing/2014/main" id="{DF694766-C3B0-1C00-4EEA-0AC315E13E2B}"/>
              </a:ext>
            </a:extLst>
          </p:cNvPr>
          <p:cNvSpPr txBox="1"/>
          <p:nvPr/>
        </p:nvSpPr>
        <p:spPr>
          <a:xfrm>
            <a:off x="4622800" y="2971800"/>
            <a:ext cx="2946400" cy="762000"/>
          </a:xfrm>
          <a:prstGeom prst="rect">
            <a:avLst/>
          </a:prstGeom>
          <a:noFill/>
        </p:spPr>
        <p:txBody>
          <a:bodyPr vert="horz" wrap="square" lIns="0" tIns="0" rIns="0" bIns="0" rtlCol="0">
            <a:noAutofit/>
          </a:bodyPr>
          <a:lstStyle/>
          <a:p>
            <a:r>
              <a:rPr lang="en-SG" sz="2200" b="1">
                <a:solidFill>
                  <a:srgbClr val="E6EDF5"/>
                </a:solidFill>
                <a:latin typeface="Segoe UI" panose="020B0502040204020203" pitchFamily="34" charset="0"/>
              </a:rPr>
              <a:t>Weak spots by chance</a:t>
            </a:r>
          </a:p>
        </p:txBody>
      </p:sp>
      <p:sp>
        <p:nvSpPr>
          <p:cNvPr id="11" name="TextBox 10">
            <a:extLst>
              <a:ext uri="{FF2B5EF4-FFF2-40B4-BE49-F238E27FC236}">
                <a16:creationId xmlns:a16="http://schemas.microsoft.com/office/drawing/2014/main" id="{51826E01-A889-ABF5-C9A2-7C55EA22BB6C}"/>
              </a:ext>
            </a:extLst>
          </p:cNvPr>
          <p:cNvSpPr txBox="1"/>
          <p:nvPr/>
        </p:nvSpPr>
        <p:spPr>
          <a:xfrm>
            <a:off x="4622800" y="3733800"/>
            <a:ext cx="2946400" cy="1701800"/>
          </a:xfrm>
          <a:prstGeom prst="rect">
            <a:avLst/>
          </a:prstGeom>
          <a:noFill/>
        </p:spPr>
        <p:txBody>
          <a:bodyPr vert="horz" wrap="square" lIns="0" tIns="0" rIns="0" bIns="0" rtlCol="0">
            <a:noAutofit/>
          </a:bodyPr>
          <a:lstStyle/>
          <a:p>
            <a:r>
              <a:rPr lang="en-SG" sz="1600">
                <a:solidFill>
                  <a:srgbClr val="D6E2F0"/>
                </a:solidFill>
                <a:latin typeface="Segoe UI" panose="020B0502040204020203" pitchFamily="34" charset="0"/>
              </a:rPr>
              <a:t>Each person’s focus area is practised only if the script happens to reach it.</a:t>
            </a:r>
          </a:p>
        </p:txBody>
      </p:sp>
      <p:sp>
        <p:nvSpPr>
          <p:cNvPr id="12" name="Rectangle: Rounded Corners 11">
            <a:extLst>
              <a:ext uri="{FF2B5EF4-FFF2-40B4-BE49-F238E27FC236}">
                <a16:creationId xmlns:a16="http://schemas.microsoft.com/office/drawing/2014/main" id="{F706F51C-B21A-367D-6B8A-6B560A1EB51A}"/>
              </a:ext>
            </a:extLst>
          </p:cNvPr>
          <p:cNvSpPr/>
          <p:nvPr/>
        </p:nvSpPr>
        <p:spPr>
          <a:xfrm>
            <a:off x="8128000" y="2413000"/>
            <a:ext cx="3454400" cy="3175000"/>
          </a:xfrm>
          <a:prstGeom prst="roundRect">
            <a:avLst>
              <a:gd name="adj" fmla="val 6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TextBox 12">
            <a:extLst>
              <a:ext uri="{FF2B5EF4-FFF2-40B4-BE49-F238E27FC236}">
                <a16:creationId xmlns:a16="http://schemas.microsoft.com/office/drawing/2014/main" id="{D89F63C4-AD92-D681-E391-EEE656935C45}"/>
              </a:ext>
            </a:extLst>
          </p:cNvPr>
          <p:cNvSpPr txBox="1"/>
          <p:nvPr/>
        </p:nvSpPr>
        <p:spPr>
          <a:xfrm>
            <a:off x="8382000" y="2641600"/>
            <a:ext cx="2946400" cy="254000"/>
          </a:xfrm>
          <a:prstGeom prst="rect">
            <a:avLst/>
          </a:prstGeom>
          <a:noFill/>
        </p:spPr>
        <p:txBody>
          <a:bodyPr vert="horz" wrap="square" lIns="0" tIns="0" rIns="0" bIns="0" rtlCol="0">
            <a:noAutofit/>
          </a:bodyPr>
          <a:lstStyle/>
          <a:p>
            <a:r>
              <a:rPr lang="en-SG" sz="1400">
                <a:solidFill>
                  <a:srgbClr val="8AA0B8"/>
                </a:solidFill>
                <a:latin typeface="Consolas" panose="020B0609020204030204" pitchFamily="49" charset="0"/>
              </a:rPr>
              <a:t>03</a:t>
            </a:r>
          </a:p>
        </p:txBody>
      </p:sp>
      <p:sp>
        <p:nvSpPr>
          <p:cNvPr id="14" name="TextBox 13">
            <a:extLst>
              <a:ext uri="{FF2B5EF4-FFF2-40B4-BE49-F238E27FC236}">
                <a16:creationId xmlns:a16="http://schemas.microsoft.com/office/drawing/2014/main" id="{696C6DFB-9F51-756E-778D-1A3C96763212}"/>
              </a:ext>
            </a:extLst>
          </p:cNvPr>
          <p:cNvSpPr txBox="1"/>
          <p:nvPr/>
        </p:nvSpPr>
        <p:spPr>
          <a:xfrm>
            <a:off x="8382000" y="2971800"/>
            <a:ext cx="2946400" cy="762000"/>
          </a:xfrm>
          <a:prstGeom prst="rect">
            <a:avLst/>
          </a:prstGeom>
          <a:noFill/>
        </p:spPr>
        <p:txBody>
          <a:bodyPr vert="horz" wrap="square" lIns="0" tIns="0" rIns="0" bIns="0" rtlCol="0">
            <a:noAutofit/>
          </a:bodyPr>
          <a:lstStyle/>
          <a:p>
            <a:r>
              <a:rPr lang="en-SG" sz="2200" b="1">
                <a:solidFill>
                  <a:srgbClr val="E6EDF5"/>
                </a:solidFill>
                <a:latin typeface="Segoe UI" panose="020B0502040204020203" pitchFamily="34" charset="0"/>
              </a:rPr>
              <a:t>No time to retune</a:t>
            </a:r>
          </a:p>
        </p:txBody>
      </p:sp>
      <p:sp>
        <p:nvSpPr>
          <p:cNvPr id="15" name="TextBox 14">
            <a:extLst>
              <a:ext uri="{FF2B5EF4-FFF2-40B4-BE49-F238E27FC236}">
                <a16:creationId xmlns:a16="http://schemas.microsoft.com/office/drawing/2014/main" id="{78476543-D358-6448-F288-42BFEF99F6B0}"/>
              </a:ext>
            </a:extLst>
          </p:cNvPr>
          <p:cNvSpPr txBox="1"/>
          <p:nvPr/>
        </p:nvSpPr>
        <p:spPr>
          <a:xfrm>
            <a:off x="8382000" y="3733800"/>
            <a:ext cx="2946400" cy="1701800"/>
          </a:xfrm>
          <a:prstGeom prst="rect">
            <a:avLst/>
          </a:prstGeom>
          <a:noFill/>
        </p:spPr>
        <p:txBody>
          <a:bodyPr vert="horz" wrap="square" lIns="0" tIns="0" rIns="0" bIns="0" rtlCol="0">
            <a:noAutofit/>
          </a:bodyPr>
          <a:lstStyle/>
          <a:p>
            <a:r>
              <a:rPr lang="en-SG" sz="1600">
                <a:solidFill>
                  <a:srgbClr val="D6E2F0"/>
                </a:solidFill>
                <a:latin typeface="Segoe UI" panose="020B0502040204020203" pitchFamily="34" charset="0"/>
              </a:rPr>
              <a:t>The instructor cannot adjust the enemy for every seat while running the exercise.</a:t>
            </a:r>
          </a:p>
        </p:txBody>
      </p:sp>
      <p:sp>
        <p:nvSpPr>
          <p:cNvPr id="16" name="TextBox 15">
            <a:extLst>
              <a:ext uri="{FF2B5EF4-FFF2-40B4-BE49-F238E27FC236}">
                <a16:creationId xmlns:a16="http://schemas.microsoft.com/office/drawing/2014/main" id="{3D2CE1E9-3B27-9DE1-13EA-B37F1E055025}"/>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8AA0B8"/>
                </a:solidFill>
                <a:latin typeface="Consolas" panose="020B0609020204030204" pitchFamily="49" charset="0"/>
              </a:rPr>
              <a:t>ADAPTIVE CGF TRAINER</a:t>
            </a:r>
          </a:p>
        </p:txBody>
      </p:sp>
      <p:sp>
        <p:nvSpPr>
          <p:cNvPr id="17" name="TextBox 16">
            <a:extLst>
              <a:ext uri="{FF2B5EF4-FFF2-40B4-BE49-F238E27FC236}">
                <a16:creationId xmlns:a16="http://schemas.microsoft.com/office/drawing/2014/main" id="{753D532E-0C7E-C41F-15F3-1194A6801AAF}"/>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8AA0B8"/>
                </a:solidFill>
                <a:latin typeface="Consolas" panose="020B0609020204030204" pitchFamily="49" charset="0"/>
              </a:rPr>
              <a:t>02</a:t>
            </a:r>
          </a:p>
        </p:txBody>
      </p:sp>
    </p:spTree>
    <p:extLst>
      <p:ext uri="{BB962C8B-B14F-4D97-AF65-F5344CB8AC3E}">
        <p14:creationId xmlns:p14="http://schemas.microsoft.com/office/powerpoint/2010/main" val="32001837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51A3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468143-BCAE-EEAD-77C2-0028FAE47903}"/>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3ECFF"/>
                </a:solidFill>
                <a:latin typeface="Segoe UI" panose="020B0502040204020203" pitchFamily="34" charset="0"/>
              </a:rPr>
              <a:t>History picks what to exercise. Live behaviour sets how hard.</a:t>
            </a:r>
          </a:p>
        </p:txBody>
      </p:sp>
      <p:sp>
        <p:nvSpPr>
          <p:cNvPr id="3" name="TextBox 2">
            <a:extLst>
              <a:ext uri="{FF2B5EF4-FFF2-40B4-BE49-F238E27FC236}">
                <a16:creationId xmlns:a16="http://schemas.microsoft.com/office/drawing/2014/main" id="{F870D4E8-44F9-15D9-806F-DD3EC79FCBD7}"/>
              </a:ext>
            </a:extLst>
          </p:cNvPr>
          <p:cNvSpPr txBox="1"/>
          <p:nvPr/>
        </p:nvSpPr>
        <p:spPr>
          <a:xfrm>
            <a:off x="609600" y="457200"/>
            <a:ext cx="8890000" cy="254000"/>
          </a:xfrm>
          <a:prstGeom prst="rect">
            <a:avLst/>
          </a:prstGeom>
          <a:noFill/>
        </p:spPr>
        <p:txBody>
          <a:bodyPr vert="horz" wrap="square" lIns="0" tIns="0" rIns="0" bIns="0" rtlCol="0">
            <a:noAutofit/>
          </a:bodyPr>
          <a:lstStyle/>
          <a:p>
            <a:r>
              <a:rPr lang="en-SG" sz="1400">
                <a:solidFill>
                  <a:srgbClr val="B58CFF"/>
                </a:solidFill>
                <a:latin typeface="Consolas" panose="020B0609020204030204" pitchFamily="49" charset="0"/>
              </a:rPr>
              <a:t>02 · THE IDEA</a:t>
            </a:r>
          </a:p>
        </p:txBody>
      </p:sp>
      <p:sp>
        <p:nvSpPr>
          <p:cNvPr id="4" name="Rectangle: Rounded Corners 3">
            <a:extLst>
              <a:ext uri="{FF2B5EF4-FFF2-40B4-BE49-F238E27FC236}">
                <a16:creationId xmlns:a16="http://schemas.microsoft.com/office/drawing/2014/main" id="{A685D398-5EA0-E303-125F-CC18532ABC46}"/>
              </a:ext>
            </a:extLst>
          </p:cNvPr>
          <p:cNvSpPr/>
          <p:nvPr/>
        </p:nvSpPr>
        <p:spPr>
          <a:xfrm>
            <a:off x="609600" y="2286000"/>
            <a:ext cx="5334000" cy="2794000"/>
          </a:xfrm>
          <a:prstGeom prst="roundRect">
            <a:avLst>
              <a:gd name="adj" fmla="val 6000"/>
            </a:avLst>
          </a:prstGeom>
          <a:solidFill>
            <a:srgbClr val="1A1230"/>
          </a:solidFill>
          <a:ln w="9525">
            <a:solidFill>
              <a:srgbClr val="6A4F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CD9F03A4-4210-7359-E99C-366E8CB9380A}"/>
              </a:ext>
            </a:extLst>
          </p:cNvPr>
          <p:cNvSpPr txBox="1"/>
          <p:nvPr/>
        </p:nvSpPr>
        <p:spPr>
          <a:xfrm>
            <a:off x="863600" y="2514600"/>
            <a:ext cx="4826000" cy="254000"/>
          </a:xfrm>
          <a:prstGeom prst="rect">
            <a:avLst/>
          </a:prstGeom>
          <a:noFill/>
        </p:spPr>
        <p:txBody>
          <a:bodyPr vert="horz" wrap="square" lIns="0" tIns="0" rIns="0" bIns="0" rtlCol="0">
            <a:noAutofit/>
          </a:bodyPr>
          <a:lstStyle/>
          <a:p>
            <a:r>
              <a:rPr lang="en-SG" sz="1400">
                <a:solidFill>
                  <a:srgbClr val="B58CFF"/>
                </a:solidFill>
                <a:latin typeface="Consolas" panose="020B0609020204030204" pitchFamily="49" charset="0"/>
              </a:rPr>
              <a:t>EXPERIENCE  ·  WHAT</a:t>
            </a:r>
          </a:p>
        </p:txBody>
      </p:sp>
      <p:sp>
        <p:nvSpPr>
          <p:cNvPr id="6" name="TextBox 5">
            <a:extLst>
              <a:ext uri="{FF2B5EF4-FFF2-40B4-BE49-F238E27FC236}">
                <a16:creationId xmlns:a16="http://schemas.microsoft.com/office/drawing/2014/main" id="{33F47A24-324B-134B-D0E1-7658921AE05A}"/>
              </a:ext>
            </a:extLst>
          </p:cNvPr>
          <p:cNvSpPr txBox="1"/>
          <p:nvPr/>
        </p:nvSpPr>
        <p:spPr>
          <a:xfrm>
            <a:off x="8636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trainee profile</a:t>
            </a:r>
          </a:p>
        </p:txBody>
      </p:sp>
      <p:sp>
        <p:nvSpPr>
          <p:cNvPr id="7" name="TextBox 6">
            <a:extLst>
              <a:ext uri="{FF2B5EF4-FFF2-40B4-BE49-F238E27FC236}">
                <a16:creationId xmlns:a16="http://schemas.microsoft.com/office/drawing/2014/main" id="{F3A92BF6-2ED1-E51E-65D5-91E101BF02A5}"/>
              </a:ext>
            </a:extLst>
          </p:cNvPr>
          <p:cNvSpPr txBox="1"/>
          <p:nvPr/>
        </p:nvSpPr>
        <p:spPr>
          <a:xfrm>
            <a:off x="863600" y="3606800"/>
            <a:ext cx="4826000" cy="1320800"/>
          </a:xfrm>
          <a:prstGeom prst="rect">
            <a:avLst/>
          </a:prstGeom>
          <a:noFill/>
        </p:spPr>
        <p:txBody>
          <a:bodyPr vert="horz" wrap="square" lIns="0" tIns="0" rIns="0" bIns="0" rtlCol="0">
            <a:noAutofit/>
          </a:bodyPr>
          <a:lstStyle/>
          <a:p>
            <a:r>
              <a:rPr lang="en-SG" sz="1600">
                <a:solidFill>
                  <a:srgbClr val="E6D9FF"/>
                </a:solidFill>
                <a:latin typeface="Segoe UI" panose="020B0502040204020203" pitchFamily="34" charset="0"/>
              </a:rPr>
              <a:t>Kept across sessions. The weakest competency with enough evidence becomes the target.</a:t>
            </a:r>
          </a:p>
        </p:txBody>
      </p:sp>
      <p:sp>
        <p:nvSpPr>
          <p:cNvPr id="8" name="Rectangle: Rounded Corners 7">
            <a:extLst>
              <a:ext uri="{FF2B5EF4-FFF2-40B4-BE49-F238E27FC236}">
                <a16:creationId xmlns:a16="http://schemas.microsoft.com/office/drawing/2014/main" id="{0E9D0839-02BC-0E80-45FF-1DFCEC963478}"/>
              </a:ext>
            </a:extLst>
          </p:cNvPr>
          <p:cNvSpPr/>
          <p:nvPr/>
        </p:nvSpPr>
        <p:spPr>
          <a:xfrm>
            <a:off x="6248400" y="2286000"/>
            <a:ext cx="5334000" cy="2794000"/>
          </a:xfrm>
          <a:prstGeom prst="roundRect">
            <a:avLst>
              <a:gd name="adj" fmla="val 6000"/>
            </a:avLst>
          </a:prstGeom>
          <a:solidFill>
            <a:srgbClr val="1A1230"/>
          </a:solidFill>
          <a:ln w="9525">
            <a:solidFill>
              <a:srgbClr val="6A4F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8E97D413-D238-EDAF-03CB-950FAD15CFEF}"/>
              </a:ext>
            </a:extLst>
          </p:cNvPr>
          <p:cNvSpPr txBox="1"/>
          <p:nvPr/>
        </p:nvSpPr>
        <p:spPr>
          <a:xfrm>
            <a:off x="6502400" y="2514600"/>
            <a:ext cx="4826000" cy="254000"/>
          </a:xfrm>
          <a:prstGeom prst="rect">
            <a:avLst/>
          </a:prstGeom>
          <a:noFill/>
        </p:spPr>
        <p:txBody>
          <a:bodyPr vert="horz" wrap="square" lIns="0" tIns="0" rIns="0" bIns="0" rtlCol="0">
            <a:noAutofit/>
          </a:bodyPr>
          <a:lstStyle/>
          <a:p>
            <a:r>
              <a:rPr lang="en-SG" sz="1400">
                <a:solidFill>
                  <a:srgbClr val="B58CFF"/>
                </a:solidFill>
                <a:latin typeface="Consolas" panose="020B0609020204030204" pitchFamily="49" charset="0"/>
              </a:rPr>
              <a:t>CURRENT BEHAVIOUR  ·  HOW HARD</a:t>
            </a:r>
          </a:p>
        </p:txBody>
      </p:sp>
      <p:sp>
        <p:nvSpPr>
          <p:cNvPr id="10" name="TextBox 9">
            <a:extLst>
              <a:ext uri="{FF2B5EF4-FFF2-40B4-BE49-F238E27FC236}">
                <a16:creationId xmlns:a16="http://schemas.microsoft.com/office/drawing/2014/main" id="{D477EE43-93C5-2E82-536F-CCB9B9462839}"/>
              </a:ext>
            </a:extLst>
          </p:cNvPr>
          <p:cNvSpPr txBox="1"/>
          <p:nvPr/>
        </p:nvSpPr>
        <p:spPr>
          <a:xfrm>
            <a:off x="65024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last 10 events</a:t>
            </a:r>
          </a:p>
        </p:txBody>
      </p:sp>
      <p:sp>
        <p:nvSpPr>
          <p:cNvPr id="11" name="TextBox 10">
            <a:extLst>
              <a:ext uri="{FF2B5EF4-FFF2-40B4-BE49-F238E27FC236}">
                <a16:creationId xmlns:a16="http://schemas.microsoft.com/office/drawing/2014/main" id="{F957EFC1-2E51-DC8C-BA71-191CBA6C7DF8}"/>
              </a:ext>
            </a:extLst>
          </p:cNvPr>
          <p:cNvSpPr txBox="1"/>
          <p:nvPr/>
        </p:nvSpPr>
        <p:spPr>
          <a:xfrm>
            <a:off x="6502400" y="3606800"/>
            <a:ext cx="4826000" cy="1320800"/>
          </a:xfrm>
          <a:prstGeom prst="rect">
            <a:avLst/>
          </a:prstGeom>
          <a:noFill/>
        </p:spPr>
        <p:txBody>
          <a:bodyPr vert="horz" wrap="square" lIns="0" tIns="0" rIns="0" bIns="0" rtlCol="0">
            <a:noAutofit/>
          </a:bodyPr>
          <a:lstStyle/>
          <a:p>
            <a:r>
              <a:rPr lang="en-SG" sz="1600">
                <a:solidFill>
                  <a:srgbClr val="E6D9FF"/>
                </a:solidFill>
                <a:latin typeface="Segoe UI" panose="020B0502040204020203" pitchFamily="34" charset="0"/>
              </a:rPr>
              <a:t>Doing well on the target: raise the pressure. Struggling: ease off.</a:t>
            </a:r>
          </a:p>
        </p:txBody>
      </p:sp>
      <p:sp>
        <p:nvSpPr>
          <p:cNvPr id="12" name="TextBox 11">
            <a:extLst>
              <a:ext uri="{FF2B5EF4-FFF2-40B4-BE49-F238E27FC236}">
                <a16:creationId xmlns:a16="http://schemas.microsoft.com/office/drawing/2014/main" id="{899570C4-F759-0025-DD03-3EC900B64ADB}"/>
              </a:ext>
            </a:extLst>
          </p:cNvPr>
          <p:cNvSpPr txBox="1"/>
          <p:nvPr/>
        </p:nvSpPr>
        <p:spPr>
          <a:xfrm>
            <a:off x="609600" y="5384800"/>
            <a:ext cx="10972800" cy="635000"/>
          </a:xfrm>
          <a:prstGeom prst="rect">
            <a:avLst/>
          </a:prstGeom>
          <a:noFill/>
        </p:spPr>
        <p:txBody>
          <a:bodyPr vert="horz" wrap="square" lIns="0" tIns="0" rIns="0" bIns="0" rtlCol="0">
            <a:noAutofit/>
          </a:bodyPr>
          <a:lstStyle/>
          <a:p>
            <a:r>
              <a:rPr lang="en-SG" sz="2000">
                <a:solidFill>
                  <a:srgbClr val="E6D9FF"/>
                </a:solidFill>
                <a:latin typeface="Segoe UI" panose="020B0502040204020203" pitchFamily="34" charset="0"/>
              </a:rPr>
              <a:t>Adjustments change CGF settings only. They never change the trainee’s score or the outcome.</a:t>
            </a:r>
          </a:p>
        </p:txBody>
      </p:sp>
      <p:sp>
        <p:nvSpPr>
          <p:cNvPr id="13" name="TextBox 12">
            <a:extLst>
              <a:ext uri="{FF2B5EF4-FFF2-40B4-BE49-F238E27FC236}">
                <a16:creationId xmlns:a16="http://schemas.microsoft.com/office/drawing/2014/main" id="{ADEE8055-416B-CE6E-D754-FE16E03399E6}"/>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B58CFF"/>
                </a:solidFill>
                <a:latin typeface="Consolas" panose="020B0609020204030204" pitchFamily="49" charset="0"/>
              </a:rPr>
              <a:t>ADAPTIVE CGF TRAINER</a:t>
            </a:r>
          </a:p>
        </p:txBody>
      </p:sp>
      <p:sp>
        <p:nvSpPr>
          <p:cNvPr id="14" name="TextBox 13">
            <a:extLst>
              <a:ext uri="{FF2B5EF4-FFF2-40B4-BE49-F238E27FC236}">
                <a16:creationId xmlns:a16="http://schemas.microsoft.com/office/drawing/2014/main" id="{51CB02FC-257D-5AC2-8EF3-9A1D91C5CA7B}"/>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B58CFF"/>
                </a:solidFill>
                <a:latin typeface="Consolas" panose="020B0609020204030204" pitchFamily="49" charset="0"/>
              </a:rPr>
              <a:t>03</a:t>
            </a:r>
          </a:p>
        </p:txBody>
      </p:sp>
    </p:spTree>
    <p:extLst>
      <p:ext uri="{BB962C8B-B14F-4D97-AF65-F5344CB8AC3E}">
        <p14:creationId xmlns:p14="http://schemas.microsoft.com/office/powerpoint/2010/main" val="17921648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42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60A97-2A14-FA40-541C-1FAB82F642E9}"/>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E6EDF5"/>
                </a:solidFill>
                <a:latin typeface="Segoe UI" panose="020B0502040204020203" pitchFamily="34" charset="0"/>
              </a:rPr>
              <a:t>Allocate, run, report, update</a:t>
            </a:r>
          </a:p>
        </p:txBody>
      </p:sp>
      <p:sp>
        <p:nvSpPr>
          <p:cNvPr id="3" name="TextBox 2">
            <a:extLst>
              <a:ext uri="{FF2B5EF4-FFF2-40B4-BE49-F238E27FC236}">
                <a16:creationId xmlns:a16="http://schemas.microsoft.com/office/drawing/2014/main" id="{BAFCF33B-7743-0016-F80F-6C69EFA99621}"/>
              </a:ext>
            </a:extLst>
          </p:cNvPr>
          <p:cNvSpPr txBox="1"/>
          <p:nvPr/>
        </p:nvSpPr>
        <p:spPr>
          <a:xfrm>
            <a:off x="609600" y="457200"/>
            <a:ext cx="8890000" cy="254000"/>
          </a:xfrm>
          <a:prstGeom prst="rect">
            <a:avLst/>
          </a:prstGeom>
          <a:noFill/>
        </p:spPr>
        <p:txBody>
          <a:bodyPr vert="horz" wrap="square" lIns="0" tIns="0" rIns="0" bIns="0" rtlCol="0">
            <a:noAutofit/>
          </a:bodyPr>
          <a:lstStyle/>
          <a:p>
            <a:r>
              <a:rPr lang="en-SG" sz="1400">
                <a:solidFill>
                  <a:srgbClr val="4DA6FF"/>
                </a:solidFill>
                <a:latin typeface="Consolas" panose="020B0609020204030204" pitchFamily="49" charset="0"/>
              </a:rPr>
              <a:t>03 · THE LOOP</a:t>
            </a:r>
          </a:p>
        </p:txBody>
      </p:sp>
      <p:sp>
        <p:nvSpPr>
          <p:cNvPr id="4" name="Rectangle: Rounded Corners 3">
            <a:extLst>
              <a:ext uri="{FF2B5EF4-FFF2-40B4-BE49-F238E27FC236}">
                <a16:creationId xmlns:a16="http://schemas.microsoft.com/office/drawing/2014/main" id="{72DD4F1A-DD12-18F4-8008-4930A3DDC4D6}"/>
              </a:ext>
            </a:extLst>
          </p:cNvPr>
          <p:cNvSpPr/>
          <p:nvPr/>
        </p:nvSpPr>
        <p:spPr>
          <a:xfrm>
            <a:off x="609600" y="2413000"/>
            <a:ext cx="2362200" cy="2413000"/>
          </a:xfrm>
          <a:prstGeom prst="roundRect">
            <a:avLst>
              <a:gd name="adj" fmla="val 6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F7FC71F4-3582-C1E6-240B-E5127591A91B}"/>
              </a:ext>
            </a:extLst>
          </p:cNvPr>
          <p:cNvSpPr txBox="1"/>
          <p:nvPr/>
        </p:nvSpPr>
        <p:spPr>
          <a:xfrm>
            <a:off x="812800" y="2641600"/>
            <a:ext cx="1955800" cy="254000"/>
          </a:xfrm>
          <a:prstGeom prst="rect">
            <a:avLst/>
          </a:prstGeom>
          <a:noFill/>
        </p:spPr>
        <p:txBody>
          <a:bodyPr vert="horz" wrap="square" lIns="0" tIns="0" rIns="0" bIns="0" rtlCol="0">
            <a:noAutofit/>
          </a:bodyPr>
          <a:lstStyle/>
          <a:p>
            <a:r>
              <a:rPr lang="en-SG" sz="1200">
                <a:solidFill>
                  <a:srgbClr val="4DA6FF"/>
                </a:solidFill>
                <a:latin typeface="Consolas" panose="020B0609020204030204" pitchFamily="49" charset="0"/>
              </a:rPr>
              <a:t>allocate.html</a:t>
            </a:r>
          </a:p>
        </p:txBody>
      </p:sp>
      <p:sp>
        <p:nvSpPr>
          <p:cNvPr id="6" name="TextBox 5">
            <a:extLst>
              <a:ext uri="{FF2B5EF4-FFF2-40B4-BE49-F238E27FC236}">
                <a16:creationId xmlns:a16="http://schemas.microsoft.com/office/drawing/2014/main" id="{F13A4075-5A7E-9B08-34C5-A7832A5ACFD1}"/>
              </a:ext>
            </a:extLst>
          </p:cNvPr>
          <p:cNvSpPr txBox="1"/>
          <p:nvPr/>
        </p:nvSpPr>
        <p:spPr>
          <a:xfrm>
            <a:off x="812800" y="3022600"/>
            <a:ext cx="1955800" cy="431800"/>
          </a:xfrm>
          <a:prstGeom prst="rect">
            <a:avLst/>
          </a:prstGeom>
          <a:noFill/>
        </p:spPr>
        <p:txBody>
          <a:bodyPr vert="horz" wrap="square" lIns="0" tIns="0" rIns="0" bIns="0" rtlCol="0">
            <a:noAutofit/>
          </a:bodyPr>
          <a:lstStyle/>
          <a:p>
            <a:r>
              <a:rPr lang="en-SG" sz="2400" b="1">
                <a:solidFill>
                  <a:srgbClr val="E6EDF5"/>
                </a:solidFill>
                <a:latin typeface="Segoe UI" panose="020B0502040204020203" pitchFamily="34" charset="0"/>
              </a:rPr>
              <a:t>Allocate</a:t>
            </a:r>
          </a:p>
        </p:txBody>
      </p:sp>
      <p:sp>
        <p:nvSpPr>
          <p:cNvPr id="7" name="TextBox 6">
            <a:extLst>
              <a:ext uri="{FF2B5EF4-FFF2-40B4-BE49-F238E27FC236}">
                <a16:creationId xmlns:a16="http://schemas.microsoft.com/office/drawing/2014/main" id="{C8D9157D-F18A-89CD-6C71-1609930F0FEF}"/>
              </a:ext>
            </a:extLst>
          </p:cNvPr>
          <p:cNvSpPr txBox="1"/>
          <p:nvPr/>
        </p:nvSpPr>
        <p:spPr>
          <a:xfrm>
            <a:off x="812800" y="3606800"/>
            <a:ext cx="1955800" cy="1016000"/>
          </a:xfrm>
          <a:prstGeom prst="rect">
            <a:avLst/>
          </a:prstGeom>
          <a:noFill/>
        </p:spPr>
        <p:txBody>
          <a:bodyPr vert="horz" wrap="square" lIns="0" tIns="0" rIns="0" bIns="0" rtlCol="0">
            <a:noAutofit/>
          </a:bodyPr>
          <a:lstStyle/>
          <a:p>
            <a:r>
              <a:rPr lang="en-SG" sz="1600">
                <a:solidFill>
                  <a:srgbClr val="D6E2F0"/>
                </a:solidFill>
                <a:latin typeface="Segoe UI" panose="020B0502040204020203" pitchFamily="34" charset="0"/>
              </a:rPr>
              <a:t>Platform, crew, limits.</a:t>
            </a:r>
          </a:p>
        </p:txBody>
      </p:sp>
      <p:sp>
        <p:nvSpPr>
          <p:cNvPr id="8" name="Arrow: Right 7">
            <a:extLst>
              <a:ext uri="{FF2B5EF4-FFF2-40B4-BE49-F238E27FC236}">
                <a16:creationId xmlns:a16="http://schemas.microsoft.com/office/drawing/2014/main" id="{BEB4E362-4437-84F6-D8C5-12645C9FAD53}"/>
              </a:ext>
            </a:extLst>
          </p:cNvPr>
          <p:cNvSpPr/>
          <p:nvPr/>
        </p:nvSpPr>
        <p:spPr>
          <a:xfrm>
            <a:off x="3073400" y="3517900"/>
            <a:ext cx="304800" cy="203200"/>
          </a:xfrm>
          <a:prstGeom prst="rightArrow">
            <a:avLst/>
          </a:prstGeom>
          <a:solidFill>
            <a:srgbClr val="3A557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Rounded Corners 8">
            <a:extLst>
              <a:ext uri="{FF2B5EF4-FFF2-40B4-BE49-F238E27FC236}">
                <a16:creationId xmlns:a16="http://schemas.microsoft.com/office/drawing/2014/main" id="{670AE340-1A11-437A-3F96-49BB7AC9C9AF}"/>
              </a:ext>
            </a:extLst>
          </p:cNvPr>
          <p:cNvSpPr/>
          <p:nvPr/>
        </p:nvSpPr>
        <p:spPr>
          <a:xfrm>
            <a:off x="3479800" y="2413000"/>
            <a:ext cx="2362200" cy="2413000"/>
          </a:xfrm>
          <a:prstGeom prst="roundRect">
            <a:avLst>
              <a:gd name="adj" fmla="val 6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057942FE-6D01-4EDF-258F-697978B2637F}"/>
              </a:ext>
            </a:extLst>
          </p:cNvPr>
          <p:cNvSpPr txBox="1"/>
          <p:nvPr/>
        </p:nvSpPr>
        <p:spPr>
          <a:xfrm>
            <a:off x="3683000" y="2641600"/>
            <a:ext cx="1955800" cy="254000"/>
          </a:xfrm>
          <a:prstGeom prst="rect">
            <a:avLst/>
          </a:prstGeom>
          <a:noFill/>
        </p:spPr>
        <p:txBody>
          <a:bodyPr vert="horz" wrap="square" lIns="0" tIns="0" rIns="0" bIns="0" rtlCol="0">
            <a:noAutofit/>
          </a:bodyPr>
          <a:lstStyle/>
          <a:p>
            <a:r>
              <a:rPr lang="en-SG" sz="1200">
                <a:solidFill>
                  <a:srgbClr val="4DA6FF"/>
                </a:solidFill>
                <a:latin typeface="Consolas" panose="020B0609020204030204" pitchFamily="49" charset="0"/>
              </a:rPr>
              <a:t>runtime.html</a:t>
            </a:r>
          </a:p>
        </p:txBody>
      </p:sp>
      <p:sp>
        <p:nvSpPr>
          <p:cNvPr id="11" name="TextBox 10">
            <a:extLst>
              <a:ext uri="{FF2B5EF4-FFF2-40B4-BE49-F238E27FC236}">
                <a16:creationId xmlns:a16="http://schemas.microsoft.com/office/drawing/2014/main" id="{054209A5-9488-31A7-96B0-540F4AC4FC58}"/>
              </a:ext>
            </a:extLst>
          </p:cNvPr>
          <p:cNvSpPr txBox="1"/>
          <p:nvPr/>
        </p:nvSpPr>
        <p:spPr>
          <a:xfrm>
            <a:off x="3683000" y="3022600"/>
            <a:ext cx="1955800" cy="431800"/>
          </a:xfrm>
          <a:prstGeom prst="rect">
            <a:avLst/>
          </a:prstGeom>
          <a:noFill/>
        </p:spPr>
        <p:txBody>
          <a:bodyPr vert="horz" wrap="square" lIns="0" tIns="0" rIns="0" bIns="0" rtlCol="0">
            <a:noAutofit/>
          </a:bodyPr>
          <a:lstStyle/>
          <a:p>
            <a:r>
              <a:rPr lang="en-SG" sz="2400" b="1">
                <a:solidFill>
                  <a:srgbClr val="E6EDF5"/>
                </a:solidFill>
                <a:latin typeface="Segoe UI" panose="020B0502040204020203" pitchFamily="34" charset="0"/>
              </a:rPr>
              <a:t>Run</a:t>
            </a:r>
          </a:p>
        </p:txBody>
      </p:sp>
      <p:sp>
        <p:nvSpPr>
          <p:cNvPr id="12" name="TextBox 11">
            <a:extLst>
              <a:ext uri="{FF2B5EF4-FFF2-40B4-BE49-F238E27FC236}">
                <a16:creationId xmlns:a16="http://schemas.microsoft.com/office/drawing/2014/main" id="{F9474EB4-82BD-9963-E909-C434B1834D7F}"/>
              </a:ext>
            </a:extLst>
          </p:cNvPr>
          <p:cNvSpPr txBox="1"/>
          <p:nvPr/>
        </p:nvSpPr>
        <p:spPr>
          <a:xfrm>
            <a:off x="3683000" y="3606800"/>
            <a:ext cx="1955800" cy="1016000"/>
          </a:xfrm>
          <a:prstGeom prst="rect">
            <a:avLst/>
          </a:prstGeom>
          <a:noFill/>
        </p:spPr>
        <p:txBody>
          <a:bodyPr vert="horz" wrap="square" lIns="0" tIns="0" rIns="0" bIns="0" rtlCol="0">
            <a:noAutofit/>
          </a:bodyPr>
          <a:lstStyle/>
          <a:p>
            <a:r>
              <a:rPr lang="en-SG" sz="1600">
                <a:solidFill>
                  <a:srgbClr val="D6E2F0"/>
                </a:solidFill>
                <a:latin typeface="Segoe UI" panose="020B0502040204020203" pitchFamily="34" charset="0"/>
              </a:rPr>
              <a:t>The CGFs adapt and say why.</a:t>
            </a:r>
          </a:p>
        </p:txBody>
      </p:sp>
      <p:sp>
        <p:nvSpPr>
          <p:cNvPr id="13" name="Arrow: Right 12">
            <a:extLst>
              <a:ext uri="{FF2B5EF4-FFF2-40B4-BE49-F238E27FC236}">
                <a16:creationId xmlns:a16="http://schemas.microsoft.com/office/drawing/2014/main" id="{C3A15D44-F2EB-CC2E-1D08-300A7737CE27}"/>
              </a:ext>
            </a:extLst>
          </p:cNvPr>
          <p:cNvSpPr/>
          <p:nvPr/>
        </p:nvSpPr>
        <p:spPr>
          <a:xfrm>
            <a:off x="5943600" y="3517900"/>
            <a:ext cx="304800" cy="203200"/>
          </a:xfrm>
          <a:prstGeom prst="rightArrow">
            <a:avLst/>
          </a:prstGeom>
          <a:solidFill>
            <a:srgbClr val="3A557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Rectangle: Rounded Corners 13">
            <a:extLst>
              <a:ext uri="{FF2B5EF4-FFF2-40B4-BE49-F238E27FC236}">
                <a16:creationId xmlns:a16="http://schemas.microsoft.com/office/drawing/2014/main" id="{960D839B-C606-6367-F2CD-55FBB958CA55}"/>
              </a:ext>
            </a:extLst>
          </p:cNvPr>
          <p:cNvSpPr/>
          <p:nvPr/>
        </p:nvSpPr>
        <p:spPr>
          <a:xfrm>
            <a:off x="6350000" y="2413000"/>
            <a:ext cx="2362200" cy="2413000"/>
          </a:xfrm>
          <a:prstGeom prst="roundRect">
            <a:avLst>
              <a:gd name="adj" fmla="val 6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TextBox 14">
            <a:extLst>
              <a:ext uri="{FF2B5EF4-FFF2-40B4-BE49-F238E27FC236}">
                <a16:creationId xmlns:a16="http://schemas.microsoft.com/office/drawing/2014/main" id="{7A0E4CD7-3DBD-BDB6-868D-40A5DDFA7F67}"/>
              </a:ext>
            </a:extLst>
          </p:cNvPr>
          <p:cNvSpPr txBox="1"/>
          <p:nvPr/>
        </p:nvSpPr>
        <p:spPr>
          <a:xfrm>
            <a:off x="6553200" y="2641600"/>
            <a:ext cx="1955800" cy="254000"/>
          </a:xfrm>
          <a:prstGeom prst="rect">
            <a:avLst/>
          </a:prstGeom>
          <a:noFill/>
        </p:spPr>
        <p:txBody>
          <a:bodyPr vert="horz" wrap="square" lIns="0" tIns="0" rIns="0" bIns="0" rtlCol="0">
            <a:noAutofit/>
          </a:bodyPr>
          <a:lstStyle/>
          <a:p>
            <a:r>
              <a:rPr lang="en-SG" sz="1200">
                <a:solidFill>
                  <a:srgbClr val="4DA6FF"/>
                </a:solidFill>
                <a:latin typeface="Consolas" panose="020B0609020204030204" pitchFamily="49" charset="0"/>
              </a:rPr>
              <a:t>report.html</a:t>
            </a:r>
          </a:p>
        </p:txBody>
      </p:sp>
      <p:sp>
        <p:nvSpPr>
          <p:cNvPr id="16" name="TextBox 15">
            <a:extLst>
              <a:ext uri="{FF2B5EF4-FFF2-40B4-BE49-F238E27FC236}">
                <a16:creationId xmlns:a16="http://schemas.microsoft.com/office/drawing/2014/main" id="{428DD220-26F2-F5C2-B96C-E86AFC42876A}"/>
              </a:ext>
            </a:extLst>
          </p:cNvPr>
          <p:cNvSpPr txBox="1"/>
          <p:nvPr/>
        </p:nvSpPr>
        <p:spPr>
          <a:xfrm>
            <a:off x="6553200" y="3022600"/>
            <a:ext cx="1955800" cy="431800"/>
          </a:xfrm>
          <a:prstGeom prst="rect">
            <a:avLst/>
          </a:prstGeom>
          <a:noFill/>
        </p:spPr>
        <p:txBody>
          <a:bodyPr vert="horz" wrap="square" lIns="0" tIns="0" rIns="0" bIns="0" rtlCol="0">
            <a:noAutofit/>
          </a:bodyPr>
          <a:lstStyle/>
          <a:p>
            <a:r>
              <a:rPr lang="en-SG" sz="2400" b="1">
                <a:solidFill>
                  <a:srgbClr val="E6EDF5"/>
                </a:solidFill>
                <a:latin typeface="Segoe UI" panose="020B0502040204020203" pitchFamily="34" charset="0"/>
              </a:rPr>
              <a:t>Report</a:t>
            </a:r>
          </a:p>
        </p:txBody>
      </p:sp>
      <p:sp>
        <p:nvSpPr>
          <p:cNvPr id="17" name="TextBox 16">
            <a:extLst>
              <a:ext uri="{FF2B5EF4-FFF2-40B4-BE49-F238E27FC236}">
                <a16:creationId xmlns:a16="http://schemas.microsoft.com/office/drawing/2014/main" id="{11122F5D-24DD-A00E-39FF-4D9DABB8AF41}"/>
              </a:ext>
            </a:extLst>
          </p:cNvPr>
          <p:cNvSpPr txBox="1"/>
          <p:nvPr/>
        </p:nvSpPr>
        <p:spPr>
          <a:xfrm>
            <a:off x="6553200" y="3606800"/>
            <a:ext cx="1955800" cy="1016000"/>
          </a:xfrm>
          <a:prstGeom prst="rect">
            <a:avLst/>
          </a:prstGeom>
          <a:noFill/>
        </p:spPr>
        <p:txBody>
          <a:bodyPr vert="horz" wrap="square" lIns="0" tIns="0" rIns="0" bIns="0" rtlCol="0">
            <a:noAutofit/>
          </a:bodyPr>
          <a:lstStyle/>
          <a:p>
            <a:r>
              <a:rPr lang="en-SG" sz="1600">
                <a:solidFill>
                  <a:srgbClr val="D6E2F0"/>
                </a:solidFill>
                <a:latin typeface="Segoe UI" panose="020B0502040204020203" pitchFamily="34" charset="0"/>
              </a:rPr>
              <a:t>A debrief for each trainee.</a:t>
            </a:r>
          </a:p>
        </p:txBody>
      </p:sp>
      <p:sp>
        <p:nvSpPr>
          <p:cNvPr id="18" name="Arrow: Right 17">
            <a:extLst>
              <a:ext uri="{FF2B5EF4-FFF2-40B4-BE49-F238E27FC236}">
                <a16:creationId xmlns:a16="http://schemas.microsoft.com/office/drawing/2014/main" id="{A3FFA0F2-49C5-6099-58DB-6B1A54E6E0E7}"/>
              </a:ext>
            </a:extLst>
          </p:cNvPr>
          <p:cNvSpPr/>
          <p:nvPr/>
        </p:nvSpPr>
        <p:spPr>
          <a:xfrm>
            <a:off x="8813800" y="3517900"/>
            <a:ext cx="304800" cy="203200"/>
          </a:xfrm>
          <a:prstGeom prst="rightArrow">
            <a:avLst/>
          </a:prstGeom>
          <a:solidFill>
            <a:srgbClr val="3A557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Rounded Corners 18">
            <a:extLst>
              <a:ext uri="{FF2B5EF4-FFF2-40B4-BE49-F238E27FC236}">
                <a16:creationId xmlns:a16="http://schemas.microsoft.com/office/drawing/2014/main" id="{ED7A7674-0FCB-6222-1307-B07FE7141D7F}"/>
              </a:ext>
            </a:extLst>
          </p:cNvPr>
          <p:cNvSpPr/>
          <p:nvPr/>
        </p:nvSpPr>
        <p:spPr>
          <a:xfrm>
            <a:off x="9220200" y="2413000"/>
            <a:ext cx="2362200" cy="2413000"/>
          </a:xfrm>
          <a:prstGeom prst="roundRect">
            <a:avLst>
              <a:gd name="adj" fmla="val 6000"/>
            </a:avLst>
          </a:prstGeom>
          <a:solidFill>
            <a:srgbClr val="251A3D"/>
          </a:solidFill>
          <a:ln w="9525">
            <a:solidFill>
              <a:srgbClr val="6A4FB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0" name="TextBox 19">
            <a:extLst>
              <a:ext uri="{FF2B5EF4-FFF2-40B4-BE49-F238E27FC236}">
                <a16:creationId xmlns:a16="http://schemas.microsoft.com/office/drawing/2014/main" id="{BF18B432-E918-7E6A-D499-B13D2F46EF6D}"/>
              </a:ext>
            </a:extLst>
          </p:cNvPr>
          <p:cNvSpPr txBox="1"/>
          <p:nvPr/>
        </p:nvSpPr>
        <p:spPr>
          <a:xfrm>
            <a:off x="9423400" y="2641600"/>
            <a:ext cx="1955800" cy="254000"/>
          </a:xfrm>
          <a:prstGeom prst="rect">
            <a:avLst/>
          </a:prstGeom>
          <a:noFill/>
        </p:spPr>
        <p:txBody>
          <a:bodyPr vert="horz" wrap="square" lIns="0" tIns="0" rIns="0" bIns="0" rtlCol="0">
            <a:noAutofit/>
          </a:bodyPr>
          <a:lstStyle/>
          <a:p>
            <a:r>
              <a:rPr lang="en-SG" sz="1200">
                <a:solidFill>
                  <a:srgbClr val="B58CFF"/>
                </a:solidFill>
                <a:latin typeface="Consolas" panose="020B0609020204030204" pitchFamily="49" charset="0"/>
              </a:rPr>
              <a:t>profile + history</a:t>
            </a:r>
          </a:p>
        </p:txBody>
      </p:sp>
      <p:sp>
        <p:nvSpPr>
          <p:cNvPr id="21" name="TextBox 20">
            <a:extLst>
              <a:ext uri="{FF2B5EF4-FFF2-40B4-BE49-F238E27FC236}">
                <a16:creationId xmlns:a16="http://schemas.microsoft.com/office/drawing/2014/main" id="{12D7B9A0-BF39-C759-6D2C-87476D94D3CB}"/>
              </a:ext>
            </a:extLst>
          </p:cNvPr>
          <p:cNvSpPr txBox="1"/>
          <p:nvPr/>
        </p:nvSpPr>
        <p:spPr>
          <a:xfrm>
            <a:off x="9423400" y="3022600"/>
            <a:ext cx="1955800" cy="431800"/>
          </a:xfrm>
          <a:prstGeom prst="rect">
            <a:avLst/>
          </a:prstGeom>
          <a:noFill/>
        </p:spPr>
        <p:txBody>
          <a:bodyPr vert="horz" wrap="square" lIns="0" tIns="0" rIns="0" bIns="0" rtlCol="0">
            <a:noAutofit/>
          </a:bodyPr>
          <a:lstStyle/>
          <a:p>
            <a:r>
              <a:rPr lang="en-SG" sz="2400" b="1">
                <a:solidFill>
                  <a:srgbClr val="F3ECFF"/>
                </a:solidFill>
                <a:latin typeface="Segoe UI" panose="020B0502040204020203" pitchFamily="34" charset="0"/>
              </a:rPr>
              <a:t>Update</a:t>
            </a:r>
          </a:p>
        </p:txBody>
      </p:sp>
      <p:sp>
        <p:nvSpPr>
          <p:cNvPr id="22" name="TextBox 21">
            <a:extLst>
              <a:ext uri="{FF2B5EF4-FFF2-40B4-BE49-F238E27FC236}">
                <a16:creationId xmlns:a16="http://schemas.microsoft.com/office/drawing/2014/main" id="{99AFC9E3-8FB7-A09B-7090-A7BD8D1AEF0A}"/>
              </a:ext>
            </a:extLst>
          </p:cNvPr>
          <p:cNvSpPr txBox="1"/>
          <p:nvPr/>
        </p:nvSpPr>
        <p:spPr>
          <a:xfrm>
            <a:off x="9423400" y="3606800"/>
            <a:ext cx="1955800" cy="1016000"/>
          </a:xfrm>
          <a:prstGeom prst="rect">
            <a:avLst/>
          </a:prstGeom>
          <a:noFill/>
        </p:spPr>
        <p:txBody>
          <a:bodyPr vert="horz" wrap="square" lIns="0" tIns="0" rIns="0" bIns="0" rtlCol="0">
            <a:noAutofit/>
          </a:bodyPr>
          <a:lstStyle/>
          <a:p>
            <a:r>
              <a:rPr lang="en-SG" sz="1600">
                <a:solidFill>
                  <a:srgbClr val="E6D9FF"/>
                </a:solidFill>
                <a:latin typeface="Segoe UI" panose="020B0502040204020203" pitchFamily="34" charset="0"/>
              </a:rPr>
              <a:t>The next session starts from it.</a:t>
            </a:r>
          </a:p>
        </p:txBody>
      </p:sp>
      <p:sp>
        <p:nvSpPr>
          <p:cNvPr id="23" name="TextBox 22">
            <a:extLst>
              <a:ext uri="{FF2B5EF4-FFF2-40B4-BE49-F238E27FC236}">
                <a16:creationId xmlns:a16="http://schemas.microsoft.com/office/drawing/2014/main" id="{9E791961-23F4-4E8F-E408-B76B77A3C7F5}"/>
              </a:ext>
            </a:extLst>
          </p:cNvPr>
          <p:cNvSpPr txBox="1"/>
          <p:nvPr/>
        </p:nvSpPr>
        <p:spPr>
          <a:xfrm>
            <a:off x="609600" y="5334000"/>
            <a:ext cx="10972800" cy="381000"/>
          </a:xfrm>
          <a:prstGeom prst="rect">
            <a:avLst/>
          </a:prstGeom>
          <a:noFill/>
        </p:spPr>
        <p:txBody>
          <a:bodyPr vert="horz" wrap="square" lIns="0" tIns="0" rIns="0" bIns="0" rtlCol="0">
            <a:noAutofit/>
          </a:bodyPr>
          <a:lstStyle/>
          <a:p>
            <a:r>
              <a:rPr lang="en-SG">
                <a:solidFill>
                  <a:srgbClr val="8AA0B8"/>
                </a:solidFill>
                <a:latin typeface="Segoe UI" panose="020B0502040204020203" pitchFamily="34" charset="0"/>
              </a:rPr>
              <a:t>Every page opens from a file. No server, no install.</a:t>
            </a:r>
          </a:p>
        </p:txBody>
      </p:sp>
      <p:sp>
        <p:nvSpPr>
          <p:cNvPr id="24" name="TextBox 23">
            <a:extLst>
              <a:ext uri="{FF2B5EF4-FFF2-40B4-BE49-F238E27FC236}">
                <a16:creationId xmlns:a16="http://schemas.microsoft.com/office/drawing/2014/main" id="{4571FD90-DEAC-7FAB-ED96-345C866E25CB}"/>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8AA0B8"/>
                </a:solidFill>
                <a:latin typeface="Consolas" panose="020B0609020204030204" pitchFamily="49" charset="0"/>
              </a:rPr>
              <a:t>ADAPTIVE CGF TRAINER</a:t>
            </a:r>
          </a:p>
        </p:txBody>
      </p:sp>
      <p:sp>
        <p:nvSpPr>
          <p:cNvPr id="25" name="TextBox 24">
            <a:extLst>
              <a:ext uri="{FF2B5EF4-FFF2-40B4-BE49-F238E27FC236}">
                <a16:creationId xmlns:a16="http://schemas.microsoft.com/office/drawing/2014/main" id="{5F38093A-B1DB-CC57-3EC8-1D25B7575F1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8AA0B8"/>
                </a:solidFill>
                <a:latin typeface="Consolas" panose="020B0609020204030204" pitchFamily="49" charset="0"/>
              </a:rPr>
              <a:t>04</a:t>
            </a:r>
          </a:p>
        </p:txBody>
      </p:sp>
    </p:spTree>
    <p:extLst>
      <p:ext uri="{BB962C8B-B14F-4D97-AF65-F5344CB8AC3E}">
        <p14:creationId xmlns:p14="http://schemas.microsoft.com/office/powerpoint/2010/main" val="24777338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11C2B"/>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9CECAE-BCDE-71DE-0882-3F2B55F31286}"/>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E6EDF5"/>
                </a:solidFill>
                <a:latin typeface="Segoe UI" panose="020B0502040204020203" pitchFamily="34" charset="0"/>
              </a:rPr>
              <a:t>Choose the platform, seat the crew, set the limits</a:t>
            </a:r>
          </a:p>
        </p:txBody>
      </p:sp>
      <p:sp>
        <p:nvSpPr>
          <p:cNvPr id="3" name="TextBox 2">
            <a:extLst>
              <a:ext uri="{FF2B5EF4-FFF2-40B4-BE49-F238E27FC236}">
                <a16:creationId xmlns:a16="http://schemas.microsoft.com/office/drawing/2014/main" id="{5F1EC7AF-FB73-30BD-EC8A-2BB2464EA9D1}"/>
              </a:ext>
            </a:extLst>
          </p:cNvPr>
          <p:cNvSpPr txBox="1"/>
          <p:nvPr/>
        </p:nvSpPr>
        <p:spPr>
          <a:xfrm>
            <a:off x="609600" y="457200"/>
            <a:ext cx="8890000" cy="254000"/>
          </a:xfrm>
          <a:prstGeom prst="rect">
            <a:avLst/>
          </a:prstGeom>
          <a:noFill/>
        </p:spPr>
        <p:txBody>
          <a:bodyPr vert="horz" wrap="square" lIns="0" tIns="0" rIns="0" bIns="0" rtlCol="0">
            <a:noAutofit/>
          </a:bodyPr>
          <a:lstStyle/>
          <a:p>
            <a:r>
              <a:rPr lang="en-SG" sz="1400">
                <a:solidFill>
                  <a:srgbClr val="4DA6FF"/>
                </a:solidFill>
                <a:latin typeface="Consolas" panose="020B0609020204030204" pitchFamily="49" charset="0"/>
              </a:rPr>
              <a:t>04 · ALLOCATE</a:t>
            </a:r>
          </a:p>
        </p:txBody>
      </p:sp>
      <p:sp>
        <p:nvSpPr>
          <p:cNvPr id="4" name="TextBox 3">
            <a:extLst>
              <a:ext uri="{FF2B5EF4-FFF2-40B4-BE49-F238E27FC236}">
                <a16:creationId xmlns:a16="http://schemas.microsoft.com/office/drawing/2014/main" id="{806B41C8-F494-3068-6C51-3EAF031A39CF}"/>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Six platforms</a:t>
            </a:r>
          </a:p>
        </p:txBody>
      </p:sp>
      <p:sp>
        <p:nvSpPr>
          <p:cNvPr id="5" name="TextBox 4">
            <a:extLst>
              <a:ext uri="{FF2B5EF4-FFF2-40B4-BE49-F238E27FC236}">
                <a16:creationId xmlns:a16="http://schemas.microsoft.com/office/drawing/2014/main" id="{9F65B757-A59E-CE7F-12A0-6F747B32663F}"/>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Fighter, warship and tank, two models each, with their own seats.</a:t>
            </a:r>
          </a:p>
        </p:txBody>
      </p:sp>
      <p:sp>
        <p:nvSpPr>
          <p:cNvPr id="6" name="TextBox 5">
            <a:extLst>
              <a:ext uri="{FF2B5EF4-FFF2-40B4-BE49-F238E27FC236}">
                <a16:creationId xmlns:a16="http://schemas.microsoft.com/office/drawing/2014/main" id="{180708F7-C925-617E-2986-ECDCA3E32069}"/>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Know the trainee</a:t>
            </a:r>
          </a:p>
        </p:txBody>
      </p:sp>
      <p:sp>
        <p:nvSpPr>
          <p:cNvPr id="7" name="TextBox 6">
            <a:extLst>
              <a:ext uri="{FF2B5EF4-FFF2-40B4-BE49-F238E27FC236}">
                <a16:creationId xmlns:a16="http://schemas.microsoft.com/office/drawing/2014/main" id="{B38DB761-763F-FB94-647D-A32AB1C41172}"/>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Competency bars and focus areas per seat, plus a private note.</a:t>
            </a:r>
          </a:p>
        </p:txBody>
      </p:sp>
      <p:sp>
        <p:nvSpPr>
          <p:cNvPr id="8" name="TextBox 7">
            <a:extLst>
              <a:ext uri="{FF2B5EF4-FFF2-40B4-BE49-F238E27FC236}">
                <a16:creationId xmlns:a16="http://schemas.microsoft.com/office/drawing/2014/main" id="{6F174948-CB77-EBFB-9E3A-B4ED90132933}"/>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Practice or assess</a:t>
            </a:r>
          </a:p>
        </p:txBody>
      </p:sp>
      <p:sp>
        <p:nvSpPr>
          <p:cNvPr id="9" name="TextBox 8">
            <a:extLst>
              <a:ext uri="{FF2B5EF4-FFF2-40B4-BE49-F238E27FC236}">
                <a16:creationId xmlns:a16="http://schemas.microsoft.com/office/drawing/2014/main" id="{7546CDE8-1F70-EF91-954D-BBAA9A852C66}"/>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The mode badge, run length and the envelope are set before start.</a:t>
            </a:r>
          </a:p>
        </p:txBody>
      </p:sp>
      <p:pic>
        <p:nvPicPr>
          <p:cNvPr id="11" name="Picture 10" descr="The trainee allocation page: warship crew seats on the left, trainee pool with competency bars on the right">
            <a:extLst>
              <a:ext uri="{FF2B5EF4-FFF2-40B4-BE49-F238E27FC236}">
                <a16:creationId xmlns:a16="http://schemas.microsoft.com/office/drawing/2014/main" id="{C35EBEB0-A379-E04D-A52A-F76D9F77D42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3A5577"/>
            </a:solidFill>
          </a:ln>
        </p:spPr>
      </p:pic>
      <p:sp>
        <p:nvSpPr>
          <p:cNvPr id="12" name="TextBox 11">
            <a:extLst>
              <a:ext uri="{FF2B5EF4-FFF2-40B4-BE49-F238E27FC236}">
                <a16:creationId xmlns:a16="http://schemas.microsoft.com/office/drawing/2014/main" id="{8829A166-34B0-07EF-EA22-DBE7E5366091}"/>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8AA0B8"/>
                </a:solidFill>
                <a:latin typeface="Consolas" panose="020B0609020204030204" pitchFamily="49" charset="0"/>
              </a:rPr>
              <a:t>ADAPTIVE CGF TRAINER  ·  SYNTHETIC TRAINEES</a:t>
            </a:r>
          </a:p>
        </p:txBody>
      </p:sp>
      <p:sp>
        <p:nvSpPr>
          <p:cNvPr id="13" name="TextBox 12">
            <a:extLst>
              <a:ext uri="{FF2B5EF4-FFF2-40B4-BE49-F238E27FC236}">
                <a16:creationId xmlns:a16="http://schemas.microsoft.com/office/drawing/2014/main" id="{3A4E6181-1ABD-C2F6-AB4E-4BA5A4CFFADB}"/>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8AA0B8"/>
                </a:solidFill>
                <a:latin typeface="Consolas" panose="020B0609020204030204" pitchFamily="49" charset="0"/>
              </a:rPr>
              <a:t>05</a:t>
            </a:r>
          </a:p>
        </p:txBody>
      </p:sp>
    </p:spTree>
    <p:extLst>
      <p:ext uri="{BB962C8B-B14F-4D97-AF65-F5344CB8AC3E}">
        <p14:creationId xmlns:p14="http://schemas.microsoft.com/office/powerpoint/2010/main" val="636593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42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74BBEA-B16B-82FD-7593-F6FBCAF9F980}"/>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E6EDF5"/>
                </a:solidFill>
                <a:latin typeface="Segoe UI" panose="020B0502040204020203" pitchFamily="34" charset="0"/>
              </a:rPr>
              <a:t>The enemy reacts to this crew, not a script</a:t>
            </a:r>
          </a:p>
        </p:txBody>
      </p:sp>
      <p:sp>
        <p:nvSpPr>
          <p:cNvPr id="3" name="TextBox 2">
            <a:extLst>
              <a:ext uri="{FF2B5EF4-FFF2-40B4-BE49-F238E27FC236}">
                <a16:creationId xmlns:a16="http://schemas.microsoft.com/office/drawing/2014/main" id="{018AA497-1741-AA8C-51FD-FC9804DBFAA0}"/>
              </a:ext>
            </a:extLst>
          </p:cNvPr>
          <p:cNvSpPr txBox="1"/>
          <p:nvPr/>
        </p:nvSpPr>
        <p:spPr>
          <a:xfrm>
            <a:off x="609600" y="457200"/>
            <a:ext cx="8890000" cy="254000"/>
          </a:xfrm>
          <a:prstGeom prst="rect">
            <a:avLst/>
          </a:prstGeom>
          <a:noFill/>
        </p:spPr>
        <p:txBody>
          <a:bodyPr vert="horz" wrap="square" lIns="0" tIns="0" rIns="0" bIns="0" rtlCol="0">
            <a:noAutofit/>
          </a:bodyPr>
          <a:lstStyle/>
          <a:p>
            <a:r>
              <a:rPr lang="en-SG" sz="1400">
                <a:solidFill>
                  <a:srgbClr val="4DA6FF"/>
                </a:solidFill>
                <a:latin typeface="Consolas" panose="020B0609020204030204" pitchFamily="49" charset="0"/>
              </a:rPr>
              <a:t>05 · RUN</a:t>
            </a:r>
          </a:p>
        </p:txBody>
      </p:sp>
      <p:pic>
        <p:nvPicPr>
          <p:cNvPr id="5" name="Picture 4" descr="The runtime: a strait transit map with red, black, pirate and neutral contacts, and the contact list beside it">
            <a:extLst>
              <a:ext uri="{FF2B5EF4-FFF2-40B4-BE49-F238E27FC236}">
                <a16:creationId xmlns:a16="http://schemas.microsoft.com/office/drawing/2014/main" id="{289D7ED6-B8D3-197A-4407-C81F64AFAFF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3A5577"/>
            </a:solidFill>
          </a:ln>
        </p:spPr>
      </p:pic>
      <p:sp>
        <p:nvSpPr>
          <p:cNvPr id="6" name="TextBox 5">
            <a:extLst>
              <a:ext uri="{FF2B5EF4-FFF2-40B4-BE49-F238E27FC236}">
                <a16:creationId xmlns:a16="http://schemas.microsoft.com/office/drawing/2014/main" id="{0B0FBA7E-B57B-B978-F9EA-44656D841E91}"/>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Targets the focus area</a:t>
            </a:r>
          </a:p>
        </p:txBody>
      </p:sp>
      <p:sp>
        <p:nvSpPr>
          <p:cNvPr id="7" name="TextBox 6">
            <a:extLst>
              <a:ext uri="{FF2B5EF4-FFF2-40B4-BE49-F238E27FC236}">
                <a16:creationId xmlns:a16="http://schemas.microsoft.com/office/drawing/2014/main" id="{0863C9B1-3E2A-4A75-DFAC-DE7CAA53C845}"/>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The first pressure lands on the competency the profile says needs it.</a:t>
            </a:r>
          </a:p>
        </p:txBody>
      </p:sp>
      <p:sp>
        <p:nvSpPr>
          <p:cNvPr id="8" name="TextBox 7">
            <a:extLst>
              <a:ext uri="{FF2B5EF4-FFF2-40B4-BE49-F238E27FC236}">
                <a16:creationId xmlns:a16="http://schemas.microsoft.com/office/drawing/2014/main" id="{E53393CC-DBB3-EF2E-B25C-FC81D93B7E22}"/>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Forces cooperate</a:t>
            </a:r>
          </a:p>
        </p:txBody>
      </p:sp>
      <p:sp>
        <p:nvSpPr>
          <p:cNvPr id="9" name="TextBox 8">
            <a:extLst>
              <a:ext uri="{FF2B5EF4-FFF2-40B4-BE49-F238E27FC236}">
                <a16:creationId xmlns:a16="http://schemas.microsoft.com/office/drawing/2014/main" id="{86FC8431-2BBA-2F0B-2051-5A37B34A5D46}"/>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A unit that meets a response shares it, and nearby units join in.</a:t>
            </a:r>
          </a:p>
        </p:txBody>
      </p:sp>
      <p:sp>
        <p:nvSpPr>
          <p:cNvPr id="10" name="TextBox 9">
            <a:extLst>
              <a:ext uri="{FF2B5EF4-FFF2-40B4-BE49-F238E27FC236}">
                <a16:creationId xmlns:a16="http://schemas.microsoft.com/office/drawing/2014/main" id="{4EE3844C-628C-9461-2335-6C1BDA68AEA4}"/>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Invisible to the trainee</a:t>
            </a:r>
          </a:p>
        </p:txBody>
      </p:sp>
      <p:sp>
        <p:nvSpPr>
          <p:cNvPr id="11" name="TextBox 10">
            <a:extLst>
              <a:ext uri="{FF2B5EF4-FFF2-40B4-BE49-F238E27FC236}">
                <a16:creationId xmlns:a16="http://schemas.microsoft.com/office/drawing/2014/main" id="{108FD5CE-242B-573E-5051-BF25B4E47CB0}"/>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The trainee sees an exercise. The reasoning shows to the instructor.</a:t>
            </a:r>
          </a:p>
        </p:txBody>
      </p:sp>
      <p:sp>
        <p:nvSpPr>
          <p:cNvPr id="12" name="TextBox 11">
            <a:extLst>
              <a:ext uri="{FF2B5EF4-FFF2-40B4-BE49-F238E27FC236}">
                <a16:creationId xmlns:a16="http://schemas.microsoft.com/office/drawing/2014/main" id="{0B6C78BB-735A-D15D-94BD-234EB415EAFF}"/>
              </a:ext>
            </a:extLst>
          </p:cNvPr>
          <p:cNvSpPr txBox="1"/>
          <p:nvPr/>
        </p:nvSpPr>
        <p:spPr>
          <a:xfrm>
            <a:off x="609600" y="6400800"/>
            <a:ext cx="8890000" cy="228600"/>
          </a:xfrm>
          <a:prstGeom prst="rect">
            <a:avLst/>
          </a:prstGeom>
          <a:noFill/>
        </p:spPr>
        <p:txBody>
          <a:bodyPr vert="horz" wrap="square" lIns="0" tIns="0" rIns="0" bIns="0" rtlCol="0">
            <a:noAutofit/>
          </a:bodyPr>
          <a:lstStyle/>
          <a:p>
            <a:r>
              <a:rPr lang="fr-FR" sz="1200">
                <a:solidFill>
                  <a:srgbClr val="8AA0B8"/>
                </a:solidFill>
                <a:latin typeface="Consolas" panose="020B0609020204030204" pitchFamily="49" charset="0"/>
              </a:rPr>
              <a:t>ADAPTIVE CGF TRAINER  ·  STRAIT TRANSIT SCENARIO</a:t>
            </a:r>
            <a:endParaRPr lang="en-SG" sz="1200">
              <a:solidFill>
                <a:srgbClr val="8AA0B8"/>
              </a:solidFill>
              <a:latin typeface="Consolas" panose="020B0609020204030204" pitchFamily="49" charset="0"/>
            </a:endParaRPr>
          </a:p>
        </p:txBody>
      </p:sp>
      <p:sp>
        <p:nvSpPr>
          <p:cNvPr id="13" name="TextBox 12">
            <a:extLst>
              <a:ext uri="{FF2B5EF4-FFF2-40B4-BE49-F238E27FC236}">
                <a16:creationId xmlns:a16="http://schemas.microsoft.com/office/drawing/2014/main" id="{0839A8C3-2C4F-C28F-CF00-931299011FD7}"/>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8AA0B8"/>
                </a:solidFill>
                <a:latin typeface="Consolas" panose="020B0609020204030204" pitchFamily="49" charset="0"/>
              </a:rPr>
              <a:t>06</a:t>
            </a:r>
          </a:p>
        </p:txBody>
      </p:sp>
    </p:spTree>
    <p:extLst>
      <p:ext uri="{BB962C8B-B14F-4D97-AF65-F5344CB8AC3E}">
        <p14:creationId xmlns:p14="http://schemas.microsoft.com/office/powerpoint/2010/main" val="36542889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11C2B"/>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AD32F-5898-65C2-BD0D-CA1E2CC2453B}"/>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E6EDF5"/>
                </a:solidFill>
                <a:latin typeface="Segoe UI" panose="020B0502040204020203" pitchFamily="34" charset="0"/>
              </a:rPr>
              <a:t>Every adjustment shows what, why and on what evidence</a:t>
            </a:r>
          </a:p>
        </p:txBody>
      </p:sp>
      <p:sp>
        <p:nvSpPr>
          <p:cNvPr id="3" name="TextBox 2">
            <a:extLst>
              <a:ext uri="{FF2B5EF4-FFF2-40B4-BE49-F238E27FC236}">
                <a16:creationId xmlns:a16="http://schemas.microsoft.com/office/drawing/2014/main" id="{94112783-7189-C805-83AA-0FC997F03368}"/>
              </a:ext>
            </a:extLst>
          </p:cNvPr>
          <p:cNvSpPr txBox="1"/>
          <p:nvPr/>
        </p:nvSpPr>
        <p:spPr>
          <a:xfrm>
            <a:off x="609600" y="457200"/>
            <a:ext cx="8890000" cy="254000"/>
          </a:xfrm>
          <a:prstGeom prst="rect">
            <a:avLst/>
          </a:prstGeom>
          <a:noFill/>
        </p:spPr>
        <p:txBody>
          <a:bodyPr vert="horz" wrap="square" lIns="0" tIns="0" rIns="0" bIns="0" rtlCol="0">
            <a:noAutofit/>
          </a:bodyPr>
          <a:lstStyle/>
          <a:p>
            <a:r>
              <a:rPr lang="en-SG" sz="1400">
                <a:solidFill>
                  <a:srgbClr val="4DA6FF"/>
                </a:solidFill>
                <a:latin typeface="Consolas" panose="020B0609020204030204" pitchFamily="49" charset="0"/>
              </a:rPr>
              <a:t>06 · EXPLAINED</a:t>
            </a:r>
          </a:p>
        </p:txBody>
      </p:sp>
      <p:sp>
        <p:nvSpPr>
          <p:cNvPr id="4" name="Rectangle: Rounded Corners 3">
            <a:extLst>
              <a:ext uri="{FF2B5EF4-FFF2-40B4-BE49-F238E27FC236}">
                <a16:creationId xmlns:a16="http://schemas.microsoft.com/office/drawing/2014/main" id="{AE5D7B4D-A8D2-3743-B396-B3771495D072}"/>
              </a:ext>
            </a:extLst>
          </p:cNvPr>
          <p:cNvSpPr/>
          <p:nvPr/>
        </p:nvSpPr>
        <p:spPr>
          <a:xfrm>
            <a:off x="609600" y="2235200"/>
            <a:ext cx="5334000" cy="1778000"/>
          </a:xfrm>
          <a:prstGeom prst="roundRect">
            <a:avLst>
              <a:gd name="adj" fmla="val 6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Rectangle: Rounded Corners 4">
            <a:extLst>
              <a:ext uri="{FF2B5EF4-FFF2-40B4-BE49-F238E27FC236}">
                <a16:creationId xmlns:a16="http://schemas.microsoft.com/office/drawing/2014/main" id="{6E3F7FCE-6F65-A4D6-9105-283E0AFB2556}"/>
              </a:ext>
            </a:extLst>
          </p:cNvPr>
          <p:cNvSpPr/>
          <p:nvPr/>
        </p:nvSpPr>
        <p:spPr>
          <a:xfrm>
            <a:off x="838200" y="2438400"/>
            <a:ext cx="990600" cy="304800"/>
          </a:xfrm>
          <a:prstGeom prst="roundRect">
            <a:avLst>
              <a:gd name="adj" fmla="val 30000"/>
            </a:avLst>
          </a:prstGeom>
          <a:solidFill>
            <a:srgbClr val="251A3D"/>
          </a:solidFill>
          <a:ln w="9525">
            <a:solidFill>
              <a:srgbClr val="B58C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200" b="1">
                <a:solidFill>
                  <a:srgbClr val="E6D9FF"/>
                </a:solidFill>
                <a:latin typeface="Consolas" panose="020B0609020204030204" pitchFamily="49" charset="0"/>
              </a:rPr>
              <a:t>HISTORY</a:t>
            </a:r>
          </a:p>
        </p:txBody>
      </p:sp>
      <p:sp>
        <p:nvSpPr>
          <p:cNvPr id="6" name="TextBox 5">
            <a:extLst>
              <a:ext uri="{FF2B5EF4-FFF2-40B4-BE49-F238E27FC236}">
                <a16:creationId xmlns:a16="http://schemas.microsoft.com/office/drawing/2014/main" id="{CBA0586D-4B74-02E0-2150-6EA20F1F8CC8}"/>
              </a:ext>
            </a:extLst>
          </p:cNvPr>
          <p:cNvSpPr txBox="1"/>
          <p:nvPr/>
        </p:nvSpPr>
        <p:spPr>
          <a:xfrm>
            <a:off x="1981200" y="2451100"/>
            <a:ext cx="1397000" cy="279400"/>
          </a:xfrm>
          <a:prstGeom prst="rect">
            <a:avLst/>
          </a:prstGeom>
          <a:noFill/>
        </p:spPr>
        <p:txBody>
          <a:bodyPr vert="horz" wrap="square" lIns="0" tIns="0" rIns="0" bIns="0" rtlCol="0">
            <a:noAutofit/>
          </a:bodyPr>
          <a:lstStyle/>
          <a:p>
            <a:r>
              <a:rPr lang="en-SG" sz="1600" b="1">
                <a:solidFill>
                  <a:srgbClr val="E6EDF5"/>
                </a:solidFill>
                <a:latin typeface="Segoe UI" panose="020B0502040204020203" pitchFamily="34" charset="0"/>
              </a:rPr>
              <a:t>▲ raise</a:t>
            </a:r>
          </a:p>
        </p:txBody>
      </p:sp>
      <p:sp>
        <p:nvSpPr>
          <p:cNvPr id="7" name="TextBox 6">
            <a:extLst>
              <a:ext uri="{FF2B5EF4-FFF2-40B4-BE49-F238E27FC236}">
                <a16:creationId xmlns:a16="http://schemas.microsoft.com/office/drawing/2014/main" id="{0004BEC6-85FB-BED6-87DE-BD9972873EE4}"/>
              </a:ext>
            </a:extLst>
          </p:cNvPr>
          <p:cNvSpPr txBox="1"/>
          <p:nvPr/>
        </p:nvSpPr>
        <p:spPr>
          <a:xfrm>
            <a:off x="3429000" y="2489200"/>
            <a:ext cx="2286000" cy="254000"/>
          </a:xfrm>
          <a:prstGeom prst="rect">
            <a:avLst/>
          </a:prstGeom>
          <a:noFill/>
        </p:spPr>
        <p:txBody>
          <a:bodyPr vert="horz" wrap="square" lIns="0" tIns="0" rIns="0" bIns="0" rtlCol="0">
            <a:noAutofit/>
          </a:bodyPr>
          <a:lstStyle/>
          <a:p>
            <a:r>
              <a:rPr lang="en-SG" sz="1200">
                <a:solidFill>
                  <a:srgbClr val="8AA0B8"/>
                </a:solidFill>
                <a:latin typeface="Consolas" panose="020B0609020204030204" pitchFamily="49" charset="0"/>
              </a:rPr>
              <a:t>hail discipline</a:t>
            </a:r>
          </a:p>
        </p:txBody>
      </p:sp>
      <p:sp>
        <p:nvSpPr>
          <p:cNvPr id="8" name="TextBox 7">
            <a:extLst>
              <a:ext uri="{FF2B5EF4-FFF2-40B4-BE49-F238E27FC236}">
                <a16:creationId xmlns:a16="http://schemas.microsoft.com/office/drawing/2014/main" id="{9F61D8E0-CB55-986C-4956-A1158079FCEE}"/>
              </a:ext>
            </a:extLst>
          </p:cNvPr>
          <p:cNvSpPr txBox="1"/>
          <p:nvPr/>
        </p:nvSpPr>
        <p:spPr>
          <a:xfrm>
            <a:off x="838200" y="2895600"/>
            <a:ext cx="4876800" cy="10160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No recent hail discipline events, and it is the weakest of this seat’s focus areas, so the hail-warning weight went from 1 to 1.25 to create exposure.</a:t>
            </a:r>
          </a:p>
        </p:txBody>
      </p:sp>
      <p:sp>
        <p:nvSpPr>
          <p:cNvPr id="9" name="Rectangle: Rounded Corners 8">
            <a:extLst>
              <a:ext uri="{FF2B5EF4-FFF2-40B4-BE49-F238E27FC236}">
                <a16:creationId xmlns:a16="http://schemas.microsoft.com/office/drawing/2014/main" id="{0194892B-CBD3-9016-7410-5ACB9EF11CA3}"/>
              </a:ext>
            </a:extLst>
          </p:cNvPr>
          <p:cNvSpPr/>
          <p:nvPr/>
        </p:nvSpPr>
        <p:spPr>
          <a:xfrm>
            <a:off x="609600" y="4216400"/>
            <a:ext cx="5334000" cy="1778000"/>
          </a:xfrm>
          <a:prstGeom prst="roundRect">
            <a:avLst>
              <a:gd name="adj" fmla="val 6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Rounded Corners 9">
            <a:extLst>
              <a:ext uri="{FF2B5EF4-FFF2-40B4-BE49-F238E27FC236}">
                <a16:creationId xmlns:a16="http://schemas.microsoft.com/office/drawing/2014/main" id="{588E64EB-B232-A61D-8E43-D4B2E4860D73}"/>
              </a:ext>
            </a:extLst>
          </p:cNvPr>
          <p:cNvSpPr/>
          <p:nvPr/>
        </p:nvSpPr>
        <p:spPr>
          <a:xfrm>
            <a:off x="838200" y="4419600"/>
            <a:ext cx="990600" cy="304800"/>
          </a:xfrm>
          <a:prstGeom prst="roundRect">
            <a:avLst>
              <a:gd name="adj" fmla="val 30000"/>
            </a:avLst>
          </a:prstGeom>
          <a:solidFill>
            <a:srgbClr val="251A3D"/>
          </a:solidFill>
          <a:ln w="9525">
            <a:solidFill>
              <a:srgbClr val="B58C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200" b="1">
                <a:solidFill>
                  <a:srgbClr val="E6D9FF"/>
                </a:solidFill>
                <a:latin typeface="Consolas" panose="020B0609020204030204" pitchFamily="49" charset="0"/>
              </a:rPr>
              <a:t>LIVE</a:t>
            </a:r>
          </a:p>
        </p:txBody>
      </p:sp>
      <p:sp>
        <p:nvSpPr>
          <p:cNvPr id="11" name="TextBox 10">
            <a:extLst>
              <a:ext uri="{FF2B5EF4-FFF2-40B4-BE49-F238E27FC236}">
                <a16:creationId xmlns:a16="http://schemas.microsoft.com/office/drawing/2014/main" id="{B58BA4EF-EFC1-518D-313D-6F3E081045E6}"/>
              </a:ext>
            </a:extLst>
          </p:cNvPr>
          <p:cNvSpPr txBox="1"/>
          <p:nvPr/>
        </p:nvSpPr>
        <p:spPr>
          <a:xfrm>
            <a:off x="1981200" y="4432300"/>
            <a:ext cx="1397000" cy="279400"/>
          </a:xfrm>
          <a:prstGeom prst="rect">
            <a:avLst/>
          </a:prstGeom>
          <a:noFill/>
        </p:spPr>
        <p:txBody>
          <a:bodyPr vert="horz" wrap="square" lIns="0" tIns="0" rIns="0" bIns="0" rtlCol="0">
            <a:noAutofit/>
          </a:bodyPr>
          <a:lstStyle/>
          <a:p>
            <a:r>
              <a:rPr lang="en-SG" sz="1600" b="1">
                <a:solidFill>
                  <a:srgbClr val="E6EDF5"/>
                </a:solidFill>
                <a:latin typeface="Segoe UI" panose="020B0502040204020203" pitchFamily="34" charset="0"/>
              </a:rPr>
              <a:t>▼ ease off</a:t>
            </a:r>
          </a:p>
        </p:txBody>
      </p:sp>
      <p:sp>
        <p:nvSpPr>
          <p:cNvPr id="12" name="TextBox 11">
            <a:extLst>
              <a:ext uri="{FF2B5EF4-FFF2-40B4-BE49-F238E27FC236}">
                <a16:creationId xmlns:a16="http://schemas.microsoft.com/office/drawing/2014/main" id="{1575EC3B-A315-4847-A096-89FC7DAB4C0E}"/>
              </a:ext>
            </a:extLst>
          </p:cNvPr>
          <p:cNvSpPr txBox="1"/>
          <p:nvPr/>
        </p:nvSpPr>
        <p:spPr>
          <a:xfrm>
            <a:off x="3429000" y="4470400"/>
            <a:ext cx="2286000" cy="254000"/>
          </a:xfrm>
          <a:prstGeom prst="rect">
            <a:avLst/>
          </a:prstGeom>
          <a:noFill/>
        </p:spPr>
        <p:txBody>
          <a:bodyPr vert="horz" wrap="square" lIns="0" tIns="0" rIns="0" bIns="0" rtlCol="0">
            <a:noAutofit/>
          </a:bodyPr>
          <a:lstStyle/>
          <a:p>
            <a:r>
              <a:rPr lang="en-SG" sz="1200">
                <a:solidFill>
                  <a:srgbClr val="8AA0B8"/>
                </a:solidFill>
                <a:latin typeface="Consolas" panose="020B0609020204030204" pitchFamily="49" charset="0"/>
              </a:rPr>
              <a:t>hail discipline</a:t>
            </a:r>
          </a:p>
        </p:txBody>
      </p:sp>
      <p:sp>
        <p:nvSpPr>
          <p:cNvPr id="13" name="TextBox 12">
            <a:extLst>
              <a:ext uri="{FF2B5EF4-FFF2-40B4-BE49-F238E27FC236}">
                <a16:creationId xmlns:a16="http://schemas.microsoft.com/office/drawing/2014/main" id="{6283D5A7-CA6E-FAAD-25DC-ABE7DADB1D51}"/>
              </a:ext>
            </a:extLst>
          </p:cNvPr>
          <p:cNvSpPr txBox="1"/>
          <p:nvPr/>
        </p:nvSpPr>
        <p:spPr>
          <a:xfrm>
            <a:off x="838200" y="4876800"/>
            <a:ext cx="4876800" cy="10160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trainee_b handled only 1 of the last 5 hail discipline events, so the hail-warning weight went from 1.25 to 1.1 to ease the pressure.</a:t>
            </a:r>
          </a:p>
        </p:txBody>
      </p:sp>
      <p:sp>
        <p:nvSpPr>
          <p:cNvPr id="14" name="TextBox 13">
            <a:extLst>
              <a:ext uri="{FF2B5EF4-FFF2-40B4-BE49-F238E27FC236}">
                <a16:creationId xmlns:a16="http://schemas.microsoft.com/office/drawing/2014/main" id="{62EBB901-9157-D257-7208-A6455E1B8E74}"/>
              </a:ext>
            </a:extLst>
          </p:cNvPr>
          <p:cNvSpPr txBox="1"/>
          <p:nvPr/>
        </p:nvSpPr>
        <p:spPr>
          <a:xfrm>
            <a:off x="6248400" y="2235200"/>
            <a:ext cx="5334000" cy="304800"/>
          </a:xfrm>
          <a:prstGeom prst="rect">
            <a:avLst/>
          </a:prstGeom>
          <a:noFill/>
        </p:spPr>
        <p:txBody>
          <a:bodyPr vert="horz" wrap="square" lIns="0" tIns="0" rIns="0" bIns="0" rtlCol="0">
            <a:noAutofit/>
          </a:bodyPr>
          <a:lstStyle/>
          <a:p>
            <a:r>
              <a:rPr lang="en-SG" sz="1600" b="1">
                <a:solidFill>
                  <a:srgbClr val="E6EDF5"/>
                </a:solidFill>
                <a:latin typeface="Segoe UI" panose="020B0502040204020203" pitchFamily="34" charset="0"/>
              </a:rPr>
              <a:t>Success rate over the last 10 events on the target</a:t>
            </a:r>
          </a:p>
        </p:txBody>
      </p:sp>
      <p:sp>
        <p:nvSpPr>
          <p:cNvPr id="15" name="Rectangle: Rounded Corners 14">
            <a:extLst>
              <a:ext uri="{FF2B5EF4-FFF2-40B4-BE49-F238E27FC236}">
                <a16:creationId xmlns:a16="http://schemas.microsoft.com/office/drawing/2014/main" id="{772BA7FF-4219-528E-1827-B33BAD7C3BF6}"/>
              </a:ext>
            </a:extLst>
          </p:cNvPr>
          <p:cNvSpPr/>
          <p:nvPr/>
        </p:nvSpPr>
        <p:spPr>
          <a:xfrm>
            <a:off x="6248400" y="2641600"/>
            <a:ext cx="2032000" cy="914400"/>
          </a:xfrm>
          <a:prstGeom prst="roundRect">
            <a:avLst>
              <a:gd name="adj" fmla="val 10000"/>
            </a:avLst>
          </a:prstGeom>
          <a:solidFill>
            <a:srgbClr val="1C2B40"/>
          </a:solidFill>
          <a:ln w="9525">
            <a:solidFill>
              <a:srgbClr val="3A557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6" name="TextBox 15">
            <a:extLst>
              <a:ext uri="{FF2B5EF4-FFF2-40B4-BE49-F238E27FC236}">
                <a16:creationId xmlns:a16="http://schemas.microsoft.com/office/drawing/2014/main" id="{4A8BFB9A-F408-F89E-D0B3-A5102A884577}"/>
              </a:ext>
            </a:extLst>
          </p:cNvPr>
          <p:cNvSpPr txBox="1"/>
          <p:nvPr/>
        </p:nvSpPr>
        <p:spPr>
          <a:xfrm>
            <a:off x="6400800" y="2768600"/>
            <a:ext cx="1778000" cy="228600"/>
          </a:xfrm>
          <a:prstGeom prst="rect">
            <a:avLst/>
          </a:prstGeom>
          <a:noFill/>
        </p:spPr>
        <p:txBody>
          <a:bodyPr vert="horz" wrap="square" lIns="0" tIns="0" rIns="0" bIns="0" rtlCol="0">
            <a:noAutofit/>
          </a:bodyPr>
          <a:lstStyle/>
          <a:p>
            <a:r>
              <a:rPr lang="en-SG" sz="1200">
                <a:solidFill>
                  <a:srgbClr val="8AA0B8"/>
                </a:solidFill>
                <a:latin typeface="Consolas" panose="020B0609020204030204" pitchFamily="49" charset="0"/>
              </a:rPr>
              <a:t>below 40%</a:t>
            </a:r>
          </a:p>
        </p:txBody>
      </p:sp>
      <p:sp>
        <p:nvSpPr>
          <p:cNvPr id="17" name="TextBox 16">
            <a:extLst>
              <a:ext uri="{FF2B5EF4-FFF2-40B4-BE49-F238E27FC236}">
                <a16:creationId xmlns:a16="http://schemas.microsoft.com/office/drawing/2014/main" id="{F5F46B51-1811-0FF4-7DE7-D7DB2CF9099F}"/>
              </a:ext>
            </a:extLst>
          </p:cNvPr>
          <p:cNvSpPr txBox="1"/>
          <p:nvPr/>
        </p:nvSpPr>
        <p:spPr>
          <a:xfrm>
            <a:off x="6400800" y="3048000"/>
            <a:ext cx="1778000" cy="3556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 Ease off</a:t>
            </a:r>
          </a:p>
        </p:txBody>
      </p:sp>
      <p:sp>
        <p:nvSpPr>
          <p:cNvPr id="18" name="Rectangle: Rounded Corners 17">
            <a:extLst>
              <a:ext uri="{FF2B5EF4-FFF2-40B4-BE49-F238E27FC236}">
                <a16:creationId xmlns:a16="http://schemas.microsoft.com/office/drawing/2014/main" id="{637037E8-E4C9-6BD7-E455-A7C81FA9E4C7}"/>
              </a:ext>
            </a:extLst>
          </p:cNvPr>
          <p:cNvSpPr/>
          <p:nvPr/>
        </p:nvSpPr>
        <p:spPr>
          <a:xfrm>
            <a:off x="8407400" y="2641600"/>
            <a:ext cx="1524000" cy="914400"/>
          </a:xfrm>
          <a:prstGeom prst="roundRect">
            <a:avLst>
              <a:gd name="adj" fmla="val 10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TextBox 18">
            <a:extLst>
              <a:ext uri="{FF2B5EF4-FFF2-40B4-BE49-F238E27FC236}">
                <a16:creationId xmlns:a16="http://schemas.microsoft.com/office/drawing/2014/main" id="{BF12D9FD-498E-4945-1EDD-9E172F8DFF3B}"/>
              </a:ext>
            </a:extLst>
          </p:cNvPr>
          <p:cNvSpPr txBox="1"/>
          <p:nvPr/>
        </p:nvSpPr>
        <p:spPr>
          <a:xfrm>
            <a:off x="8559800" y="2768600"/>
            <a:ext cx="1270000" cy="228600"/>
          </a:xfrm>
          <a:prstGeom prst="rect">
            <a:avLst/>
          </a:prstGeom>
          <a:noFill/>
        </p:spPr>
        <p:txBody>
          <a:bodyPr vert="horz" wrap="square" lIns="0" tIns="0" rIns="0" bIns="0" rtlCol="0">
            <a:noAutofit/>
          </a:bodyPr>
          <a:lstStyle/>
          <a:p>
            <a:r>
              <a:rPr lang="en-SG" sz="1200">
                <a:solidFill>
                  <a:srgbClr val="8AA0B8"/>
                </a:solidFill>
                <a:latin typeface="Consolas" panose="020B0609020204030204" pitchFamily="49" charset="0"/>
              </a:rPr>
              <a:t>40–70%</a:t>
            </a:r>
          </a:p>
        </p:txBody>
      </p:sp>
      <p:sp>
        <p:nvSpPr>
          <p:cNvPr id="20" name="TextBox 19">
            <a:extLst>
              <a:ext uri="{FF2B5EF4-FFF2-40B4-BE49-F238E27FC236}">
                <a16:creationId xmlns:a16="http://schemas.microsoft.com/office/drawing/2014/main" id="{26C46054-77A7-2418-C02F-B675503693DA}"/>
              </a:ext>
            </a:extLst>
          </p:cNvPr>
          <p:cNvSpPr txBox="1"/>
          <p:nvPr/>
        </p:nvSpPr>
        <p:spPr>
          <a:xfrm>
            <a:off x="8559800" y="3048000"/>
            <a:ext cx="1270000" cy="3556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Hold</a:t>
            </a:r>
          </a:p>
        </p:txBody>
      </p:sp>
      <p:sp>
        <p:nvSpPr>
          <p:cNvPr id="21" name="Rectangle: Rounded Corners 20">
            <a:extLst>
              <a:ext uri="{FF2B5EF4-FFF2-40B4-BE49-F238E27FC236}">
                <a16:creationId xmlns:a16="http://schemas.microsoft.com/office/drawing/2014/main" id="{F007A7F9-63E0-EF1E-6F38-9621ADF6805E}"/>
              </a:ext>
            </a:extLst>
          </p:cNvPr>
          <p:cNvSpPr/>
          <p:nvPr/>
        </p:nvSpPr>
        <p:spPr>
          <a:xfrm>
            <a:off x="10058400" y="2641600"/>
            <a:ext cx="1524000" cy="914400"/>
          </a:xfrm>
          <a:prstGeom prst="roundRect">
            <a:avLst>
              <a:gd name="adj" fmla="val 10000"/>
            </a:avLst>
          </a:prstGeom>
          <a:solidFill>
            <a:srgbClr val="251A3D"/>
          </a:solidFill>
          <a:ln w="9525">
            <a:solidFill>
              <a:srgbClr val="B58C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2" name="TextBox 21">
            <a:extLst>
              <a:ext uri="{FF2B5EF4-FFF2-40B4-BE49-F238E27FC236}">
                <a16:creationId xmlns:a16="http://schemas.microsoft.com/office/drawing/2014/main" id="{00B73FB8-A04A-D3B4-7072-3BB8BDC5C5AE}"/>
              </a:ext>
            </a:extLst>
          </p:cNvPr>
          <p:cNvSpPr txBox="1"/>
          <p:nvPr/>
        </p:nvSpPr>
        <p:spPr>
          <a:xfrm>
            <a:off x="10210800" y="2768600"/>
            <a:ext cx="1270000" cy="228600"/>
          </a:xfrm>
          <a:prstGeom prst="rect">
            <a:avLst/>
          </a:prstGeom>
          <a:noFill/>
        </p:spPr>
        <p:txBody>
          <a:bodyPr vert="horz" wrap="square" lIns="0" tIns="0" rIns="0" bIns="0" rtlCol="0">
            <a:noAutofit/>
          </a:bodyPr>
          <a:lstStyle/>
          <a:p>
            <a:r>
              <a:rPr lang="en-SG" sz="1200">
                <a:solidFill>
                  <a:srgbClr val="E6D9FF"/>
                </a:solidFill>
                <a:latin typeface="Consolas" panose="020B0609020204030204" pitchFamily="49" charset="0"/>
              </a:rPr>
              <a:t>above 70%</a:t>
            </a:r>
          </a:p>
        </p:txBody>
      </p:sp>
      <p:sp>
        <p:nvSpPr>
          <p:cNvPr id="23" name="TextBox 22">
            <a:extLst>
              <a:ext uri="{FF2B5EF4-FFF2-40B4-BE49-F238E27FC236}">
                <a16:creationId xmlns:a16="http://schemas.microsoft.com/office/drawing/2014/main" id="{EA526590-E6B5-A549-A3C8-15DA27CD5455}"/>
              </a:ext>
            </a:extLst>
          </p:cNvPr>
          <p:cNvSpPr txBox="1"/>
          <p:nvPr/>
        </p:nvSpPr>
        <p:spPr>
          <a:xfrm>
            <a:off x="10210800" y="3048000"/>
            <a:ext cx="1270000" cy="355600"/>
          </a:xfrm>
          <a:prstGeom prst="rect">
            <a:avLst/>
          </a:prstGeom>
          <a:noFill/>
        </p:spPr>
        <p:txBody>
          <a:bodyPr vert="horz" wrap="square" lIns="0" tIns="0" rIns="0" bIns="0" rtlCol="0">
            <a:noAutofit/>
          </a:bodyPr>
          <a:lstStyle/>
          <a:p>
            <a:r>
              <a:rPr lang="en-SG" b="1">
                <a:solidFill>
                  <a:srgbClr val="F3ECFF"/>
                </a:solidFill>
                <a:latin typeface="Segoe UI" panose="020B0502040204020203" pitchFamily="34" charset="0"/>
              </a:rPr>
              <a:t>▲ Raise</a:t>
            </a:r>
          </a:p>
        </p:txBody>
      </p:sp>
      <p:sp>
        <p:nvSpPr>
          <p:cNvPr id="24" name="TextBox 23">
            <a:extLst>
              <a:ext uri="{FF2B5EF4-FFF2-40B4-BE49-F238E27FC236}">
                <a16:creationId xmlns:a16="http://schemas.microsoft.com/office/drawing/2014/main" id="{5E3D8807-DFCA-0084-1DD4-1ABDE746F705}"/>
              </a:ext>
            </a:extLst>
          </p:cNvPr>
          <p:cNvSpPr txBox="1"/>
          <p:nvPr/>
        </p:nvSpPr>
        <p:spPr>
          <a:xfrm>
            <a:off x="6248400" y="3911600"/>
            <a:ext cx="5334000" cy="1905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D6E2F0"/>
                </a:solidFill>
                <a:latin typeface="Segoe UI" panose="020B0502040204020203" pitchFamily="34" charset="0"/>
              </a:rPr>
              <a:t>Fewer than 3 events: no rate yet, so exposure stays up.</a:t>
            </a:r>
          </a:p>
          <a:p>
            <a:pPr marL="203200" indent="-203200">
              <a:spcAft>
                <a:spcPts val="800"/>
              </a:spcAft>
              <a:buFont typeface="+mj-lt"/>
              <a:buChar char="•"/>
            </a:pPr>
            <a:r>
              <a:rPr lang="en-SG" sz="1600">
                <a:solidFill>
                  <a:srgbClr val="D6E2F0"/>
                </a:solidFill>
                <a:latin typeface="Segoe UI" panose="020B0502040204020203" pitchFamily="34" charset="0"/>
              </a:rPr>
              <a:t>Easing stops at the instructor’s base setting.</a:t>
            </a:r>
          </a:p>
          <a:p>
            <a:pPr marL="203200" indent="-203200">
              <a:spcAft>
                <a:spcPts val="800"/>
              </a:spcAft>
              <a:buFont typeface="+mj-lt"/>
              <a:buChar char="•"/>
            </a:pPr>
            <a:r>
              <a:rPr lang="en-SG" sz="1600">
                <a:solidFill>
                  <a:srgbClr val="D6E2F0"/>
                </a:solidFill>
                <a:latin typeface="Segoe UI" panose="020B0502040204020203" pitchFamily="34" charset="0"/>
              </a:rPr>
              <a:t>Every step stays inside the envelope.</a:t>
            </a:r>
          </a:p>
        </p:txBody>
      </p:sp>
      <p:sp>
        <p:nvSpPr>
          <p:cNvPr id="25" name="TextBox 24">
            <a:extLst>
              <a:ext uri="{FF2B5EF4-FFF2-40B4-BE49-F238E27FC236}">
                <a16:creationId xmlns:a16="http://schemas.microsoft.com/office/drawing/2014/main" id="{CC39B32C-8107-8435-7E3C-70D8BCD8C863}"/>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8AA0B8"/>
                </a:solidFill>
                <a:latin typeface="Consolas" panose="020B0609020204030204" pitchFamily="49" charset="0"/>
              </a:rPr>
              <a:t>ILLUSTRATIVE VALUES  ·  WORDING AS THE PANEL WRITES IT</a:t>
            </a:r>
          </a:p>
        </p:txBody>
      </p:sp>
      <p:sp>
        <p:nvSpPr>
          <p:cNvPr id="26" name="TextBox 25">
            <a:extLst>
              <a:ext uri="{FF2B5EF4-FFF2-40B4-BE49-F238E27FC236}">
                <a16:creationId xmlns:a16="http://schemas.microsoft.com/office/drawing/2014/main" id="{27E727E4-EF16-DF9F-122B-15A2736236CA}"/>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8AA0B8"/>
                </a:solidFill>
                <a:latin typeface="Consolas" panose="020B0609020204030204" pitchFamily="49" charset="0"/>
              </a:rPr>
              <a:t>07</a:t>
            </a:r>
          </a:p>
        </p:txBody>
      </p:sp>
    </p:spTree>
    <p:extLst>
      <p:ext uri="{BB962C8B-B14F-4D97-AF65-F5344CB8AC3E}">
        <p14:creationId xmlns:p14="http://schemas.microsoft.com/office/powerpoint/2010/main" val="4470129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42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39ECE-78AD-F2B4-9898-DFD58F13E859}"/>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E6EDF5"/>
                </a:solidFill>
                <a:latin typeface="Segoe UI" panose="020B0502040204020203" pitchFamily="34" charset="0"/>
              </a:rPr>
              <a:t>The instructor stays in command</a:t>
            </a:r>
          </a:p>
        </p:txBody>
      </p:sp>
      <p:sp>
        <p:nvSpPr>
          <p:cNvPr id="3" name="TextBox 2">
            <a:extLst>
              <a:ext uri="{FF2B5EF4-FFF2-40B4-BE49-F238E27FC236}">
                <a16:creationId xmlns:a16="http://schemas.microsoft.com/office/drawing/2014/main" id="{6CFDDD10-3FA1-B128-4DBF-BD42EA51C9F6}"/>
              </a:ext>
            </a:extLst>
          </p:cNvPr>
          <p:cNvSpPr txBox="1"/>
          <p:nvPr/>
        </p:nvSpPr>
        <p:spPr>
          <a:xfrm>
            <a:off x="609600" y="457200"/>
            <a:ext cx="8890000" cy="254000"/>
          </a:xfrm>
          <a:prstGeom prst="rect">
            <a:avLst/>
          </a:prstGeom>
          <a:noFill/>
        </p:spPr>
        <p:txBody>
          <a:bodyPr vert="horz" wrap="square" lIns="0" tIns="0" rIns="0" bIns="0" rtlCol="0">
            <a:noAutofit/>
          </a:bodyPr>
          <a:lstStyle/>
          <a:p>
            <a:r>
              <a:rPr lang="en-SG" sz="1400">
                <a:solidFill>
                  <a:srgbClr val="4DA6FF"/>
                </a:solidFill>
                <a:latin typeface="Consolas" panose="020B0609020204030204" pitchFamily="49" charset="0"/>
              </a:rPr>
              <a:t>07 · CONTROL</a:t>
            </a:r>
          </a:p>
        </p:txBody>
      </p:sp>
      <p:sp>
        <p:nvSpPr>
          <p:cNvPr id="4" name="Rectangle: Rounded Corners 3">
            <a:extLst>
              <a:ext uri="{FF2B5EF4-FFF2-40B4-BE49-F238E27FC236}">
                <a16:creationId xmlns:a16="http://schemas.microsoft.com/office/drawing/2014/main" id="{E221B38F-5E7A-6726-CB6F-580D88CFCB6B}"/>
              </a:ext>
            </a:extLst>
          </p:cNvPr>
          <p:cNvSpPr/>
          <p:nvPr/>
        </p:nvSpPr>
        <p:spPr>
          <a:xfrm>
            <a:off x="609600" y="1905000"/>
            <a:ext cx="5334000" cy="1955800"/>
          </a:xfrm>
          <a:prstGeom prst="roundRect">
            <a:avLst>
              <a:gd name="adj" fmla="val 6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82ED1B01-EB6C-5825-9024-325416692870}"/>
              </a:ext>
            </a:extLst>
          </p:cNvPr>
          <p:cNvSpPr/>
          <p:nvPr/>
        </p:nvSpPr>
        <p:spPr>
          <a:xfrm>
            <a:off x="889000" y="2184400"/>
            <a:ext cx="508000" cy="508000"/>
          </a:xfrm>
          <a:prstGeom prst="ellipse">
            <a:avLst/>
          </a:prstGeom>
          <a:solidFill>
            <a:srgbClr val="1C2B40"/>
          </a:solidFill>
          <a:ln w="9525">
            <a:solidFill>
              <a:srgbClr val="3A5577"/>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6EDF5"/>
                </a:solidFill>
                <a:latin typeface="Consolas" panose="020B0609020204030204" pitchFamily="49" charset="0"/>
              </a:rPr>
              <a:t>1</a:t>
            </a:r>
          </a:p>
        </p:txBody>
      </p:sp>
      <p:sp>
        <p:nvSpPr>
          <p:cNvPr id="6" name="TextBox 5">
            <a:extLst>
              <a:ext uri="{FF2B5EF4-FFF2-40B4-BE49-F238E27FC236}">
                <a16:creationId xmlns:a16="http://schemas.microsoft.com/office/drawing/2014/main" id="{8A72CBD9-2B79-9A69-9A0E-B208CA143465}"/>
              </a:ext>
            </a:extLst>
          </p:cNvPr>
          <p:cNvSpPr txBox="1"/>
          <p:nvPr/>
        </p:nvSpPr>
        <p:spPr>
          <a:xfrm>
            <a:off x="1600200" y="2235200"/>
            <a:ext cx="4140200" cy="406400"/>
          </a:xfrm>
          <a:prstGeom prst="rect">
            <a:avLst/>
          </a:prstGeom>
          <a:noFill/>
        </p:spPr>
        <p:txBody>
          <a:bodyPr vert="horz" wrap="square" lIns="0" tIns="0" rIns="0" bIns="0" rtlCol="0">
            <a:noAutofit/>
          </a:bodyPr>
          <a:lstStyle/>
          <a:p>
            <a:r>
              <a:rPr lang="en-SG" sz="2000" b="1">
                <a:solidFill>
                  <a:srgbClr val="E6EDF5"/>
                </a:solidFill>
                <a:latin typeface="Segoe UI" panose="020B0502040204020203" pitchFamily="34" charset="0"/>
              </a:rPr>
              <a:t>Limits the AI cannot leave</a:t>
            </a:r>
          </a:p>
        </p:txBody>
      </p:sp>
      <p:sp>
        <p:nvSpPr>
          <p:cNvPr id="7" name="TextBox 6">
            <a:extLst>
              <a:ext uri="{FF2B5EF4-FFF2-40B4-BE49-F238E27FC236}">
                <a16:creationId xmlns:a16="http://schemas.microsoft.com/office/drawing/2014/main" id="{21E537B9-BA03-0945-2B27-C6136D68495C}"/>
              </a:ext>
            </a:extLst>
          </p:cNvPr>
          <p:cNvSpPr txBox="1"/>
          <p:nvPr/>
        </p:nvSpPr>
        <p:spPr>
          <a:xfrm>
            <a:off x="889000" y="2895600"/>
            <a:ext cx="4775200" cy="838200"/>
          </a:xfrm>
          <a:prstGeom prst="rect">
            <a:avLst/>
          </a:prstGeom>
          <a:noFill/>
        </p:spPr>
        <p:txBody>
          <a:bodyPr vert="horz" wrap="square" lIns="0" tIns="0" rIns="0" bIns="0" rtlCol="0">
            <a:noAutofit/>
          </a:bodyPr>
          <a:lstStyle/>
          <a:p>
            <a:r>
              <a:rPr lang="en-SG" sz="1600">
                <a:solidFill>
                  <a:srgbClr val="D6E2F0"/>
                </a:solidFill>
                <a:latin typeface="Segoe UI" panose="020B0502040204020203" pitchFamily="34" charset="0"/>
              </a:rPr>
              <a:t>Min, base and max for each setting. A clamped value is marked.</a:t>
            </a:r>
          </a:p>
        </p:txBody>
      </p:sp>
      <p:sp>
        <p:nvSpPr>
          <p:cNvPr id="8" name="Rectangle: Rounded Corners 7">
            <a:extLst>
              <a:ext uri="{FF2B5EF4-FFF2-40B4-BE49-F238E27FC236}">
                <a16:creationId xmlns:a16="http://schemas.microsoft.com/office/drawing/2014/main" id="{9DDD56D5-D269-2F32-6D6B-7DDA30B65DA2}"/>
              </a:ext>
            </a:extLst>
          </p:cNvPr>
          <p:cNvSpPr/>
          <p:nvPr/>
        </p:nvSpPr>
        <p:spPr>
          <a:xfrm>
            <a:off x="6248400" y="1905000"/>
            <a:ext cx="5334000" cy="1955800"/>
          </a:xfrm>
          <a:prstGeom prst="roundRect">
            <a:avLst>
              <a:gd name="adj" fmla="val 6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07B310B8-65D0-269D-564F-BB3DC40B3571}"/>
              </a:ext>
            </a:extLst>
          </p:cNvPr>
          <p:cNvSpPr/>
          <p:nvPr/>
        </p:nvSpPr>
        <p:spPr>
          <a:xfrm>
            <a:off x="6527800" y="2184400"/>
            <a:ext cx="508000" cy="508000"/>
          </a:xfrm>
          <a:prstGeom prst="ellipse">
            <a:avLst/>
          </a:prstGeom>
          <a:solidFill>
            <a:srgbClr val="1C2B40"/>
          </a:solidFill>
          <a:ln w="9525">
            <a:solidFill>
              <a:srgbClr val="3A5577"/>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6EDF5"/>
                </a:solidFill>
                <a:latin typeface="Consolas" panose="020B0609020204030204" pitchFamily="49" charset="0"/>
              </a:rPr>
              <a:t>2</a:t>
            </a:r>
          </a:p>
        </p:txBody>
      </p:sp>
      <p:sp>
        <p:nvSpPr>
          <p:cNvPr id="10" name="TextBox 9">
            <a:extLst>
              <a:ext uri="{FF2B5EF4-FFF2-40B4-BE49-F238E27FC236}">
                <a16:creationId xmlns:a16="http://schemas.microsoft.com/office/drawing/2014/main" id="{68F2BA39-4D22-D475-1166-2BB6DFADB632}"/>
              </a:ext>
            </a:extLst>
          </p:cNvPr>
          <p:cNvSpPr txBox="1"/>
          <p:nvPr/>
        </p:nvSpPr>
        <p:spPr>
          <a:xfrm>
            <a:off x="7239000" y="2235200"/>
            <a:ext cx="4140200" cy="406400"/>
          </a:xfrm>
          <a:prstGeom prst="rect">
            <a:avLst/>
          </a:prstGeom>
          <a:noFill/>
        </p:spPr>
        <p:txBody>
          <a:bodyPr vert="horz" wrap="square" lIns="0" tIns="0" rIns="0" bIns="0" rtlCol="0">
            <a:noAutofit/>
          </a:bodyPr>
          <a:lstStyle/>
          <a:p>
            <a:r>
              <a:rPr lang="en-SG" sz="2000" b="1">
                <a:solidFill>
                  <a:srgbClr val="E6EDF5"/>
                </a:solidFill>
                <a:latin typeface="Segoe UI" panose="020B0502040204020203" pitchFamily="34" charset="0"/>
              </a:rPr>
              <a:t>Fixed mode for assessment</a:t>
            </a:r>
          </a:p>
        </p:txBody>
      </p:sp>
      <p:sp>
        <p:nvSpPr>
          <p:cNvPr id="11" name="TextBox 10">
            <a:extLst>
              <a:ext uri="{FF2B5EF4-FFF2-40B4-BE49-F238E27FC236}">
                <a16:creationId xmlns:a16="http://schemas.microsoft.com/office/drawing/2014/main" id="{FAC2C4CB-C3DD-DAE4-CC22-184C0544CE9A}"/>
              </a:ext>
            </a:extLst>
          </p:cNvPr>
          <p:cNvSpPr txBox="1"/>
          <p:nvPr/>
        </p:nvSpPr>
        <p:spPr>
          <a:xfrm>
            <a:off x="6527800" y="2895600"/>
            <a:ext cx="4775200" cy="838200"/>
          </a:xfrm>
          <a:prstGeom prst="rect">
            <a:avLst/>
          </a:prstGeom>
          <a:noFill/>
        </p:spPr>
        <p:txBody>
          <a:bodyPr vert="horz" wrap="square" lIns="0" tIns="0" rIns="0" bIns="0" rtlCol="0">
            <a:noAutofit/>
          </a:bodyPr>
          <a:lstStyle/>
          <a:p>
            <a:r>
              <a:rPr lang="en-SG" sz="1600">
                <a:solidFill>
                  <a:srgbClr val="D6E2F0"/>
                </a:solidFill>
                <a:latin typeface="Segoe UI" panose="020B0502040204020203" pitchFamily="34" charset="0"/>
              </a:rPr>
              <a:t>Zero adjustments, a different badge. Practice and assessment stay apart.</a:t>
            </a:r>
          </a:p>
        </p:txBody>
      </p:sp>
      <p:sp>
        <p:nvSpPr>
          <p:cNvPr id="12" name="Rectangle: Rounded Corners 11">
            <a:extLst>
              <a:ext uri="{FF2B5EF4-FFF2-40B4-BE49-F238E27FC236}">
                <a16:creationId xmlns:a16="http://schemas.microsoft.com/office/drawing/2014/main" id="{CCA2D60B-FA51-8F65-2410-9755F5B90CE7}"/>
              </a:ext>
            </a:extLst>
          </p:cNvPr>
          <p:cNvSpPr/>
          <p:nvPr/>
        </p:nvSpPr>
        <p:spPr>
          <a:xfrm>
            <a:off x="609600" y="4064000"/>
            <a:ext cx="5334000" cy="1955800"/>
          </a:xfrm>
          <a:prstGeom prst="roundRect">
            <a:avLst>
              <a:gd name="adj" fmla="val 6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45D73032-A7DF-A2E7-C037-B6B0A3B5392F}"/>
              </a:ext>
            </a:extLst>
          </p:cNvPr>
          <p:cNvSpPr/>
          <p:nvPr/>
        </p:nvSpPr>
        <p:spPr>
          <a:xfrm>
            <a:off x="889000" y="4343400"/>
            <a:ext cx="508000" cy="508000"/>
          </a:xfrm>
          <a:prstGeom prst="ellipse">
            <a:avLst/>
          </a:prstGeom>
          <a:solidFill>
            <a:srgbClr val="251A3D"/>
          </a:solidFill>
          <a:ln w="9525">
            <a:solidFill>
              <a:srgbClr val="B58C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6D9FF"/>
                </a:solidFill>
                <a:latin typeface="Consolas" panose="020B0609020204030204" pitchFamily="49" charset="0"/>
              </a:rPr>
              <a:t>3</a:t>
            </a:r>
          </a:p>
        </p:txBody>
      </p:sp>
      <p:sp>
        <p:nvSpPr>
          <p:cNvPr id="14" name="TextBox 13">
            <a:extLst>
              <a:ext uri="{FF2B5EF4-FFF2-40B4-BE49-F238E27FC236}">
                <a16:creationId xmlns:a16="http://schemas.microsoft.com/office/drawing/2014/main" id="{7C736A30-3FDB-511F-091E-2A4E6B4D5D49}"/>
              </a:ext>
            </a:extLst>
          </p:cNvPr>
          <p:cNvSpPr txBox="1"/>
          <p:nvPr/>
        </p:nvSpPr>
        <p:spPr>
          <a:xfrm>
            <a:off x="1600200" y="4394200"/>
            <a:ext cx="4140200" cy="406400"/>
          </a:xfrm>
          <a:prstGeom prst="rect">
            <a:avLst/>
          </a:prstGeom>
          <a:noFill/>
        </p:spPr>
        <p:txBody>
          <a:bodyPr vert="horz" wrap="square" lIns="0" tIns="0" rIns="0" bIns="0" rtlCol="0">
            <a:noAutofit/>
          </a:bodyPr>
          <a:lstStyle/>
          <a:p>
            <a:r>
              <a:rPr lang="en-SG" sz="2000" b="1">
                <a:solidFill>
                  <a:srgbClr val="E6EDF5"/>
                </a:solidFill>
                <a:latin typeface="Segoe UI" panose="020B0502040204020203" pitchFamily="34" charset="0"/>
              </a:rPr>
              <a:t>Steer in plain language</a:t>
            </a:r>
          </a:p>
        </p:txBody>
      </p:sp>
      <p:sp>
        <p:nvSpPr>
          <p:cNvPr id="15" name="TextBox 14">
            <a:extLst>
              <a:ext uri="{FF2B5EF4-FFF2-40B4-BE49-F238E27FC236}">
                <a16:creationId xmlns:a16="http://schemas.microsoft.com/office/drawing/2014/main" id="{F8C9FD63-8146-C9F6-0519-3204E517C4C3}"/>
              </a:ext>
            </a:extLst>
          </p:cNvPr>
          <p:cNvSpPr txBox="1"/>
          <p:nvPr/>
        </p:nvSpPr>
        <p:spPr>
          <a:xfrm>
            <a:off x="889000" y="5054600"/>
            <a:ext cx="4775200" cy="838200"/>
          </a:xfrm>
          <a:prstGeom prst="rect">
            <a:avLst/>
          </a:prstGeom>
          <a:noFill/>
        </p:spPr>
        <p:txBody>
          <a:bodyPr vert="horz" wrap="square" lIns="0" tIns="0" rIns="0" bIns="0" rtlCol="0">
            <a:noAutofit/>
          </a:bodyPr>
          <a:lstStyle/>
          <a:p>
            <a:r>
              <a:rPr lang="en-SG" sz="1600">
                <a:solidFill>
                  <a:srgbClr val="D6E2F0"/>
                </a:solidFill>
                <a:latin typeface="Segoe UI" panose="020B0502040204020203" pitchFamily="34" charset="0"/>
              </a:rPr>
              <a:t>The typed request becomes a directive, shown before it applies.</a:t>
            </a:r>
          </a:p>
        </p:txBody>
      </p:sp>
      <p:sp>
        <p:nvSpPr>
          <p:cNvPr id="16" name="Rectangle: Rounded Corners 15">
            <a:extLst>
              <a:ext uri="{FF2B5EF4-FFF2-40B4-BE49-F238E27FC236}">
                <a16:creationId xmlns:a16="http://schemas.microsoft.com/office/drawing/2014/main" id="{3B0C31A3-A81F-7B10-B837-D2854964516D}"/>
              </a:ext>
            </a:extLst>
          </p:cNvPr>
          <p:cNvSpPr/>
          <p:nvPr/>
        </p:nvSpPr>
        <p:spPr>
          <a:xfrm>
            <a:off x="6248400" y="4064000"/>
            <a:ext cx="5334000" cy="1955800"/>
          </a:xfrm>
          <a:prstGeom prst="roundRect">
            <a:avLst>
              <a:gd name="adj" fmla="val 6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Oval 16">
            <a:extLst>
              <a:ext uri="{FF2B5EF4-FFF2-40B4-BE49-F238E27FC236}">
                <a16:creationId xmlns:a16="http://schemas.microsoft.com/office/drawing/2014/main" id="{A37BDA6B-1E00-4D2C-54DE-15950B946E94}"/>
              </a:ext>
            </a:extLst>
          </p:cNvPr>
          <p:cNvSpPr/>
          <p:nvPr/>
        </p:nvSpPr>
        <p:spPr>
          <a:xfrm>
            <a:off x="6527800" y="4343400"/>
            <a:ext cx="508000" cy="508000"/>
          </a:xfrm>
          <a:prstGeom prst="ellipse">
            <a:avLst/>
          </a:prstGeom>
          <a:solidFill>
            <a:srgbClr val="251A3D"/>
          </a:solidFill>
          <a:ln w="9525">
            <a:solidFill>
              <a:srgbClr val="B58C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6D9FF"/>
                </a:solidFill>
                <a:latin typeface="Consolas" panose="020B0609020204030204" pitchFamily="49" charset="0"/>
              </a:rPr>
              <a:t>4</a:t>
            </a:r>
          </a:p>
        </p:txBody>
      </p:sp>
      <p:sp>
        <p:nvSpPr>
          <p:cNvPr id="18" name="TextBox 17">
            <a:extLst>
              <a:ext uri="{FF2B5EF4-FFF2-40B4-BE49-F238E27FC236}">
                <a16:creationId xmlns:a16="http://schemas.microsoft.com/office/drawing/2014/main" id="{E9DC26F8-E4E0-1897-24A4-2DA2DCBEE192}"/>
              </a:ext>
            </a:extLst>
          </p:cNvPr>
          <p:cNvSpPr txBox="1"/>
          <p:nvPr/>
        </p:nvSpPr>
        <p:spPr>
          <a:xfrm>
            <a:off x="7239000" y="4394200"/>
            <a:ext cx="4140200" cy="406400"/>
          </a:xfrm>
          <a:prstGeom prst="rect">
            <a:avLst/>
          </a:prstGeom>
          <a:noFill/>
        </p:spPr>
        <p:txBody>
          <a:bodyPr vert="horz" wrap="square" lIns="0" tIns="0" rIns="0" bIns="0" rtlCol="0">
            <a:noAutofit/>
          </a:bodyPr>
          <a:lstStyle/>
          <a:p>
            <a:r>
              <a:rPr lang="en-SG" sz="2000" b="1">
                <a:solidFill>
                  <a:srgbClr val="E6EDF5"/>
                </a:solidFill>
                <a:latin typeface="Segoe UI" panose="020B0502040204020203" pitchFamily="34" charset="0"/>
              </a:rPr>
              <a:t>Figures come from code</a:t>
            </a:r>
          </a:p>
        </p:txBody>
      </p:sp>
      <p:sp>
        <p:nvSpPr>
          <p:cNvPr id="19" name="TextBox 18">
            <a:extLst>
              <a:ext uri="{FF2B5EF4-FFF2-40B4-BE49-F238E27FC236}">
                <a16:creationId xmlns:a16="http://schemas.microsoft.com/office/drawing/2014/main" id="{F675BEBA-F5A1-30B7-B9A2-55132AA1C11A}"/>
              </a:ext>
            </a:extLst>
          </p:cNvPr>
          <p:cNvSpPr txBox="1"/>
          <p:nvPr/>
        </p:nvSpPr>
        <p:spPr>
          <a:xfrm>
            <a:off x="6527800" y="5054600"/>
            <a:ext cx="4775200" cy="838200"/>
          </a:xfrm>
          <a:prstGeom prst="rect">
            <a:avLst/>
          </a:prstGeom>
          <a:noFill/>
        </p:spPr>
        <p:txBody>
          <a:bodyPr vert="horz" wrap="square" lIns="0" tIns="0" rIns="0" bIns="0" rtlCol="0">
            <a:noAutofit/>
          </a:bodyPr>
          <a:lstStyle/>
          <a:p>
            <a:r>
              <a:rPr lang="en-SG" sz="1600">
                <a:solidFill>
                  <a:srgbClr val="D6E2F0"/>
                </a:solidFill>
                <a:latin typeface="Segoe UI" panose="020B0502040204020203" pitchFamily="34" charset="0"/>
              </a:rPr>
              <a:t>The optional local LLM only rephrases. It never adds a number.</a:t>
            </a:r>
          </a:p>
        </p:txBody>
      </p:sp>
      <p:sp>
        <p:nvSpPr>
          <p:cNvPr id="20" name="TextBox 19">
            <a:extLst>
              <a:ext uri="{FF2B5EF4-FFF2-40B4-BE49-F238E27FC236}">
                <a16:creationId xmlns:a16="http://schemas.microsoft.com/office/drawing/2014/main" id="{48716751-9DDD-FB1B-0D6F-A2C2EFE44A13}"/>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8AA0B8"/>
                </a:solidFill>
                <a:latin typeface="Consolas" panose="020B0609020204030204" pitchFamily="49" charset="0"/>
              </a:rPr>
              <a:t>ADAPTIVE CGF TRAINER</a:t>
            </a:r>
          </a:p>
        </p:txBody>
      </p:sp>
      <p:sp>
        <p:nvSpPr>
          <p:cNvPr id="21" name="TextBox 20">
            <a:extLst>
              <a:ext uri="{FF2B5EF4-FFF2-40B4-BE49-F238E27FC236}">
                <a16:creationId xmlns:a16="http://schemas.microsoft.com/office/drawing/2014/main" id="{EDC28E82-8C82-8753-49D3-EEA3FC2A390F}"/>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8AA0B8"/>
                </a:solidFill>
                <a:latin typeface="Consolas" panose="020B0609020204030204" pitchFamily="49" charset="0"/>
              </a:rPr>
              <a:t>08</a:t>
            </a:r>
          </a:p>
        </p:txBody>
      </p:sp>
    </p:spTree>
    <p:extLst>
      <p:ext uri="{BB962C8B-B14F-4D97-AF65-F5344CB8AC3E}">
        <p14:creationId xmlns:p14="http://schemas.microsoft.com/office/powerpoint/2010/main" val="33562412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11C2B"/>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EB58B2-CE84-1333-D0D8-0C5B2C3E8489}"/>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E6EDF5"/>
                </a:solidFill>
                <a:latin typeface="Segoe UI" panose="020B0502040204020203" pitchFamily="34" charset="0"/>
              </a:rPr>
              <a:t>The report feeds the profile for next time</a:t>
            </a:r>
          </a:p>
        </p:txBody>
      </p:sp>
      <p:sp>
        <p:nvSpPr>
          <p:cNvPr id="3" name="TextBox 2">
            <a:extLst>
              <a:ext uri="{FF2B5EF4-FFF2-40B4-BE49-F238E27FC236}">
                <a16:creationId xmlns:a16="http://schemas.microsoft.com/office/drawing/2014/main" id="{C6145983-1E0C-9318-6A71-113B191A306E}"/>
              </a:ext>
            </a:extLst>
          </p:cNvPr>
          <p:cNvSpPr txBox="1"/>
          <p:nvPr/>
        </p:nvSpPr>
        <p:spPr>
          <a:xfrm>
            <a:off x="609600" y="457200"/>
            <a:ext cx="8890000" cy="254000"/>
          </a:xfrm>
          <a:prstGeom prst="rect">
            <a:avLst/>
          </a:prstGeom>
          <a:noFill/>
        </p:spPr>
        <p:txBody>
          <a:bodyPr vert="horz" wrap="square" lIns="0" tIns="0" rIns="0" bIns="0" rtlCol="0">
            <a:noAutofit/>
          </a:bodyPr>
          <a:lstStyle/>
          <a:p>
            <a:r>
              <a:rPr lang="en-SG" sz="1400">
                <a:solidFill>
                  <a:srgbClr val="4DA6FF"/>
                </a:solidFill>
                <a:latin typeface="Consolas" panose="020B0609020204030204" pitchFamily="49" charset="0"/>
              </a:rPr>
              <a:t>08 · DEBRIEF</a:t>
            </a:r>
          </a:p>
        </p:txBody>
      </p:sp>
      <p:sp>
        <p:nvSpPr>
          <p:cNvPr id="4" name="TextBox 3">
            <a:extLst>
              <a:ext uri="{FF2B5EF4-FFF2-40B4-BE49-F238E27FC236}">
                <a16:creationId xmlns:a16="http://schemas.microsoft.com/office/drawing/2014/main" id="{16DFD8D1-A1DE-F0D0-7EA9-0DF511394403}"/>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One debrief per trainee</a:t>
            </a:r>
          </a:p>
        </p:txBody>
      </p:sp>
      <p:sp>
        <p:nvSpPr>
          <p:cNvPr id="5" name="TextBox 4">
            <a:extLst>
              <a:ext uri="{FF2B5EF4-FFF2-40B4-BE49-F238E27FC236}">
                <a16:creationId xmlns:a16="http://schemas.microsoft.com/office/drawing/2014/main" id="{4E9282EC-DC05-AB5B-8622-86FD8FC01B2F}"/>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Events handled, focus area, and why the CGFs acted.</a:t>
            </a:r>
          </a:p>
        </p:txBody>
      </p:sp>
      <p:sp>
        <p:nvSpPr>
          <p:cNvPr id="6" name="TextBox 5">
            <a:extLst>
              <a:ext uri="{FF2B5EF4-FFF2-40B4-BE49-F238E27FC236}">
                <a16:creationId xmlns:a16="http://schemas.microsoft.com/office/drawing/2014/main" id="{A179A74A-41A6-02FA-BB70-947B29D62722}"/>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Pressure over time</a:t>
            </a:r>
          </a:p>
        </p:txBody>
      </p:sp>
      <p:sp>
        <p:nvSpPr>
          <p:cNvPr id="7" name="TextBox 6">
            <a:extLst>
              <a:ext uri="{FF2B5EF4-FFF2-40B4-BE49-F238E27FC236}">
                <a16:creationId xmlns:a16="http://schemas.microsoft.com/office/drawing/2014/main" id="{452EBFC4-22F4-5E17-B4EF-EFB86332C7A8}"/>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A chart of CGF pressure against the trainee’s success rate.</a:t>
            </a:r>
          </a:p>
        </p:txBody>
      </p:sp>
      <p:sp>
        <p:nvSpPr>
          <p:cNvPr id="8" name="TextBox 7">
            <a:extLst>
              <a:ext uri="{FF2B5EF4-FFF2-40B4-BE49-F238E27FC236}">
                <a16:creationId xmlns:a16="http://schemas.microsoft.com/office/drawing/2014/main" id="{5D0C9BCE-E74A-CAC7-8FF9-EED35B5F16C4}"/>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Then the update</a:t>
            </a:r>
          </a:p>
        </p:txBody>
      </p:sp>
      <p:sp>
        <p:nvSpPr>
          <p:cNvPr id="9" name="TextBox 8">
            <a:extLst>
              <a:ext uri="{FF2B5EF4-FFF2-40B4-BE49-F238E27FC236}">
                <a16:creationId xmlns:a16="http://schemas.microsoft.com/office/drawing/2014/main" id="{D5AE9185-4519-19C5-3EC8-6AD37525B8DA}"/>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The profile and history change, and the next target is predicted.</a:t>
            </a:r>
          </a:p>
        </p:txBody>
      </p:sp>
      <p:pic>
        <p:nvPicPr>
          <p:cNvPr id="11" name="Picture 10" descr="The end-of-training report: a table of trainees, a debrief with focus area, and a chart of CGF pressure">
            <a:extLst>
              <a:ext uri="{FF2B5EF4-FFF2-40B4-BE49-F238E27FC236}">
                <a16:creationId xmlns:a16="http://schemas.microsoft.com/office/drawing/2014/main" id="{79792BAE-9F55-6B89-47CB-39F3D5F000D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3A5577"/>
            </a:solidFill>
          </a:ln>
        </p:spPr>
      </p:pic>
      <p:sp>
        <p:nvSpPr>
          <p:cNvPr id="12" name="TextBox 11">
            <a:extLst>
              <a:ext uri="{FF2B5EF4-FFF2-40B4-BE49-F238E27FC236}">
                <a16:creationId xmlns:a16="http://schemas.microsoft.com/office/drawing/2014/main" id="{B11F060D-DCAA-41F5-83BC-0EF8EDD9CCDC}"/>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8AA0B8"/>
                </a:solidFill>
                <a:latin typeface="Consolas" panose="020B0609020204030204" pitchFamily="49" charset="0"/>
              </a:rPr>
              <a:t>ADAPTIVE CGF TRAINER  ·  SEEDED SESSION</a:t>
            </a:r>
          </a:p>
        </p:txBody>
      </p:sp>
      <p:sp>
        <p:nvSpPr>
          <p:cNvPr id="13" name="TextBox 12">
            <a:extLst>
              <a:ext uri="{FF2B5EF4-FFF2-40B4-BE49-F238E27FC236}">
                <a16:creationId xmlns:a16="http://schemas.microsoft.com/office/drawing/2014/main" id="{45AE6FF8-6369-0F13-3F2D-8594ACF28AC9}"/>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8AA0B8"/>
                </a:solidFill>
                <a:latin typeface="Consolas" panose="020B0609020204030204" pitchFamily="49" charset="0"/>
              </a:rPr>
              <a:t>09</a:t>
            </a:r>
          </a:p>
        </p:txBody>
      </p:sp>
    </p:spTree>
    <p:extLst>
      <p:ext uri="{BB962C8B-B14F-4D97-AF65-F5344CB8AC3E}">
        <p14:creationId xmlns:p14="http://schemas.microsoft.com/office/powerpoint/2010/main" val="4223897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42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9FD85-E6A9-4626-66B2-54200939AE50}"/>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E6EDF5"/>
                </a:solidFill>
                <a:latin typeface="Segoe UI" panose="020B0502040204020203" pitchFamily="34" charset="0"/>
              </a:rPr>
              <a:t>Where the whole intake is developing</a:t>
            </a:r>
          </a:p>
        </p:txBody>
      </p:sp>
      <p:sp>
        <p:nvSpPr>
          <p:cNvPr id="3" name="TextBox 2">
            <a:extLst>
              <a:ext uri="{FF2B5EF4-FFF2-40B4-BE49-F238E27FC236}">
                <a16:creationId xmlns:a16="http://schemas.microsoft.com/office/drawing/2014/main" id="{24AE25E4-1B59-D337-E09A-AB616D3D0DCF}"/>
              </a:ext>
            </a:extLst>
          </p:cNvPr>
          <p:cNvSpPr txBox="1"/>
          <p:nvPr/>
        </p:nvSpPr>
        <p:spPr>
          <a:xfrm>
            <a:off x="609600" y="457200"/>
            <a:ext cx="8890000" cy="254000"/>
          </a:xfrm>
          <a:prstGeom prst="rect">
            <a:avLst/>
          </a:prstGeom>
          <a:noFill/>
        </p:spPr>
        <p:txBody>
          <a:bodyPr vert="horz" wrap="square" lIns="0" tIns="0" rIns="0" bIns="0" rtlCol="0">
            <a:noAutofit/>
          </a:bodyPr>
          <a:lstStyle/>
          <a:p>
            <a:r>
              <a:rPr lang="en-SG" sz="1400">
                <a:solidFill>
                  <a:srgbClr val="4DA6FF"/>
                </a:solidFill>
                <a:latin typeface="Consolas" panose="020B0609020204030204" pitchFamily="49" charset="0"/>
              </a:rPr>
              <a:t>09 · COHORT</a:t>
            </a:r>
          </a:p>
        </p:txBody>
      </p:sp>
      <p:pic>
        <p:nvPicPr>
          <p:cNvPr id="5" name="Picture 4" descr="The cohort overview: competency means across 22 trainees and a heatmap by trainee">
            <a:extLst>
              <a:ext uri="{FF2B5EF4-FFF2-40B4-BE49-F238E27FC236}">
                <a16:creationId xmlns:a16="http://schemas.microsoft.com/office/drawing/2014/main" id="{A31072B7-B5BB-1588-B300-4F542313BC5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3A5577"/>
            </a:solidFill>
          </a:ln>
        </p:spPr>
      </p:pic>
      <p:sp>
        <p:nvSpPr>
          <p:cNvPr id="6" name="TextBox 5">
            <a:extLst>
              <a:ext uri="{FF2B5EF4-FFF2-40B4-BE49-F238E27FC236}">
                <a16:creationId xmlns:a16="http://schemas.microsoft.com/office/drawing/2014/main" id="{708589F3-5E03-CD19-CC1F-F36A12F29F7E}"/>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22 synthetic trainees</a:t>
            </a:r>
          </a:p>
        </p:txBody>
      </p:sp>
      <p:sp>
        <p:nvSpPr>
          <p:cNvPr id="7" name="TextBox 6">
            <a:extLst>
              <a:ext uri="{FF2B5EF4-FFF2-40B4-BE49-F238E27FC236}">
                <a16:creationId xmlns:a16="http://schemas.microsoft.com/office/drawing/2014/main" id="{0D5C89E8-095C-8776-912F-724313FFC9C1}"/>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A heatmap of competencies, with the evidence behind each cell.</a:t>
            </a:r>
          </a:p>
        </p:txBody>
      </p:sp>
      <p:sp>
        <p:nvSpPr>
          <p:cNvPr id="8" name="TextBox 7">
            <a:extLst>
              <a:ext uri="{FF2B5EF4-FFF2-40B4-BE49-F238E27FC236}">
                <a16:creationId xmlns:a16="http://schemas.microsoft.com/office/drawing/2014/main" id="{7BA56DE0-0574-BA2D-2EDF-1B9585DC74C8}"/>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5 of 9 measured</a:t>
            </a:r>
          </a:p>
        </p:txBody>
      </p:sp>
      <p:sp>
        <p:nvSpPr>
          <p:cNvPr id="9" name="TextBox 8">
            <a:extLst>
              <a:ext uri="{FF2B5EF4-FFF2-40B4-BE49-F238E27FC236}">
                <a16:creationId xmlns:a16="http://schemas.microsoft.com/office/drawing/2014/main" id="{3A3329F9-233D-1ABD-7324-EFC1C11F8958}"/>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The other four read “no evidence” until the simulator emits events for them.</a:t>
            </a:r>
          </a:p>
        </p:txBody>
      </p:sp>
      <p:sp>
        <p:nvSpPr>
          <p:cNvPr id="10" name="TextBox 9">
            <a:extLst>
              <a:ext uri="{FF2B5EF4-FFF2-40B4-BE49-F238E27FC236}">
                <a16:creationId xmlns:a16="http://schemas.microsoft.com/office/drawing/2014/main" id="{3A7DE32B-3BA9-1E9B-CD60-7A068D09DE5E}"/>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E6EDF5"/>
                </a:solidFill>
                <a:latin typeface="Segoe UI" panose="020B0502040204020203" pitchFamily="34" charset="0"/>
              </a:rPr>
              <a:t>For the curriculum</a:t>
            </a:r>
          </a:p>
        </p:txBody>
      </p:sp>
      <p:sp>
        <p:nvSpPr>
          <p:cNvPr id="11" name="TextBox 10">
            <a:extLst>
              <a:ext uri="{FF2B5EF4-FFF2-40B4-BE49-F238E27FC236}">
                <a16:creationId xmlns:a16="http://schemas.microsoft.com/office/drawing/2014/main" id="{979C9E3B-505A-812C-791C-5A3B175759ED}"/>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D6E2F0"/>
                </a:solidFill>
                <a:latin typeface="Segoe UI" panose="020B0502040204020203" pitchFamily="34" charset="0"/>
              </a:rPr>
              <a:t>Not for ranking people.</a:t>
            </a:r>
          </a:p>
        </p:txBody>
      </p:sp>
      <p:sp>
        <p:nvSpPr>
          <p:cNvPr id="12" name="TextBox 11">
            <a:extLst>
              <a:ext uri="{FF2B5EF4-FFF2-40B4-BE49-F238E27FC236}">
                <a16:creationId xmlns:a16="http://schemas.microsoft.com/office/drawing/2014/main" id="{79FB4645-4644-105E-5455-81DC80627E7D}"/>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8AA0B8"/>
                </a:solidFill>
                <a:latin typeface="Consolas" panose="020B0609020204030204" pitchFamily="49" charset="0"/>
              </a:rPr>
              <a:t>ADAPTIVE CGF TRAINER  ·  SYNTHETIC COHORT</a:t>
            </a:r>
          </a:p>
        </p:txBody>
      </p:sp>
      <p:sp>
        <p:nvSpPr>
          <p:cNvPr id="13" name="TextBox 12">
            <a:extLst>
              <a:ext uri="{FF2B5EF4-FFF2-40B4-BE49-F238E27FC236}">
                <a16:creationId xmlns:a16="http://schemas.microsoft.com/office/drawing/2014/main" id="{FA50F2F5-6D28-3AB9-1E6E-A8BB2DEDF74C}"/>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8AA0B8"/>
                </a:solidFill>
                <a:latin typeface="Consolas" panose="020B0609020204030204" pitchFamily="49" charset="0"/>
              </a:rPr>
              <a:t>10</a:t>
            </a:r>
          </a:p>
        </p:txBody>
      </p:sp>
    </p:spTree>
    <p:extLst>
      <p:ext uri="{BB962C8B-B14F-4D97-AF65-F5344CB8AC3E}">
        <p14:creationId xmlns:p14="http://schemas.microsoft.com/office/powerpoint/2010/main" val="19630606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11C2B"/>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EFA2D-E85F-5539-1FCB-5E433710B4D4}"/>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E6EDF5"/>
                </a:solidFill>
                <a:latin typeface="Segoe UI" panose="020B0502040204020203" pitchFamily="34" charset="0"/>
              </a:rPr>
              <a:t>Built today, and what is still roadmap</a:t>
            </a:r>
          </a:p>
        </p:txBody>
      </p:sp>
      <p:sp>
        <p:nvSpPr>
          <p:cNvPr id="3" name="TextBox 2">
            <a:extLst>
              <a:ext uri="{FF2B5EF4-FFF2-40B4-BE49-F238E27FC236}">
                <a16:creationId xmlns:a16="http://schemas.microsoft.com/office/drawing/2014/main" id="{927C016C-5BDB-79FD-132D-A865AC3FD989}"/>
              </a:ext>
            </a:extLst>
          </p:cNvPr>
          <p:cNvSpPr txBox="1"/>
          <p:nvPr/>
        </p:nvSpPr>
        <p:spPr>
          <a:xfrm>
            <a:off x="609600" y="457200"/>
            <a:ext cx="8890000" cy="254000"/>
          </a:xfrm>
          <a:prstGeom prst="rect">
            <a:avLst/>
          </a:prstGeom>
          <a:noFill/>
        </p:spPr>
        <p:txBody>
          <a:bodyPr vert="horz" wrap="square" lIns="0" tIns="0" rIns="0" bIns="0" rtlCol="0">
            <a:noAutofit/>
          </a:bodyPr>
          <a:lstStyle/>
          <a:p>
            <a:r>
              <a:rPr lang="en-SG" sz="1400">
                <a:solidFill>
                  <a:srgbClr val="4DA6FF"/>
                </a:solidFill>
                <a:latin typeface="Consolas" panose="020B0609020204030204" pitchFamily="49" charset="0"/>
              </a:rPr>
              <a:t>10 · WHAT COMES NEXT</a:t>
            </a:r>
          </a:p>
        </p:txBody>
      </p:sp>
      <p:graphicFrame>
        <p:nvGraphicFramePr>
          <p:cNvPr id="4" name="Roadmap table" descr="Table of built and not-built items">
            <a:extLst>
              <a:ext uri="{FF2B5EF4-FFF2-40B4-BE49-F238E27FC236}">
                <a16:creationId xmlns:a16="http://schemas.microsoft.com/office/drawing/2014/main" id="{245E6CEF-266E-1199-DA82-EFBF27020F5F}"/>
              </a:ext>
            </a:extLst>
          </p:cNvPr>
          <p:cNvGraphicFramePr>
            <a:graphicFrameLocks noGrp="1"/>
          </p:cNvGraphicFramePr>
          <p:nvPr>
            <p:extLst>
              <p:ext uri="{D42A27DB-BD31-4B8C-83A1-F6EECF244321}">
                <p14:modId xmlns:p14="http://schemas.microsoft.com/office/powerpoint/2010/main" val="3252160588"/>
              </p:ext>
            </p:extLst>
          </p:nvPr>
        </p:nvGraphicFramePr>
        <p:xfrm>
          <a:off x="609600" y="1905000"/>
          <a:ext cx="10972800" cy="3911600"/>
        </p:xfrm>
        <a:graphic>
          <a:graphicData uri="http://schemas.openxmlformats.org/drawingml/2006/table">
            <a:tbl>
              <a:tblPr firstRow="1" bandRow="1">
                <a:tableStyleId>{2D5ABB26-0587-4C30-8999-92F81FD0307C}</a:tableStyleId>
              </a:tblPr>
              <a:tblGrid>
                <a:gridCol w="7620000">
                  <a:extLst>
                    <a:ext uri="{9D8B030D-6E8A-4147-A177-3AD203B41FA5}">
                      <a16:colId xmlns:a16="http://schemas.microsoft.com/office/drawing/2014/main" val="1150687603"/>
                    </a:ext>
                  </a:extLst>
                </a:gridCol>
                <a:gridCol w="3352800">
                  <a:extLst>
                    <a:ext uri="{9D8B030D-6E8A-4147-A177-3AD203B41FA5}">
                      <a16:colId xmlns:a16="http://schemas.microsoft.com/office/drawing/2014/main" val="4013281357"/>
                    </a:ext>
                  </a:extLst>
                </a:gridCol>
              </a:tblGrid>
              <a:tr h="558800">
                <a:tc>
                  <a:txBody>
                    <a:bodyPr/>
                    <a:lstStyle/>
                    <a:p>
                      <a:r>
                        <a:rPr lang="en-SG" sz="1800" b="1">
                          <a:solidFill>
                            <a:srgbClr val="E6EDF5"/>
                          </a:solidFill>
                          <a:latin typeface="Segoe UI" panose="020B0502040204020203" pitchFamily="34" charset="0"/>
                        </a:rPr>
                        <a:t>Item</a:t>
                      </a:r>
                    </a:p>
                  </a:txBody>
                  <a:tcPr marL="177800" marR="127000" anchor="ctr">
                    <a:solidFill>
                      <a:srgbClr val="1C2B40"/>
                    </a:solidFill>
                  </a:tcPr>
                </a:tc>
                <a:tc>
                  <a:txBody>
                    <a:bodyPr/>
                    <a:lstStyle/>
                    <a:p>
                      <a:r>
                        <a:rPr lang="en-SG" sz="1800" b="1">
                          <a:solidFill>
                            <a:srgbClr val="E6EDF5"/>
                          </a:solidFill>
                          <a:latin typeface="Segoe UI" panose="020B0502040204020203" pitchFamily="34" charset="0"/>
                        </a:rPr>
                        <a:t>Status</a:t>
                      </a:r>
                    </a:p>
                  </a:txBody>
                  <a:tcPr marL="177800" marR="127000" anchor="ctr">
                    <a:solidFill>
                      <a:srgbClr val="1C2B40"/>
                    </a:solidFill>
                  </a:tcPr>
                </a:tc>
                <a:extLst>
                  <a:ext uri="{0D108BD9-81ED-4DB2-BD59-A6C34878D82A}">
                    <a16:rowId xmlns:a16="http://schemas.microsoft.com/office/drawing/2014/main" val="1173693616"/>
                  </a:ext>
                </a:extLst>
              </a:tr>
              <a:tr h="558800">
                <a:tc>
                  <a:txBody>
                    <a:bodyPr/>
                    <a:lstStyle/>
                    <a:p>
                      <a:r>
                        <a:rPr lang="en-SG" sz="1800" b="0">
                          <a:solidFill>
                            <a:srgbClr val="D6E2F0"/>
                          </a:solidFill>
                          <a:latin typeface="Segoe UI" panose="020B0502040204020203" pitchFamily="34" charset="0"/>
                        </a:rPr>
                        <a:t>Settings and events as contracts</a:t>
                      </a:r>
                    </a:p>
                  </a:txBody>
                  <a:tcPr marL="177800" marR="127000" anchor="ctr">
                    <a:solidFill>
                      <a:srgbClr val="16243A"/>
                    </a:solidFill>
                  </a:tcPr>
                </a:tc>
                <a:tc>
                  <a:txBody>
                    <a:bodyPr/>
                    <a:lstStyle/>
                    <a:p>
                      <a:r>
                        <a:rPr lang="en-SG" sz="1800" b="0">
                          <a:solidFill>
                            <a:srgbClr val="E6EDF5"/>
                          </a:solidFill>
                          <a:latin typeface="Segoe UI" panose="020B0502040204020203" pitchFamily="34" charset="0"/>
                        </a:rPr>
                        <a:t>✓ Built</a:t>
                      </a:r>
                    </a:p>
                  </a:txBody>
                  <a:tcPr marL="177800" marR="127000" anchor="ctr">
                    <a:solidFill>
                      <a:srgbClr val="16243A"/>
                    </a:solidFill>
                  </a:tcPr>
                </a:tc>
                <a:extLst>
                  <a:ext uri="{0D108BD9-81ED-4DB2-BD59-A6C34878D82A}">
                    <a16:rowId xmlns:a16="http://schemas.microsoft.com/office/drawing/2014/main" val="183859462"/>
                  </a:ext>
                </a:extLst>
              </a:tr>
              <a:tr h="558800">
                <a:tc>
                  <a:txBody>
                    <a:bodyPr/>
                    <a:lstStyle/>
                    <a:p>
                      <a:r>
                        <a:rPr lang="en-SG" sz="1800" b="0">
                          <a:solidFill>
                            <a:srgbClr val="D6E2F0"/>
                          </a:solidFill>
                          <a:latin typeface="Segoe UI" panose="020B0502040204020203" pitchFamily="34" charset="0"/>
                        </a:rPr>
                        <a:t>Adaptation on the sea scenario, five competencies</a:t>
                      </a:r>
                    </a:p>
                  </a:txBody>
                  <a:tcPr marL="177800" marR="127000" anchor="ctr">
                    <a:solidFill>
                      <a:srgbClr val="111C2B"/>
                    </a:solidFill>
                  </a:tcPr>
                </a:tc>
                <a:tc>
                  <a:txBody>
                    <a:bodyPr/>
                    <a:lstStyle/>
                    <a:p>
                      <a:r>
                        <a:rPr lang="en-SG" sz="1800" b="0">
                          <a:solidFill>
                            <a:srgbClr val="E6EDF5"/>
                          </a:solidFill>
                          <a:latin typeface="Segoe UI" panose="020B0502040204020203" pitchFamily="34" charset="0"/>
                        </a:rPr>
                        <a:t>✓ Built</a:t>
                      </a:r>
                    </a:p>
                  </a:txBody>
                  <a:tcPr marL="177800" marR="127000" anchor="ctr">
                    <a:solidFill>
                      <a:srgbClr val="111C2B"/>
                    </a:solidFill>
                  </a:tcPr>
                </a:tc>
                <a:extLst>
                  <a:ext uri="{0D108BD9-81ED-4DB2-BD59-A6C34878D82A}">
                    <a16:rowId xmlns:a16="http://schemas.microsoft.com/office/drawing/2014/main" val="3115047436"/>
                  </a:ext>
                </a:extLst>
              </a:tr>
              <a:tr h="558800">
                <a:tc>
                  <a:txBody>
                    <a:bodyPr/>
                    <a:lstStyle/>
                    <a:p>
                      <a:r>
                        <a:rPr lang="en-SG" sz="1800" b="0">
                          <a:solidFill>
                            <a:srgbClr val="D6E2F0"/>
                          </a:solidFill>
                          <a:latin typeface="Segoe UI" panose="020B0502040204020203" pitchFamily="34" charset="0"/>
                        </a:rPr>
                        <a:t>Air and land scenarios emit competency events</a:t>
                      </a:r>
                    </a:p>
                  </a:txBody>
                  <a:tcPr marL="177800" marR="127000" anchor="ctr">
                    <a:solidFill>
                      <a:srgbClr val="16243A"/>
                    </a:solidFill>
                  </a:tcPr>
                </a:tc>
                <a:tc>
                  <a:txBody>
                    <a:bodyPr/>
                    <a:lstStyle/>
                    <a:p>
                      <a:r>
                        <a:rPr lang="en-SG" sz="1800" b="0">
                          <a:solidFill>
                            <a:srgbClr val="FFE1C2"/>
                          </a:solidFill>
                          <a:latin typeface="Segoe UI" panose="020B0502040204020203" pitchFamily="34" charset="0"/>
                        </a:rPr>
                        <a:t>Not built</a:t>
                      </a:r>
                    </a:p>
                  </a:txBody>
                  <a:tcPr marL="177800" marR="127000" anchor="ctr">
                    <a:solidFill>
                      <a:srgbClr val="16243A"/>
                    </a:solidFill>
                  </a:tcPr>
                </a:tc>
                <a:extLst>
                  <a:ext uri="{0D108BD9-81ED-4DB2-BD59-A6C34878D82A}">
                    <a16:rowId xmlns:a16="http://schemas.microsoft.com/office/drawing/2014/main" val="2033964904"/>
                  </a:ext>
                </a:extLst>
              </a:tr>
              <a:tr h="558800">
                <a:tc>
                  <a:txBody>
                    <a:bodyPr/>
                    <a:lstStyle/>
                    <a:p>
                      <a:r>
                        <a:rPr lang="en-SG" sz="1800" b="0">
                          <a:solidFill>
                            <a:srgbClr val="D6E2F0"/>
                          </a:solidFill>
                          <a:latin typeface="Segoe UI" panose="020B0502040204020203" pitchFamily="34" charset="0"/>
                        </a:rPr>
                        <a:t>Crew and team competencies, crew report</a:t>
                      </a:r>
                    </a:p>
                  </a:txBody>
                  <a:tcPr marL="177800" marR="127000" anchor="ctr">
                    <a:solidFill>
                      <a:srgbClr val="111C2B"/>
                    </a:solidFill>
                  </a:tcPr>
                </a:tc>
                <a:tc>
                  <a:txBody>
                    <a:bodyPr/>
                    <a:lstStyle/>
                    <a:p>
                      <a:r>
                        <a:rPr lang="en-SG" sz="1800" b="0">
                          <a:solidFill>
                            <a:srgbClr val="FFE1C2"/>
                          </a:solidFill>
                          <a:latin typeface="Segoe UI" panose="020B0502040204020203" pitchFamily="34" charset="0"/>
                        </a:rPr>
                        <a:t>Not built</a:t>
                      </a:r>
                    </a:p>
                  </a:txBody>
                  <a:tcPr marL="177800" marR="127000" anchor="ctr">
                    <a:solidFill>
                      <a:srgbClr val="111C2B"/>
                    </a:solidFill>
                  </a:tcPr>
                </a:tc>
                <a:extLst>
                  <a:ext uri="{0D108BD9-81ED-4DB2-BD59-A6C34878D82A}">
                    <a16:rowId xmlns:a16="http://schemas.microsoft.com/office/drawing/2014/main" val="2585666720"/>
                  </a:ext>
                </a:extLst>
              </a:tr>
              <a:tr h="558800">
                <a:tc>
                  <a:txBody>
                    <a:bodyPr/>
                    <a:lstStyle/>
                    <a:p>
                      <a:r>
                        <a:rPr lang="en-SG" sz="1800" b="0">
                          <a:solidFill>
                            <a:srgbClr val="D6E2F0"/>
                          </a:solidFill>
                          <a:latin typeface="Segoe UI" panose="020B0502040204020203" pitchFamily="34" charset="0"/>
                        </a:rPr>
                        <a:t>Adapter to a real simulator over HLA or DIS</a:t>
                      </a:r>
                    </a:p>
                  </a:txBody>
                  <a:tcPr marL="177800" marR="127000" anchor="ctr">
                    <a:solidFill>
                      <a:srgbClr val="16243A"/>
                    </a:solidFill>
                  </a:tcPr>
                </a:tc>
                <a:tc>
                  <a:txBody>
                    <a:bodyPr/>
                    <a:lstStyle/>
                    <a:p>
                      <a:r>
                        <a:rPr lang="en-SG" sz="1800" b="0">
                          <a:solidFill>
                            <a:srgbClr val="FFE1C2"/>
                          </a:solidFill>
                          <a:latin typeface="Segoe UI" panose="020B0502040204020203" pitchFamily="34" charset="0"/>
                        </a:rPr>
                        <a:t>Not built</a:t>
                      </a:r>
                    </a:p>
                  </a:txBody>
                  <a:tcPr marL="177800" marR="127000" anchor="ctr">
                    <a:solidFill>
                      <a:srgbClr val="16243A"/>
                    </a:solidFill>
                  </a:tcPr>
                </a:tc>
                <a:extLst>
                  <a:ext uri="{0D108BD9-81ED-4DB2-BD59-A6C34878D82A}">
                    <a16:rowId xmlns:a16="http://schemas.microsoft.com/office/drawing/2014/main" val="3450757924"/>
                  </a:ext>
                </a:extLst>
              </a:tr>
              <a:tr h="558800">
                <a:tc>
                  <a:txBody>
                    <a:bodyPr/>
                    <a:lstStyle/>
                    <a:p>
                      <a:r>
                        <a:rPr lang="en-SG" sz="1800" b="0">
                          <a:solidFill>
                            <a:srgbClr val="D6E2F0"/>
                          </a:solidFill>
                          <a:latin typeface="Segoe UI" panose="020B0502040204020203" pitchFamily="34" charset="0"/>
                        </a:rPr>
                        <a:t>Trial with real cohorts</a:t>
                      </a:r>
                    </a:p>
                  </a:txBody>
                  <a:tcPr marL="177800" marR="127000" anchor="ctr">
                    <a:solidFill>
                      <a:srgbClr val="111C2B"/>
                    </a:solidFill>
                  </a:tcPr>
                </a:tc>
                <a:tc>
                  <a:txBody>
                    <a:bodyPr/>
                    <a:lstStyle/>
                    <a:p>
                      <a:r>
                        <a:rPr lang="en-SG" sz="1800" b="0">
                          <a:solidFill>
                            <a:srgbClr val="FFE1C2"/>
                          </a:solidFill>
                          <a:latin typeface="Segoe UI" panose="020B0502040204020203" pitchFamily="34" charset="0"/>
                        </a:rPr>
                        <a:t>Not started</a:t>
                      </a:r>
                    </a:p>
                  </a:txBody>
                  <a:tcPr marL="177800" marR="127000" anchor="ctr">
                    <a:solidFill>
                      <a:srgbClr val="111C2B"/>
                    </a:solidFill>
                  </a:tcPr>
                </a:tc>
                <a:extLst>
                  <a:ext uri="{0D108BD9-81ED-4DB2-BD59-A6C34878D82A}">
                    <a16:rowId xmlns:a16="http://schemas.microsoft.com/office/drawing/2014/main" val="2052799525"/>
                  </a:ext>
                </a:extLst>
              </a:tr>
            </a:tbl>
          </a:graphicData>
        </a:graphic>
      </p:graphicFrame>
      <p:sp>
        <p:nvSpPr>
          <p:cNvPr id="5" name="TextBox 4">
            <a:extLst>
              <a:ext uri="{FF2B5EF4-FFF2-40B4-BE49-F238E27FC236}">
                <a16:creationId xmlns:a16="http://schemas.microsoft.com/office/drawing/2014/main" id="{D366797E-00F9-2D5E-3C03-862FCFC76A2F}"/>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8AA0B8"/>
                </a:solidFill>
                <a:latin typeface="Consolas" panose="020B0609020204030204" pitchFamily="49" charset="0"/>
              </a:rPr>
              <a:t>NO COMPATIBILITY CLAIMED WITH ANY NAMED SIMULATOR OR STANDARD</a:t>
            </a:r>
          </a:p>
        </p:txBody>
      </p:sp>
      <p:sp>
        <p:nvSpPr>
          <p:cNvPr id="6" name="TextBox 5">
            <a:extLst>
              <a:ext uri="{FF2B5EF4-FFF2-40B4-BE49-F238E27FC236}">
                <a16:creationId xmlns:a16="http://schemas.microsoft.com/office/drawing/2014/main" id="{6E8BFBDC-31A7-FFA4-7643-8ECBDEC87909}"/>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8AA0B8"/>
                </a:solidFill>
                <a:latin typeface="Consolas" panose="020B0609020204030204" pitchFamily="49" charset="0"/>
              </a:rPr>
              <a:t>11</a:t>
            </a:r>
          </a:p>
        </p:txBody>
      </p:sp>
    </p:spTree>
    <p:extLst>
      <p:ext uri="{BB962C8B-B14F-4D97-AF65-F5344CB8AC3E}">
        <p14:creationId xmlns:p14="http://schemas.microsoft.com/office/powerpoint/2010/main" val="35140965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42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4D8016-6E6B-4EA8-7451-909492CAF426}"/>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E6EDF5"/>
                </a:solidFill>
                <a:latin typeface="Segoe UI" panose="020B0502040204020203" pitchFamily="34" charset="0"/>
              </a:rPr>
              <a:t>Fewer sessions to proficiency, less instructor time</a:t>
            </a:r>
          </a:p>
        </p:txBody>
      </p:sp>
      <p:sp>
        <p:nvSpPr>
          <p:cNvPr id="3" name="TextBox 2">
            <a:extLst>
              <a:ext uri="{FF2B5EF4-FFF2-40B4-BE49-F238E27FC236}">
                <a16:creationId xmlns:a16="http://schemas.microsoft.com/office/drawing/2014/main" id="{7FFCF1B1-9860-B3DE-7577-F1F0632FB393}"/>
              </a:ext>
            </a:extLst>
          </p:cNvPr>
          <p:cNvSpPr txBox="1"/>
          <p:nvPr/>
        </p:nvSpPr>
        <p:spPr>
          <a:xfrm>
            <a:off x="609600" y="457200"/>
            <a:ext cx="8890000" cy="254000"/>
          </a:xfrm>
          <a:prstGeom prst="rect">
            <a:avLst/>
          </a:prstGeom>
          <a:noFill/>
        </p:spPr>
        <p:txBody>
          <a:bodyPr vert="horz" wrap="square" lIns="0" tIns="0" rIns="0" bIns="0" rtlCol="0">
            <a:noAutofit/>
          </a:bodyPr>
          <a:lstStyle/>
          <a:p>
            <a:r>
              <a:rPr lang="en-SG" sz="1400">
                <a:solidFill>
                  <a:srgbClr val="4DA6FF"/>
                </a:solidFill>
                <a:latin typeface="Consolas" panose="020B0609020204030204" pitchFamily="49" charset="0"/>
              </a:rPr>
              <a:t>11 · BUSINESS CASE</a:t>
            </a:r>
          </a:p>
        </p:txBody>
      </p:sp>
      <p:sp>
        <p:nvSpPr>
          <p:cNvPr id="4" name="Rectangle: Rounded Corners 3">
            <a:extLst>
              <a:ext uri="{FF2B5EF4-FFF2-40B4-BE49-F238E27FC236}">
                <a16:creationId xmlns:a16="http://schemas.microsoft.com/office/drawing/2014/main" id="{8249B37C-8346-CB39-9D74-A98C29D4B0ED}"/>
              </a:ext>
            </a:extLst>
          </p:cNvPr>
          <p:cNvSpPr/>
          <p:nvPr/>
        </p:nvSpPr>
        <p:spPr>
          <a:xfrm>
            <a:off x="609600" y="2032000"/>
            <a:ext cx="8382000" cy="660400"/>
          </a:xfrm>
          <a:prstGeom prst="roundRect">
            <a:avLst>
              <a:gd name="adj" fmla="val 6000"/>
            </a:avLst>
          </a:prstGeom>
          <a:solidFill>
            <a:srgbClr val="16243A"/>
          </a:solidFill>
          <a:ln w="9525">
            <a:solidFill>
              <a:srgbClr val="2436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4059F0C6-F385-EF55-553D-CB29F306D105}"/>
              </a:ext>
            </a:extLst>
          </p:cNvPr>
          <p:cNvSpPr txBox="1"/>
          <p:nvPr/>
        </p:nvSpPr>
        <p:spPr>
          <a:xfrm>
            <a:off x="838200" y="2184400"/>
            <a:ext cx="8001000" cy="381000"/>
          </a:xfrm>
          <a:prstGeom prst="rect">
            <a:avLst/>
          </a:prstGeom>
          <a:noFill/>
        </p:spPr>
        <p:txBody>
          <a:bodyPr vert="horz" wrap="square" lIns="0" tIns="0" rIns="0" bIns="0" rtlCol="0">
            <a:noAutofit/>
          </a:bodyPr>
          <a:lstStyle/>
          <a:p>
            <a:r>
              <a:rPr lang="pt-BR" sz="2200">
                <a:solidFill>
                  <a:srgbClr val="E6EDF5"/>
                </a:solidFill>
                <a:latin typeface="Consolas" panose="020B0609020204030204" pitchFamily="49" charset="0"/>
              </a:rPr>
              <a:t>Saving = N × S0 × r × (C_session + h × C_instr)</a:t>
            </a:r>
            <a:endParaRPr lang="en-SG" sz="2200">
              <a:solidFill>
                <a:srgbClr val="E6EDF5"/>
              </a:solidFill>
              <a:latin typeface="Consolas" panose="020B0609020204030204" pitchFamily="49" charset="0"/>
            </a:endParaRPr>
          </a:p>
        </p:txBody>
      </p:sp>
      <p:graphicFrame>
        <p:nvGraphicFramePr>
          <p:cNvPr id="6" name="Savings model table" descr="Savings model symbols and the figures still needed">
            <a:extLst>
              <a:ext uri="{FF2B5EF4-FFF2-40B4-BE49-F238E27FC236}">
                <a16:creationId xmlns:a16="http://schemas.microsoft.com/office/drawing/2014/main" id="{5E174180-40C3-286D-0AE8-E7E5DD40D17E}"/>
              </a:ext>
            </a:extLst>
          </p:cNvPr>
          <p:cNvGraphicFramePr>
            <a:graphicFrameLocks noGrp="1"/>
          </p:cNvGraphicFramePr>
          <p:nvPr>
            <p:extLst>
              <p:ext uri="{D42A27DB-BD31-4B8C-83A1-F6EECF244321}">
                <p14:modId xmlns:p14="http://schemas.microsoft.com/office/powerpoint/2010/main" val="3933992877"/>
              </p:ext>
            </p:extLst>
          </p:nvPr>
        </p:nvGraphicFramePr>
        <p:xfrm>
          <a:off x="609600" y="2921000"/>
          <a:ext cx="10972800" cy="3048000"/>
        </p:xfrm>
        <a:graphic>
          <a:graphicData uri="http://schemas.openxmlformats.org/drawingml/2006/table">
            <a:tbl>
              <a:tblPr firstRow="1" bandRow="1">
                <a:tableStyleId>{2D5ABB26-0587-4C30-8999-92F81FD0307C}</a:tableStyleId>
              </a:tblPr>
              <a:tblGrid>
                <a:gridCol w="1905000">
                  <a:extLst>
                    <a:ext uri="{9D8B030D-6E8A-4147-A177-3AD203B41FA5}">
                      <a16:colId xmlns:a16="http://schemas.microsoft.com/office/drawing/2014/main" val="991934379"/>
                    </a:ext>
                  </a:extLst>
                </a:gridCol>
                <a:gridCol w="5080000">
                  <a:extLst>
                    <a:ext uri="{9D8B030D-6E8A-4147-A177-3AD203B41FA5}">
                      <a16:colId xmlns:a16="http://schemas.microsoft.com/office/drawing/2014/main" val="1911878249"/>
                    </a:ext>
                  </a:extLst>
                </a:gridCol>
                <a:gridCol w="3987800">
                  <a:extLst>
                    <a:ext uri="{9D8B030D-6E8A-4147-A177-3AD203B41FA5}">
                      <a16:colId xmlns:a16="http://schemas.microsoft.com/office/drawing/2014/main" val="873723277"/>
                    </a:ext>
                  </a:extLst>
                </a:gridCol>
              </a:tblGrid>
              <a:tr h="508000">
                <a:tc>
                  <a:txBody>
                    <a:bodyPr/>
                    <a:lstStyle/>
                    <a:p>
                      <a:r>
                        <a:rPr lang="en-SG" sz="1600" b="1">
                          <a:solidFill>
                            <a:srgbClr val="E6EDF5"/>
                          </a:solidFill>
                          <a:latin typeface="Segoe UI" panose="020B0502040204020203" pitchFamily="34" charset="0"/>
                        </a:rPr>
                        <a:t>Symbol</a:t>
                      </a:r>
                    </a:p>
                  </a:txBody>
                  <a:tcPr marL="177800" marR="127000" anchor="ctr">
                    <a:solidFill>
                      <a:srgbClr val="1C2B40"/>
                    </a:solidFill>
                  </a:tcPr>
                </a:tc>
                <a:tc>
                  <a:txBody>
                    <a:bodyPr/>
                    <a:lstStyle/>
                    <a:p>
                      <a:r>
                        <a:rPr lang="en-SG" sz="1600" b="1">
                          <a:solidFill>
                            <a:srgbClr val="E6EDF5"/>
                          </a:solidFill>
                          <a:latin typeface="Segoe UI" panose="020B0502040204020203" pitchFamily="34" charset="0"/>
                        </a:rPr>
                        <a:t>Meaning</a:t>
                      </a:r>
                    </a:p>
                  </a:txBody>
                  <a:tcPr marL="177800" marR="127000" anchor="ctr">
                    <a:solidFill>
                      <a:srgbClr val="1C2B40"/>
                    </a:solidFill>
                  </a:tcPr>
                </a:tc>
                <a:tc>
                  <a:txBody>
                    <a:bodyPr/>
                    <a:lstStyle/>
                    <a:p>
                      <a:r>
                        <a:rPr lang="en-SG" sz="1600" b="1">
                          <a:solidFill>
                            <a:srgbClr val="E6EDF5"/>
                          </a:solidFill>
                          <a:latin typeface="Segoe UI" panose="020B0502040204020203" pitchFamily="34" charset="0"/>
                        </a:rPr>
                        <a:t>Value</a:t>
                      </a:r>
                    </a:p>
                  </a:txBody>
                  <a:tcPr marL="177800" marR="127000" anchor="ctr">
                    <a:solidFill>
                      <a:srgbClr val="1C2B40"/>
                    </a:solidFill>
                  </a:tcPr>
                </a:tc>
                <a:extLst>
                  <a:ext uri="{0D108BD9-81ED-4DB2-BD59-A6C34878D82A}">
                    <a16:rowId xmlns:a16="http://schemas.microsoft.com/office/drawing/2014/main" val="758902792"/>
                  </a:ext>
                </a:extLst>
              </a:tr>
              <a:tr h="508000">
                <a:tc>
                  <a:txBody>
                    <a:bodyPr/>
                    <a:lstStyle/>
                    <a:p>
                      <a:r>
                        <a:rPr lang="en-SG" sz="1600" b="0">
                          <a:solidFill>
                            <a:srgbClr val="D6E2F0"/>
                          </a:solidFill>
                          <a:latin typeface="Segoe UI" panose="020B0502040204020203" pitchFamily="34" charset="0"/>
                        </a:rPr>
                        <a:t>N</a:t>
                      </a:r>
                    </a:p>
                  </a:txBody>
                  <a:tcPr marL="177800" marR="127000" anchor="ctr">
                    <a:solidFill>
                      <a:srgbClr val="16243A"/>
                    </a:solidFill>
                  </a:tcPr>
                </a:tc>
                <a:tc>
                  <a:txBody>
                    <a:bodyPr/>
                    <a:lstStyle/>
                    <a:p>
                      <a:r>
                        <a:rPr lang="en-SG" sz="1600" b="0">
                          <a:solidFill>
                            <a:srgbClr val="D6E2F0"/>
                          </a:solidFill>
                          <a:latin typeface="Segoe UI" panose="020B0502040204020203" pitchFamily="34" charset="0"/>
                        </a:rPr>
                        <a:t>Trainees per year</a:t>
                      </a:r>
                    </a:p>
                  </a:txBody>
                  <a:tcPr marL="177800" marR="127000" anchor="ctr">
                    <a:solidFill>
                      <a:srgbClr val="16243A"/>
                    </a:solidFill>
                  </a:tcPr>
                </a:tc>
                <a:tc>
                  <a:txBody>
                    <a:bodyPr/>
                    <a:lstStyle/>
                    <a:p>
                      <a:r>
                        <a:rPr lang="en-SG" sz="1600" b="0">
                          <a:solidFill>
                            <a:srgbClr val="FFE1C2"/>
                          </a:solidFill>
                          <a:latin typeface="Segoe UI" panose="020B0502040204020203" pitchFamily="34" charset="0"/>
                        </a:rPr>
                        <a:t>[division figure]</a:t>
                      </a:r>
                    </a:p>
                  </a:txBody>
                  <a:tcPr marL="177800" marR="127000" anchor="ctr">
                    <a:solidFill>
                      <a:srgbClr val="16243A"/>
                    </a:solidFill>
                  </a:tcPr>
                </a:tc>
                <a:extLst>
                  <a:ext uri="{0D108BD9-81ED-4DB2-BD59-A6C34878D82A}">
                    <a16:rowId xmlns:a16="http://schemas.microsoft.com/office/drawing/2014/main" val="2458559845"/>
                  </a:ext>
                </a:extLst>
              </a:tr>
              <a:tr h="508000">
                <a:tc>
                  <a:txBody>
                    <a:bodyPr/>
                    <a:lstStyle/>
                    <a:p>
                      <a:r>
                        <a:rPr lang="en-SG" sz="1600" b="0">
                          <a:solidFill>
                            <a:srgbClr val="D6E2F0"/>
                          </a:solidFill>
                          <a:latin typeface="Segoe UI" panose="020B0502040204020203" pitchFamily="34" charset="0"/>
                        </a:rPr>
                        <a:t>S0</a:t>
                      </a:r>
                    </a:p>
                  </a:txBody>
                  <a:tcPr marL="177800" marR="127000" anchor="ctr">
                    <a:solidFill>
                      <a:srgbClr val="111C2B"/>
                    </a:solidFill>
                  </a:tcPr>
                </a:tc>
                <a:tc>
                  <a:txBody>
                    <a:bodyPr/>
                    <a:lstStyle/>
                    <a:p>
                      <a:r>
                        <a:rPr lang="en-SG" sz="1600" b="0">
                          <a:solidFill>
                            <a:srgbClr val="D6E2F0"/>
                          </a:solidFill>
                          <a:latin typeface="Segoe UI" panose="020B0502040204020203" pitchFamily="34" charset="0"/>
                        </a:rPr>
                        <a:t>Sessions to proficiency today</a:t>
                      </a:r>
                    </a:p>
                  </a:txBody>
                  <a:tcPr marL="177800" marR="127000" anchor="ctr">
                    <a:solidFill>
                      <a:srgbClr val="111C2B"/>
                    </a:solidFill>
                  </a:tcPr>
                </a:tc>
                <a:tc>
                  <a:txBody>
                    <a:bodyPr/>
                    <a:lstStyle/>
                    <a:p>
                      <a:r>
                        <a:rPr lang="en-SG" sz="1600" b="0">
                          <a:solidFill>
                            <a:srgbClr val="FFE1C2"/>
                          </a:solidFill>
                          <a:latin typeface="Segoe UI" panose="020B0502040204020203" pitchFamily="34" charset="0"/>
                        </a:rPr>
                        <a:t>[division figure]</a:t>
                      </a:r>
                    </a:p>
                  </a:txBody>
                  <a:tcPr marL="177800" marR="127000" anchor="ctr">
                    <a:solidFill>
                      <a:srgbClr val="111C2B"/>
                    </a:solidFill>
                  </a:tcPr>
                </a:tc>
                <a:extLst>
                  <a:ext uri="{0D108BD9-81ED-4DB2-BD59-A6C34878D82A}">
                    <a16:rowId xmlns:a16="http://schemas.microsoft.com/office/drawing/2014/main" val="12207173"/>
                  </a:ext>
                </a:extLst>
              </a:tr>
              <a:tr h="508000">
                <a:tc>
                  <a:txBody>
                    <a:bodyPr/>
                    <a:lstStyle/>
                    <a:p>
                      <a:r>
                        <a:rPr lang="en-SG" sz="1600" b="0">
                          <a:solidFill>
                            <a:srgbClr val="D6E2F0"/>
                          </a:solidFill>
                          <a:latin typeface="Segoe UI" panose="020B0502040204020203" pitchFamily="34" charset="0"/>
                        </a:rPr>
                        <a:t>r</a:t>
                      </a:r>
                    </a:p>
                  </a:txBody>
                  <a:tcPr marL="177800" marR="127000" anchor="ctr">
                    <a:solidFill>
                      <a:srgbClr val="16243A"/>
                    </a:solidFill>
                  </a:tcPr>
                </a:tc>
                <a:tc>
                  <a:txBody>
                    <a:bodyPr/>
                    <a:lstStyle/>
                    <a:p>
                      <a:r>
                        <a:rPr lang="en-SG" sz="1600" b="0">
                          <a:solidFill>
                            <a:srgbClr val="D6E2F0"/>
                          </a:solidFill>
                          <a:latin typeface="Segoe UI" panose="020B0502040204020203" pitchFamily="34" charset="0"/>
                        </a:rPr>
                        <a:t>Fractional reduction in sessions</a:t>
                      </a:r>
                    </a:p>
                  </a:txBody>
                  <a:tcPr marL="177800" marR="127000" anchor="ctr">
                    <a:solidFill>
                      <a:srgbClr val="16243A"/>
                    </a:solidFill>
                  </a:tcPr>
                </a:tc>
                <a:tc>
                  <a:txBody>
                    <a:bodyPr/>
                    <a:lstStyle/>
                    <a:p>
                      <a:r>
                        <a:rPr lang="en-SG" sz="1600" b="0">
                          <a:solidFill>
                            <a:srgbClr val="E6D9FF"/>
                          </a:solidFill>
                          <a:latin typeface="Segoe UI" panose="020B0502040204020203" pitchFamily="34" charset="0"/>
                        </a:rPr>
                        <a:t>assumed range, no trial yet</a:t>
                      </a:r>
                    </a:p>
                  </a:txBody>
                  <a:tcPr marL="177800" marR="127000" anchor="ctr">
                    <a:solidFill>
                      <a:srgbClr val="16243A"/>
                    </a:solidFill>
                  </a:tcPr>
                </a:tc>
                <a:extLst>
                  <a:ext uri="{0D108BD9-81ED-4DB2-BD59-A6C34878D82A}">
                    <a16:rowId xmlns:a16="http://schemas.microsoft.com/office/drawing/2014/main" val="4287006519"/>
                  </a:ext>
                </a:extLst>
              </a:tr>
              <a:tr h="508000">
                <a:tc>
                  <a:txBody>
                    <a:bodyPr/>
                    <a:lstStyle/>
                    <a:p>
                      <a:r>
                        <a:rPr lang="en-SG" sz="1600" b="0">
                          <a:solidFill>
                            <a:srgbClr val="D6E2F0"/>
                          </a:solidFill>
                          <a:latin typeface="Segoe UI" panose="020B0502040204020203" pitchFamily="34" charset="0"/>
                        </a:rPr>
                        <a:t>C_session</a:t>
                      </a:r>
                    </a:p>
                  </a:txBody>
                  <a:tcPr marL="177800" marR="127000" anchor="ctr">
                    <a:solidFill>
                      <a:srgbClr val="111C2B"/>
                    </a:solidFill>
                  </a:tcPr>
                </a:tc>
                <a:tc>
                  <a:txBody>
                    <a:bodyPr/>
                    <a:lstStyle/>
                    <a:p>
                      <a:r>
                        <a:rPr lang="en-SG" sz="1600" b="0">
                          <a:solidFill>
                            <a:srgbClr val="D6E2F0"/>
                          </a:solidFill>
                          <a:latin typeface="Segoe UI" panose="020B0502040204020203" pitchFamily="34" charset="0"/>
                        </a:rPr>
                        <a:t>Cost per simulator session</a:t>
                      </a:r>
                    </a:p>
                  </a:txBody>
                  <a:tcPr marL="177800" marR="127000" anchor="ctr">
                    <a:solidFill>
                      <a:srgbClr val="111C2B"/>
                    </a:solidFill>
                  </a:tcPr>
                </a:tc>
                <a:tc>
                  <a:txBody>
                    <a:bodyPr/>
                    <a:lstStyle/>
                    <a:p>
                      <a:r>
                        <a:rPr lang="en-SG" sz="1600" b="0">
                          <a:solidFill>
                            <a:srgbClr val="FFE1C2"/>
                          </a:solidFill>
                          <a:latin typeface="Segoe UI" panose="020B0502040204020203" pitchFamily="34" charset="0"/>
                        </a:rPr>
                        <a:t>[division figure]</a:t>
                      </a:r>
                    </a:p>
                  </a:txBody>
                  <a:tcPr marL="177800" marR="127000" anchor="ctr">
                    <a:solidFill>
                      <a:srgbClr val="111C2B"/>
                    </a:solidFill>
                  </a:tcPr>
                </a:tc>
                <a:extLst>
                  <a:ext uri="{0D108BD9-81ED-4DB2-BD59-A6C34878D82A}">
                    <a16:rowId xmlns:a16="http://schemas.microsoft.com/office/drawing/2014/main" val="85415838"/>
                  </a:ext>
                </a:extLst>
              </a:tr>
              <a:tr h="508000">
                <a:tc>
                  <a:txBody>
                    <a:bodyPr/>
                    <a:lstStyle/>
                    <a:p>
                      <a:r>
                        <a:rPr lang="en-SG" sz="1600" b="0">
                          <a:solidFill>
                            <a:srgbClr val="D6E2F0"/>
                          </a:solidFill>
                          <a:latin typeface="Segoe UI" panose="020B0502040204020203" pitchFamily="34" charset="0"/>
                        </a:rPr>
                        <a:t>h, C_instr</a:t>
                      </a:r>
                    </a:p>
                  </a:txBody>
                  <a:tcPr marL="177800" marR="127000" anchor="ctr">
                    <a:solidFill>
                      <a:srgbClr val="16243A"/>
                    </a:solidFill>
                  </a:tcPr>
                </a:tc>
                <a:tc>
                  <a:txBody>
                    <a:bodyPr/>
                    <a:lstStyle/>
                    <a:p>
                      <a:r>
                        <a:rPr lang="en-SG" sz="1600" b="0">
                          <a:solidFill>
                            <a:srgbClr val="D6E2F0"/>
                          </a:solidFill>
                          <a:latin typeface="Segoe UI" panose="020B0502040204020203" pitchFamily="34" charset="0"/>
                        </a:rPr>
                        <a:t>Instructor hours, cost per hour</a:t>
                      </a:r>
                    </a:p>
                  </a:txBody>
                  <a:tcPr marL="177800" marR="127000" anchor="ctr">
                    <a:solidFill>
                      <a:srgbClr val="16243A"/>
                    </a:solidFill>
                  </a:tcPr>
                </a:tc>
                <a:tc>
                  <a:txBody>
                    <a:bodyPr/>
                    <a:lstStyle/>
                    <a:p>
                      <a:r>
                        <a:rPr lang="en-SG" sz="1600" b="0">
                          <a:solidFill>
                            <a:srgbClr val="FFE1C2"/>
                          </a:solidFill>
                          <a:latin typeface="Segoe UI" panose="020B0502040204020203" pitchFamily="34" charset="0"/>
                        </a:rPr>
                        <a:t>[division figure]</a:t>
                      </a:r>
                    </a:p>
                  </a:txBody>
                  <a:tcPr marL="177800" marR="127000" anchor="ctr">
                    <a:solidFill>
                      <a:srgbClr val="16243A"/>
                    </a:solidFill>
                  </a:tcPr>
                </a:tc>
                <a:extLst>
                  <a:ext uri="{0D108BD9-81ED-4DB2-BD59-A6C34878D82A}">
                    <a16:rowId xmlns:a16="http://schemas.microsoft.com/office/drawing/2014/main" val="429145785"/>
                  </a:ext>
                </a:extLst>
              </a:tr>
            </a:tbl>
          </a:graphicData>
        </a:graphic>
      </p:graphicFrame>
      <p:sp>
        <p:nvSpPr>
          <p:cNvPr id="7" name="TextBox 6">
            <a:extLst>
              <a:ext uri="{FF2B5EF4-FFF2-40B4-BE49-F238E27FC236}">
                <a16:creationId xmlns:a16="http://schemas.microsoft.com/office/drawing/2014/main" id="{E65452F7-B616-ECB9-427B-65736009746D}"/>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8AA0B8"/>
                </a:solidFill>
                <a:latin typeface="Consolas" panose="020B0609020204030204" pitchFamily="49" charset="0"/>
              </a:rPr>
              <a:t>NO INVENTED FIGURES  ·  r IS SHOWN AS A RANGE</a:t>
            </a:r>
          </a:p>
        </p:txBody>
      </p:sp>
      <p:sp>
        <p:nvSpPr>
          <p:cNvPr id="8" name="TextBox 7">
            <a:extLst>
              <a:ext uri="{FF2B5EF4-FFF2-40B4-BE49-F238E27FC236}">
                <a16:creationId xmlns:a16="http://schemas.microsoft.com/office/drawing/2014/main" id="{80FED565-D7EC-A482-DACC-38A5B5713937}"/>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8AA0B8"/>
                </a:solidFill>
                <a:latin typeface="Consolas" panose="020B0609020204030204" pitchFamily="49" charset="0"/>
              </a:rPr>
              <a:t>12</a:t>
            </a:r>
          </a:p>
        </p:txBody>
      </p:sp>
    </p:spTree>
    <p:extLst>
      <p:ext uri="{BB962C8B-B14F-4D97-AF65-F5344CB8AC3E}">
        <p14:creationId xmlns:p14="http://schemas.microsoft.com/office/powerpoint/2010/main" val="28848307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251A3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B6A905-54F3-1B3B-77B9-B6812E914420}"/>
              </a:ext>
            </a:extLst>
          </p:cNvPr>
          <p:cNvSpPr>
            <a:spLocks noGrp="1"/>
          </p:cNvSpPr>
          <p:nvPr>
            <p:ph type="title"/>
          </p:nvPr>
        </p:nvSpPr>
        <p:spPr>
          <a:xfrm>
            <a:off x="609600" y="1904999"/>
            <a:ext cx="10160000" cy="2413000"/>
          </a:xfrm>
        </p:spPr>
        <p:txBody>
          <a:bodyPr wrap="square" lIns="0" tIns="0" rIns="0" bIns="0" anchor="t">
            <a:noAutofit/>
          </a:bodyPr>
          <a:lstStyle/>
          <a:p>
            <a:r>
              <a:rPr lang="en-SG" sz="4000" b="1">
                <a:solidFill>
                  <a:srgbClr val="F3ECFF"/>
                </a:solidFill>
                <a:latin typeface="Segoe UI" panose="020B0502040204020203" pitchFamily="34" charset="0"/>
              </a:rPr>
              <a:t>Exercises each trainee’s weak spot, inside limits the instructor sets, and explains every step.</a:t>
            </a:r>
          </a:p>
        </p:txBody>
      </p:sp>
      <p:sp>
        <p:nvSpPr>
          <p:cNvPr id="3" name="TextBox 2">
            <a:extLst>
              <a:ext uri="{FF2B5EF4-FFF2-40B4-BE49-F238E27FC236}">
                <a16:creationId xmlns:a16="http://schemas.microsoft.com/office/drawing/2014/main" id="{8824E3DF-E29C-63C6-464D-2E8F296AAEFA}"/>
              </a:ext>
            </a:extLst>
          </p:cNvPr>
          <p:cNvSpPr txBox="1"/>
          <p:nvPr/>
        </p:nvSpPr>
        <p:spPr>
          <a:xfrm>
            <a:off x="609600" y="1397000"/>
            <a:ext cx="7620000" cy="304800"/>
          </a:xfrm>
          <a:prstGeom prst="rect">
            <a:avLst/>
          </a:prstGeom>
          <a:noFill/>
        </p:spPr>
        <p:txBody>
          <a:bodyPr vert="horz" wrap="square" lIns="0" tIns="0" rIns="0" bIns="0" rtlCol="0">
            <a:noAutofit/>
          </a:bodyPr>
          <a:lstStyle/>
          <a:p>
            <a:r>
              <a:rPr lang="en-SG" sz="1600">
                <a:solidFill>
                  <a:srgbClr val="B58CFF"/>
                </a:solidFill>
                <a:latin typeface="Consolas" panose="020B0609020204030204" pitchFamily="49" charset="0"/>
              </a:rPr>
              <a:t>ADAPTIVE CGF TRAINER</a:t>
            </a:r>
          </a:p>
        </p:txBody>
      </p:sp>
      <p:sp>
        <p:nvSpPr>
          <p:cNvPr id="4" name="TextBox 3">
            <a:extLst>
              <a:ext uri="{FF2B5EF4-FFF2-40B4-BE49-F238E27FC236}">
                <a16:creationId xmlns:a16="http://schemas.microsoft.com/office/drawing/2014/main" id="{E36FA1AB-81FF-9456-3CF6-54A24FA69A15}"/>
              </a:ext>
            </a:extLst>
          </p:cNvPr>
          <p:cNvSpPr txBox="1"/>
          <p:nvPr/>
        </p:nvSpPr>
        <p:spPr>
          <a:xfrm>
            <a:off x="609600" y="4826000"/>
            <a:ext cx="8890000" cy="330200"/>
          </a:xfrm>
          <a:prstGeom prst="rect">
            <a:avLst/>
          </a:prstGeom>
          <a:noFill/>
        </p:spPr>
        <p:txBody>
          <a:bodyPr vert="horz" wrap="square" lIns="0" tIns="0" rIns="0" bIns="0" rtlCol="0">
            <a:noAutofit/>
          </a:bodyPr>
          <a:lstStyle/>
          <a:p>
            <a:r>
              <a:rPr lang="en-SG">
                <a:solidFill>
                  <a:srgbClr val="E6D9FF"/>
                </a:solidFill>
                <a:latin typeface="Consolas" panose="020B0609020204030204" pitchFamily="49" charset="0"/>
              </a:rPr>
              <a:t>github.com/buttception/T-S_Hackathon26</a:t>
            </a:r>
          </a:p>
        </p:txBody>
      </p:sp>
    </p:spTree>
    <p:extLst>
      <p:ext uri="{BB962C8B-B14F-4D97-AF65-F5344CB8AC3E}">
        <p14:creationId xmlns:p14="http://schemas.microsoft.com/office/powerpoint/2010/main" val="19384801"/>
      </p:ext>
    </p:extLst>
  </p:cSld>
  <p:clrMapOvr>
    <a:masterClrMapping/>
  </p:clrMapOvr>
</p:sld>
</file>

<file path=ppt/theme/theme1.xml><?xml version="1.0" encoding="utf-8"?>
<a:theme xmlns:a="http://schemas.openxmlformats.org/drawingml/2006/main" name="Office Theme">
  <a:themeElements>
    <a:clrScheme name="Office">
      <a:dk1>
        <a:srgbClr val="0B1420"/>
      </a:dk1>
      <a:lt1>
        <a:srgbClr val="E6EDF5"/>
      </a:lt1>
      <a:dk2>
        <a:srgbClr val="111C2B"/>
      </a:dk2>
      <a:lt2>
        <a:srgbClr val="D6E2F0"/>
      </a:lt2>
      <a:accent1>
        <a:srgbClr val="4DA6FF"/>
      </a:accent1>
      <a:accent2>
        <a:srgbClr val="B58CFF"/>
      </a:accent2>
      <a:accent3>
        <a:srgbClr val="FFA94D"/>
      </a:accent3>
      <a:accent4>
        <a:srgbClr val="00A8DC"/>
      </a:accent4>
      <a:accent5>
        <a:srgbClr val="8AA0B8"/>
      </a:accent5>
      <a:accent6>
        <a:srgbClr val="16243A"/>
      </a:accent6>
      <a:hlink>
        <a:srgbClr val="4DA6FF"/>
      </a:hlink>
      <a:folHlink>
        <a:srgbClr val="B58CFF"/>
      </a:folHlink>
    </a:clrScheme>
    <a:fontScheme name="Office">
      <a:majorFont>
        <a:latin typeface="Segoe UI"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1587</Words>
  <Application>Microsoft Office PowerPoint</Application>
  <PresentationFormat>Custom</PresentationFormat>
  <Paragraphs>193</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Arial</vt:lpstr>
      <vt:lpstr>Consolas</vt:lpstr>
      <vt:lpstr>Segoe UI</vt:lpstr>
      <vt:lpstr>Office Theme</vt:lpstr>
      <vt:lpstr>Adaptive CGF Trainer</vt:lpstr>
      <vt:lpstr>One instructor, many trainees, one scripted enemy</vt:lpstr>
      <vt:lpstr>History picks what to exercise. Live behaviour sets how hard.</vt:lpstr>
      <vt:lpstr>Allocate, run, report, update</vt:lpstr>
      <vt:lpstr>Choose the platform, seat the crew, set the limits</vt:lpstr>
      <vt:lpstr>The enemy reacts to this crew, not a script</vt:lpstr>
      <vt:lpstr>Every adjustment shows what, why and on what evidence</vt:lpstr>
      <vt:lpstr>The instructor stays in command</vt:lpstr>
      <vt:lpstr>The report feeds the profile for next time</vt:lpstr>
      <vt:lpstr>Where the whole intake is developing</vt:lpstr>
      <vt:lpstr>Built today, and what is still roadmap</vt:lpstr>
      <vt:lpstr>Fewer sessions to proficiency, less instructor time</vt:lpstr>
      <vt:lpstr>Exercises each trainee’s weak spot, inside limits the instructor sets, and explains every step.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JuinLong Lim</dc:creator>
  <cp:lastModifiedBy>JuinLong Lim</cp:lastModifiedBy>
  <cp:revision>1</cp:revision>
  <dcterms:created xsi:type="dcterms:W3CDTF">2026-10-29T07:57:43Z</dcterms:created>
  <dcterms:modified xsi:type="dcterms:W3CDTF">2026-10-29T07:57:43Z</dcterms:modified>
</cp:coreProperties>
</file>